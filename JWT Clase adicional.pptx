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70" r:id="rId5"/>
    <p:sldId id="259" r:id="rId6"/>
    <p:sldId id="271" r:id="rId7"/>
    <p:sldId id="260" r:id="rId8"/>
    <p:sldId id="272" r:id="rId9"/>
    <p:sldId id="261" r:id="rId10"/>
    <p:sldId id="273" r:id="rId11"/>
    <p:sldId id="262" r:id="rId12"/>
    <p:sldId id="274" r:id="rId13"/>
    <p:sldId id="263" r:id="rId14"/>
    <p:sldId id="275" r:id="rId15"/>
    <p:sldId id="264" r:id="rId16"/>
    <p:sldId id="265" r:id="rId17"/>
    <p:sldId id="266" r:id="rId18"/>
    <p:sldId id="276" r:id="rId19"/>
    <p:sldId id="267" r:id="rId20"/>
    <p:sldId id="269" r:id="rId21"/>
  </p:sldIdLst>
  <p:sldSz cx="12192000" cy="6858000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3797"/>
    <p:restoredTop sz="94637"/>
  </p:normalViewPr>
  <p:slideViewPr>
    <p:cSldViewPr snapToGrid="0">
      <p:cViewPr varScale="1">
        <p:scale>
          <a:sx n="99" d="100"/>
          <a:sy n="99" d="100"/>
        </p:scale>
        <p:origin x="208" y="12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_tradnl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C7DDDC2-D42E-3A4A-BE7D-2C29D0532D1F}" type="datetimeFigureOut">
              <a:rPr lang="es-ES_tradnl" smtClean="0"/>
              <a:t>15/4/26</a:t>
            </a:fld>
            <a:endParaRPr lang="es-ES_tradnl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_tradnl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ES_tradn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_tradn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165C9F-E9C1-5845-9460-9BB81A0FABD3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6667916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CL" dirty="0"/>
              <a:t>2 minutos</a:t>
            </a:r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Buenas tardes, muchas gracias por estar aquí.</a:t>
            </a:r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Hoy vamos a analizar por qué muchos proyectos tecnológicos fracasan, incluso cuando hay personas competentes trabajando en ellos.</a:t>
            </a:r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 más importante aún, veremos cómo solucionarlo profesionalmente.</a:t>
            </a:r>
          </a:p>
          <a:p>
            <a:br>
              <a:rPr lang="es-CL" dirty="0"/>
            </a:br>
            <a:endParaRPr lang="es-CL" dirty="0"/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 clase tendrá tres momentos:</a:t>
            </a:r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primero identificaremos errores comunes, luego aplicaremos soluciones estructuradas, y finalmente integraremos todo en un caso práctico.</a:t>
            </a:r>
          </a:p>
          <a:p>
            <a:r>
              <a:rPr lang="es-CL" b="1" dirty="0"/>
              <a:t>Profundizar en:</a:t>
            </a:r>
          </a:p>
          <a:p>
            <a:r>
              <a:rPr lang="es-CL" dirty="0"/>
              <a:t>Seguridad</a:t>
            </a:r>
          </a:p>
          <a:p>
            <a:r>
              <a:rPr lang="es-CL" dirty="0"/>
              <a:t>Claridad</a:t>
            </a:r>
          </a:p>
          <a:p>
            <a:r>
              <a:rPr lang="es-CL" dirty="0"/>
              <a:t>Contacto visual</a:t>
            </a:r>
          </a:p>
          <a:p>
            <a:endParaRPr lang="es-ES_tradn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165C9F-E9C1-5845-9460-9BB81A0FABD3}" type="slidenum">
              <a:rPr lang="es-ES_tradnl" smtClean="0"/>
              <a:t>1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40097931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165C9F-E9C1-5845-9460-9BB81A0FABD3}" type="slidenum">
              <a:rPr lang="es-ES_tradnl" smtClean="0"/>
              <a:t>2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5469592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CL" dirty="0"/>
              <a:t>3 minutos</a:t>
            </a:r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Les quiero hacer una pregunta:</a:t>
            </a:r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¿Han visto algún proyecto que comience bien pero termine desordenado o lleno de errores?</a:t>
            </a:r>
          </a:p>
          <a:p>
            <a:br>
              <a:rPr lang="es-CL" dirty="0"/>
            </a:br>
            <a:endParaRPr lang="es-CL" dirty="0"/>
          </a:p>
          <a:p>
            <a:r>
              <a:rPr lang="es-CL" dirty="0"/>
              <a:t>(Pausa real)</a:t>
            </a:r>
          </a:p>
          <a:p>
            <a:br>
              <a:rPr lang="es-CL" dirty="0"/>
            </a:br>
            <a:endParaRPr lang="es-CL" dirty="0"/>
          </a:p>
          <a:p>
            <a:r>
              <a:rPr lang="es-CL" dirty="0"/>
              <a:t>Valida:</a:t>
            </a:r>
          </a:p>
          <a:p>
            <a:br>
              <a:rPr lang="es-CL" dirty="0"/>
            </a:br>
            <a:endParaRPr lang="es-CL" dirty="0"/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Excelente punto.</a:t>
            </a:r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Eso que describen ocurre cuando no existe estructura.</a:t>
            </a:r>
          </a:p>
          <a:p>
            <a:br>
              <a:rPr lang="es-CL" dirty="0"/>
            </a:br>
            <a:endParaRPr lang="es-CL" dirty="0"/>
          </a:p>
          <a:p>
            <a:r>
              <a:rPr lang="es-CL" b="1" dirty="0"/>
              <a:t>🎯 Profundizar en:</a:t>
            </a:r>
          </a:p>
          <a:p>
            <a:r>
              <a:rPr lang="es-CL" dirty="0"/>
              <a:t>Escuchar</a:t>
            </a:r>
          </a:p>
          <a:p>
            <a:r>
              <a:rPr lang="es-CL" dirty="0"/>
              <a:t>Validar respuestas</a:t>
            </a:r>
          </a:p>
          <a:p>
            <a:endParaRPr lang="es-ES_tradn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165C9F-E9C1-5845-9460-9BB81A0FABD3}" type="slidenum">
              <a:rPr lang="es-ES_tradnl" smtClean="0"/>
              <a:t>3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3316834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19E563-C8C1-FEB5-13F6-4AEFA4375A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87AE6B1C-F765-1C7E-12DD-2AA7866C8B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BACFA20F-ADD0-7E05-B72F-02C1EEDEBC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CL" dirty="0"/>
              <a:t>3 minutos</a:t>
            </a:r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Les quiero hacer una pregunta:</a:t>
            </a:r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¿Han visto algún proyecto que comience bien pero termine desordenado o lleno de errores?</a:t>
            </a:r>
          </a:p>
          <a:p>
            <a:br>
              <a:rPr lang="es-CL" dirty="0"/>
            </a:br>
            <a:endParaRPr lang="es-CL" dirty="0"/>
          </a:p>
          <a:p>
            <a:r>
              <a:rPr lang="es-CL" dirty="0"/>
              <a:t>(Pausa real)</a:t>
            </a:r>
          </a:p>
          <a:p>
            <a:br>
              <a:rPr lang="es-CL" dirty="0"/>
            </a:br>
            <a:endParaRPr lang="es-CL" dirty="0"/>
          </a:p>
          <a:p>
            <a:r>
              <a:rPr lang="es-CL" dirty="0"/>
              <a:t>Valida:</a:t>
            </a:r>
          </a:p>
          <a:p>
            <a:br>
              <a:rPr lang="es-CL" dirty="0"/>
            </a:br>
            <a:endParaRPr lang="es-CL" dirty="0"/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Excelente punto.</a:t>
            </a:r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Eso que describen ocurre cuando no existe estructura.</a:t>
            </a:r>
          </a:p>
          <a:p>
            <a:br>
              <a:rPr lang="es-CL" dirty="0"/>
            </a:br>
            <a:endParaRPr lang="es-CL" dirty="0"/>
          </a:p>
          <a:p>
            <a:r>
              <a:rPr lang="es-CL" b="1" dirty="0"/>
              <a:t>🎯 Profundizar en:</a:t>
            </a:r>
          </a:p>
          <a:p>
            <a:r>
              <a:rPr lang="es-CL" dirty="0"/>
              <a:t>Escuchar</a:t>
            </a:r>
          </a:p>
          <a:p>
            <a:r>
              <a:rPr lang="es-CL" dirty="0"/>
              <a:t>Validar respuestas</a:t>
            </a:r>
          </a:p>
          <a:p>
            <a:endParaRPr lang="es-ES_tradnl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87D10B7-3C52-11C5-4F91-2F59A74FBDF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165C9F-E9C1-5845-9460-9BB81A0FABD3}" type="slidenum">
              <a:rPr lang="es-ES_tradnl" smtClean="0"/>
              <a:t>4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4523788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CL" dirty="0"/>
              <a:t>4 minutos</a:t>
            </a:r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Supongamos que debemos crear una aplicación para registrar usuarios.</a:t>
            </a:r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Pero el diseño, las reglas y la información están mezcladas en el mismo lugar.</a:t>
            </a:r>
          </a:p>
          <a:p>
            <a:br>
              <a:rPr lang="es-CL" dirty="0"/>
            </a:br>
            <a:endParaRPr lang="es-CL" dirty="0"/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¿Qué problemas genera eso?</a:t>
            </a:r>
          </a:p>
          <a:p>
            <a:br>
              <a:rPr lang="es-CL" dirty="0"/>
            </a:br>
            <a:endParaRPr lang="es-CL" dirty="0"/>
          </a:p>
          <a:p>
            <a:r>
              <a:rPr lang="es-CL" dirty="0"/>
              <a:t>(Pausa)</a:t>
            </a:r>
          </a:p>
          <a:p>
            <a:br>
              <a:rPr lang="es-CL" dirty="0"/>
            </a:br>
            <a:endParaRPr lang="es-CL" dirty="0"/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Correcto. Dificulta cambios, genera errores y vuelve el sistema poco mantenible.</a:t>
            </a:r>
          </a:p>
          <a:p>
            <a:br>
              <a:rPr lang="es-CL" dirty="0"/>
            </a:br>
            <a:endParaRPr lang="es-CL" dirty="0"/>
          </a:p>
          <a:p>
            <a:r>
              <a:rPr lang="es-CL" b="1" dirty="0"/>
              <a:t>🎯 Profundizar en:</a:t>
            </a:r>
          </a:p>
          <a:p>
            <a:r>
              <a:rPr lang="es-CL" dirty="0"/>
              <a:t>Consecuencias reales (errores, costos)</a:t>
            </a:r>
          </a:p>
          <a:p>
            <a:endParaRPr lang="es-ES_tradn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165C9F-E9C1-5845-9460-9BB81A0FABD3}" type="slidenum">
              <a:rPr lang="es-ES_tradnl" smtClean="0"/>
              <a:t>5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17318483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9E46C1-AFBE-0CBD-3E76-CA123AD9BA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0C615AF2-D903-A48E-8D9F-69EF44E7D5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BE345D8C-2F3F-4E96-A9E9-35FF85CAE4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CL" dirty="0"/>
              <a:t>4 minutos</a:t>
            </a:r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Supongamos que debemos crear una aplicación para registrar usuarios.</a:t>
            </a:r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Pero el diseño, las reglas y la información están mezcladas en el mismo lugar.</a:t>
            </a:r>
          </a:p>
          <a:p>
            <a:br>
              <a:rPr lang="es-CL" dirty="0"/>
            </a:br>
            <a:endParaRPr lang="es-CL" dirty="0"/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¿Qué problemas genera eso?</a:t>
            </a:r>
          </a:p>
          <a:p>
            <a:br>
              <a:rPr lang="es-CL" dirty="0"/>
            </a:br>
            <a:endParaRPr lang="es-CL" dirty="0"/>
          </a:p>
          <a:p>
            <a:r>
              <a:rPr lang="es-CL" dirty="0"/>
              <a:t>(Pausa)</a:t>
            </a:r>
          </a:p>
          <a:p>
            <a:br>
              <a:rPr lang="es-CL" dirty="0"/>
            </a:br>
            <a:endParaRPr lang="es-CL" dirty="0"/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Correcto. Dificulta cambios, genera errores y vuelve el sistema poco mantenible.</a:t>
            </a:r>
          </a:p>
          <a:p>
            <a:br>
              <a:rPr lang="es-CL" dirty="0"/>
            </a:br>
            <a:endParaRPr lang="es-CL" dirty="0"/>
          </a:p>
          <a:p>
            <a:r>
              <a:rPr lang="es-CL" b="1" dirty="0"/>
              <a:t>🎯 Profundizar en:</a:t>
            </a:r>
          </a:p>
          <a:p>
            <a:r>
              <a:rPr lang="es-CL" dirty="0"/>
              <a:t>Consecuencias reales (errores, costos)</a:t>
            </a:r>
          </a:p>
          <a:p>
            <a:endParaRPr lang="es-ES_tradnl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22A9E26-B4B8-D67C-EE84-32016D7B20B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165C9F-E9C1-5845-9460-9BB81A0FABD3}" type="slidenum">
              <a:rPr lang="es-ES_tradnl" smtClean="0"/>
              <a:t>6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04163826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dirty="0"/>
              <a:t> 5 minutos</a:t>
            </a:r>
          </a:p>
          <a:p>
            <a:br>
              <a:rPr lang="es-CL" dirty="0"/>
            </a:br>
            <a:endParaRPr lang="es-CL" dirty="0"/>
          </a:p>
          <a:p>
            <a:r>
              <a:rPr lang="es-CL" b="1" dirty="0"/>
              <a:t>🎤 Qué decir</a:t>
            </a:r>
          </a:p>
          <a:p>
            <a:br>
              <a:rPr lang="es-CL" dirty="0"/>
            </a:br>
            <a:endParaRPr lang="es-CL" dirty="0"/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Para resolver ese problema aplicamos arquitectura por capas.</a:t>
            </a:r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Separar responsabilidades.</a:t>
            </a:r>
          </a:p>
          <a:p>
            <a:br>
              <a:rPr lang="es-CL" dirty="0"/>
            </a:br>
            <a:endParaRPr lang="es-CL" dirty="0"/>
          </a:p>
          <a:p>
            <a:r>
              <a:rPr lang="es-CL" dirty="0"/>
              <a:t>Explica:</a:t>
            </a:r>
          </a:p>
          <a:p>
            <a:r>
              <a:rPr lang="es-CL" dirty="0"/>
              <a:t>Interfaz → lo que el usuario ve</a:t>
            </a:r>
          </a:p>
          <a:p>
            <a:r>
              <a:rPr lang="es-CL" dirty="0"/>
              <a:t>Lógica → reglas</a:t>
            </a:r>
          </a:p>
          <a:p>
            <a:r>
              <a:rPr lang="es-CL" dirty="0"/>
              <a:t>Datos → almacenamiento</a:t>
            </a:r>
          </a:p>
          <a:p>
            <a:br>
              <a:rPr lang="es-CL" dirty="0"/>
            </a:br>
            <a:endParaRPr lang="es-CL" dirty="0"/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Esto permite que cada parte tenga una función clara.</a:t>
            </a:r>
          </a:p>
          <a:p>
            <a:br>
              <a:rPr lang="es-CL" dirty="0"/>
            </a:br>
            <a:endParaRPr lang="es-CL" dirty="0"/>
          </a:p>
          <a:p>
            <a:r>
              <a:rPr lang="es-CL" b="1" dirty="0"/>
              <a:t>🔎 Chequeo</a:t>
            </a:r>
          </a:p>
          <a:p>
            <a:br>
              <a:rPr lang="es-CL" dirty="0"/>
            </a:br>
            <a:endParaRPr lang="es-CL" dirty="0"/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 sus palabras, ¿qué problema estamos evitando?</a:t>
            </a:r>
          </a:p>
          <a:p>
            <a:br>
              <a:rPr lang="es-CL" dirty="0"/>
            </a:br>
            <a:endParaRPr lang="es-CL" dirty="0"/>
          </a:p>
          <a:p>
            <a:r>
              <a:rPr lang="es-CL" b="1" dirty="0"/>
              <a:t>🎯 Profundizar en:</a:t>
            </a:r>
          </a:p>
          <a:p>
            <a:r>
              <a:rPr lang="es-CL" dirty="0"/>
              <a:t>Separación de responsabilidades</a:t>
            </a:r>
          </a:p>
          <a:p>
            <a:r>
              <a:rPr lang="es-CL" dirty="0"/>
              <a:t>Mantenibilidad</a:t>
            </a:r>
          </a:p>
          <a:p>
            <a:endParaRPr lang="es-ES_tradn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165C9F-E9C1-5845-9460-9BB81A0FABD3}" type="slidenum">
              <a:rPr lang="es-ES_tradnl" smtClean="0"/>
              <a:t>7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76796439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1931C9-9954-F56F-255A-EB3B6EA018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6C893488-B265-6E93-5E8A-8C592529B98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8EE38415-9626-6C67-3D68-0B2CF99B4F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dirty="0"/>
              <a:t> 5 minutos</a:t>
            </a:r>
          </a:p>
          <a:p>
            <a:br>
              <a:rPr lang="es-CL" dirty="0"/>
            </a:br>
            <a:endParaRPr lang="es-CL" dirty="0"/>
          </a:p>
          <a:p>
            <a:r>
              <a:rPr lang="es-CL" b="1" dirty="0"/>
              <a:t>🎤 Qué decir</a:t>
            </a:r>
          </a:p>
          <a:p>
            <a:br>
              <a:rPr lang="es-CL" dirty="0"/>
            </a:br>
            <a:endParaRPr lang="es-CL" dirty="0"/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Para resolver ese problema aplicamos arquitectura por capas.</a:t>
            </a:r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Separar responsabilidades.</a:t>
            </a:r>
          </a:p>
          <a:p>
            <a:br>
              <a:rPr lang="es-CL" dirty="0"/>
            </a:br>
            <a:endParaRPr lang="es-CL" dirty="0"/>
          </a:p>
          <a:p>
            <a:r>
              <a:rPr lang="es-CL" dirty="0"/>
              <a:t>Explica:</a:t>
            </a:r>
          </a:p>
          <a:p>
            <a:r>
              <a:rPr lang="es-CL" dirty="0"/>
              <a:t>Interfaz → lo que el usuario ve</a:t>
            </a:r>
          </a:p>
          <a:p>
            <a:r>
              <a:rPr lang="es-CL" dirty="0"/>
              <a:t>Lógica → reglas</a:t>
            </a:r>
          </a:p>
          <a:p>
            <a:r>
              <a:rPr lang="es-CL" dirty="0"/>
              <a:t>Datos → almacenamiento</a:t>
            </a:r>
          </a:p>
          <a:p>
            <a:br>
              <a:rPr lang="es-CL" dirty="0"/>
            </a:br>
            <a:endParaRPr lang="es-CL" dirty="0"/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Esto permite que cada parte tenga una función clara.</a:t>
            </a:r>
          </a:p>
          <a:p>
            <a:br>
              <a:rPr lang="es-CL" dirty="0"/>
            </a:br>
            <a:endParaRPr lang="es-CL" dirty="0"/>
          </a:p>
          <a:p>
            <a:r>
              <a:rPr lang="es-CL" b="1" dirty="0"/>
              <a:t>🔎 Chequeo</a:t>
            </a:r>
          </a:p>
          <a:p>
            <a:br>
              <a:rPr lang="es-CL" dirty="0"/>
            </a:br>
            <a:endParaRPr lang="es-CL" dirty="0"/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 sus palabras, ¿qué problema estamos evitando?</a:t>
            </a:r>
          </a:p>
          <a:p>
            <a:br>
              <a:rPr lang="es-CL" dirty="0"/>
            </a:br>
            <a:endParaRPr lang="es-CL" dirty="0"/>
          </a:p>
          <a:p>
            <a:r>
              <a:rPr lang="es-CL" b="1" dirty="0"/>
              <a:t>🎯 Profundizar en:</a:t>
            </a:r>
          </a:p>
          <a:p>
            <a:r>
              <a:rPr lang="es-CL" dirty="0"/>
              <a:t>Separación de responsabilidades</a:t>
            </a:r>
          </a:p>
          <a:p>
            <a:r>
              <a:rPr lang="es-CL" dirty="0"/>
              <a:t>Mantenibilidad</a:t>
            </a:r>
          </a:p>
          <a:p>
            <a:endParaRPr lang="es-ES_tradnl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2B1FBF6-41D3-2A2A-B139-3A1D842DB92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165C9F-E9C1-5845-9460-9BB81A0FABD3}" type="slidenum">
              <a:rPr lang="es-ES_tradnl" smtClean="0"/>
              <a:t>8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53870571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dirty="0"/>
              <a:t>⏱ 3 minutos</a:t>
            </a:r>
          </a:p>
          <a:p>
            <a:br>
              <a:rPr lang="es-CL" dirty="0"/>
            </a:br>
            <a:endParaRPr lang="es-CL" dirty="0"/>
          </a:p>
          <a:p>
            <a:r>
              <a:rPr lang="es-CL" b="1" dirty="0"/>
              <a:t>🎤 Qué decir</a:t>
            </a:r>
          </a:p>
          <a:p>
            <a:br>
              <a:rPr lang="es-CL" dirty="0"/>
            </a:br>
            <a:endParaRPr lang="es-CL" dirty="0"/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Segundo error: cada desarrollador resuelve el mismo problema de forma distinta.</a:t>
            </a:r>
          </a:p>
          <a:p>
            <a:br>
              <a:rPr lang="es-CL" dirty="0"/>
            </a:br>
            <a:endParaRPr lang="es-CL" dirty="0"/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¿Qué ocurre si en una empresa cada área usa reglas diferentes?</a:t>
            </a:r>
          </a:p>
          <a:p>
            <a:br>
              <a:rPr lang="es-CL" dirty="0"/>
            </a:br>
            <a:endParaRPr lang="es-CL" dirty="0"/>
          </a:p>
          <a:p>
            <a:r>
              <a:rPr lang="es-CL" dirty="0"/>
              <a:t>(Pausa)</a:t>
            </a:r>
          </a:p>
          <a:p>
            <a:br>
              <a:rPr lang="es-CL" dirty="0"/>
            </a:br>
            <a:endParaRPr lang="es-CL" dirty="0"/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Exactamente, inconsistencia y confusión.</a:t>
            </a:r>
          </a:p>
          <a:p>
            <a:endParaRPr lang="es-ES_tradn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165C9F-E9C1-5845-9460-9BB81A0FABD3}" type="slidenum">
              <a:rPr lang="es-ES_tradnl" smtClean="0"/>
              <a:t>9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73176394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AC4EE1-D89A-7790-34CF-13A4D94EB9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43909F3F-53B2-3451-519D-920364C703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96DD18C7-CC43-1863-907A-B66B0172D6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dirty="0"/>
              <a:t>⏱ 3 minutos</a:t>
            </a:r>
          </a:p>
          <a:p>
            <a:br>
              <a:rPr lang="es-CL" dirty="0"/>
            </a:br>
            <a:endParaRPr lang="es-CL" dirty="0"/>
          </a:p>
          <a:p>
            <a:r>
              <a:rPr lang="es-CL" b="1" dirty="0"/>
              <a:t>🎤 Qué decir</a:t>
            </a:r>
          </a:p>
          <a:p>
            <a:br>
              <a:rPr lang="es-CL" dirty="0"/>
            </a:br>
            <a:endParaRPr lang="es-CL" dirty="0"/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Segundo error: cada desarrollador resuelve el mismo problema de forma distinta.</a:t>
            </a:r>
          </a:p>
          <a:p>
            <a:br>
              <a:rPr lang="es-CL" dirty="0"/>
            </a:br>
            <a:endParaRPr lang="es-CL" dirty="0"/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¿Qué ocurre si en una empresa cada área usa reglas diferentes?</a:t>
            </a:r>
          </a:p>
          <a:p>
            <a:br>
              <a:rPr lang="es-CL" dirty="0"/>
            </a:br>
            <a:endParaRPr lang="es-CL" dirty="0"/>
          </a:p>
          <a:p>
            <a:r>
              <a:rPr lang="es-CL" dirty="0"/>
              <a:t>(Pausa)</a:t>
            </a:r>
          </a:p>
          <a:p>
            <a:br>
              <a:rPr lang="es-CL" dirty="0"/>
            </a:br>
            <a:endParaRPr lang="es-CL" dirty="0"/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Exactamente, inconsistencia y confusión.</a:t>
            </a:r>
          </a:p>
          <a:p>
            <a:endParaRPr lang="es-ES_tradnl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4DE4803-BEDC-E35D-F810-93FCDB74301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165C9F-E9C1-5845-9460-9BB81A0FABD3}" type="slidenum">
              <a:rPr lang="es-ES_tradnl" smtClean="0"/>
              <a:t>10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51181734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dirty="0"/>
              <a:t>⏱ 5 minutos</a:t>
            </a:r>
          </a:p>
          <a:p>
            <a:br>
              <a:rPr lang="es-CL" dirty="0"/>
            </a:br>
            <a:endParaRPr lang="es-CL" dirty="0"/>
          </a:p>
          <a:p>
            <a:r>
              <a:rPr lang="es-CL" b="1" dirty="0"/>
              <a:t>🎤 Qué decir</a:t>
            </a:r>
          </a:p>
          <a:p>
            <a:br>
              <a:rPr lang="es-CL" dirty="0"/>
            </a:br>
            <a:endParaRPr lang="es-CL" dirty="0"/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Para evitar eso aplicamos un patrón de diseño.</a:t>
            </a:r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Una solución probada que se reutiliza.</a:t>
            </a:r>
          </a:p>
          <a:p>
            <a:br>
              <a:rPr lang="es-CL" dirty="0"/>
            </a:br>
            <a:endParaRPr lang="es-CL" dirty="0"/>
          </a:p>
          <a:p>
            <a:r>
              <a:rPr lang="es-CL" dirty="0"/>
              <a:t>Explica el flujo:</a:t>
            </a:r>
          </a:p>
          <a:p>
            <a:br>
              <a:rPr lang="es-CL" dirty="0"/>
            </a:br>
            <a:endParaRPr lang="es-CL" dirty="0"/>
          </a:p>
          <a:p>
            <a:r>
              <a:rPr lang="es-CL" dirty="0"/>
              <a:t>Interfaz → Lógica → Repositorio → Datos</a:t>
            </a:r>
          </a:p>
          <a:p>
            <a:br>
              <a:rPr lang="es-CL" dirty="0"/>
            </a:br>
            <a:endParaRPr lang="es-CL" dirty="0"/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El patrón repositorio establece una única forma de acceder a la información.</a:t>
            </a:r>
          </a:p>
          <a:p>
            <a:br>
              <a:rPr lang="es-CL" dirty="0"/>
            </a:br>
            <a:endParaRPr lang="es-CL" dirty="0"/>
          </a:p>
          <a:p>
            <a:r>
              <a:rPr lang="es-CL" b="1" dirty="0"/>
              <a:t>🔎 Chequeo</a:t>
            </a:r>
          </a:p>
          <a:p>
            <a:br>
              <a:rPr lang="es-CL" dirty="0"/>
            </a:br>
            <a:endParaRPr lang="es-CL" dirty="0"/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¿Por qué usar una estructura común reduce errores?</a:t>
            </a:r>
          </a:p>
          <a:p>
            <a:br>
              <a:rPr lang="es-CL" dirty="0"/>
            </a:br>
            <a:endParaRPr lang="es-CL" dirty="0"/>
          </a:p>
          <a:p>
            <a:r>
              <a:rPr lang="es-CL" b="1" dirty="0"/>
              <a:t>🎯 Profundizar en:</a:t>
            </a:r>
          </a:p>
          <a:p>
            <a:r>
              <a:rPr lang="es-CL" dirty="0"/>
              <a:t>Estandarización</a:t>
            </a:r>
          </a:p>
          <a:p>
            <a:r>
              <a:rPr lang="es-CL" dirty="0"/>
              <a:t>Reducción de acoplamiento</a:t>
            </a:r>
          </a:p>
          <a:p>
            <a:endParaRPr lang="es-ES_tradn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165C9F-E9C1-5845-9460-9BB81A0FABD3}" type="slidenum">
              <a:rPr lang="es-ES_tradnl" smtClean="0"/>
              <a:t>11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79605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146AA1-1E4E-6A5F-23D2-B6A9B06CEA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5931D49F-A221-F192-2E72-E534840E2F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B4FD426D-B38F-314C-EE10-F0C3A46F67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dirty="0"/>
              <a:t>⏱ 5 minutos</a:t>
            </a:r>
          </a:p>
          <a:p>
            <a:br>
              <a:rPr lang="es-CL" dirty="0"/>
            </a:br>
            <a:endParaRPr lang="es-CL" dirty="0"/>
          </a:p>
          <a:p>
            <a:r>
              <a:rPr lang="es-CL" b="1" dirty="0"/>
              <a:t>🎤 Qué decir</a:t>
            </a:r>
          </a:p>
          <a:p>
            <a:br>
              <a:rPr lang="es-CL" dirty="0"/>
            </a:br>
            <a:endParaRPr lang="es-CL" dirty="0"/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Para evitar eso aplicamos un patrón de diseño.</a:t>
            </a:r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Una solución probada que se reutiliza.</a:t>
            </a:r>
          </a:p>
          <a:p>
            <a:br>
              <a:rPr lang="es-CL" dirty="0"/>
            </a:br>
            <a:endParaRPr lang="es-CL" dirty="0"/>
          </a:p>
          <a:p>
            <a:r>
              <a:rPr lang="es-CL" dirty="0"/>
              <a:t>Explica el flujo:</a:t>
            </a:r>
          </a:p>
          <a:p>
            <a:br>
              <a:rPr lang="es-CL" dirty="0"/>
            </a:br>
            <a:endParaRPr lang="es-CL" dirty="0"/>
          </a:p>
          <a:p>
            <a:r>
              <a:rPr lang="es-CL" dirty="0"/>
              <a:t>Interfaz → Lógica → Repositorio → Datos</a:t>
            </a:r>
          </a:p>
          <a:p>
            <a:br>
              <a:rPr lang="es-CL" dirty="0"/>
            </a:br>
            <a:endParaRPr lang="es-CL" dirty="0"/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El patrón repositorio establece una única forma de acceder a la información.</a:t>
            </a:r>
          </a:p>
          <a:p>
            <a:br>
              <a:rPr lang="es-CL" dirty="0"/>
            </a:br>
            <a:endParaRPr lang="es-CL" dirty="0"/>
          </a:p>
          <a:p>
            <a:r>
              <a:rPr lang="es-CL" b="1" dirty="0"/>
              <a:t>🔎 Chequeo</a:t>
            </a:r>
          </a:p>
          <a:p>
            <a:br>
              <a:rPr lang="es-CL" dirty="0"/>
            </a:br>
            <a:endParaRPr lang="es-CL" dirty="0"/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¿Por qué usar una estructura común reduce errores?</a:t>
            </a:r>
          </a:p>
          <a:p>
            <a:br>
              <a:rPr lang="es-CL" dirty="0"/>
            </a:br>
            <a:endParaRPr lang="es-CL" dirty="0"/>
          </a:p>
          <a:p>
            <a:r>
              <a:rPr lang="es-CL" b="1" dirty="0"/>
              <a:t>🎯 Profundizar en:</a:t>
            </a:r>
          </a:p>
          <a:p>
            <a:r>
              <a:rPr lang="es-CL" dirty="0"/>
              <a:t>Estandarización</a:t>
            </a:r>
          </a:p>
          <a:p>
            <a:r>
              <a:rPr lang="es-CL" dirty="0"/>
              <a:t>Reducción de acoplamiento</a:t>
            </a:r>
          </a:p>
          <a:p>
            <a:endParaRPr lang="es-ES_tradnl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39CB8D3-9FC5-CDD3-8565-1FB334C534C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165C9F-E9C1-5845-9460-9BB81A0FABD3}" type="slidenum">
              <a:rPr lang="es-ES_tradnl" smtClean="0"/>
              <a:t>12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16403768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dirty="0"/>
              <a:t>⏱ 3 minutos</a:t>
            </a:r>
          </a:p>
          <a:p>
            <a:br>
              <a:rPr lang="es-CL" dirty="0"/>
            </a:br>
            <a:endParaRPr lang="es-CL" dirty="0"/>
          </a:p>
          <a:p>
            <a:r>
              <a:rPr lang="es-CL" b="1" dirty="0"/>
              <a:t>🎤 Qué decir</a:t>
            </a:r>
          </a:p>
          <a:p>
            <a:br>
              <a:rPr lang="es-CL" dirty="0"/>
            </a:br>
            <a:endParaRPr lang="es-CL" dirty="0"/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Ahora imaginemos tres personas trabajando en el mismo archivo al mismo tiempo.</a:t>
            </a:r>
          </a:p>
          <a:p>
            <a:br>
              <a:rPr lang="es-CL" dirty="0"/>
            </a:br>
            <a:endParaRPr lang="es-CL" dirty="0"/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¿Qué puede ocurrir?</a:t>
            </a:r>
          </a:p>
          <a:p>
            <a:br>
              <a:rPr lang="es-CL" dirty="0"/>
            </a:br>
            <a:endParaRPr lang="es-CL" dirty="0"/>
          </a:p>
          <a:p>
            <a:r>
              <a:rPr lang="es-CL" dirty="0"/>
              <a:t>(Pausa)</a:t>
            </a:r>
          </a:p>
          <a:p>
            <a:endParaRPr lang="es-ES_tradn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165C9F-E9C1-5845-9460-9BB81A0FABD3}" type="slidenum">
              <a:rPr lang="es-ES_tradnl" smtClean="0"/>
              <a:t>13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04744591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dirty="0"/>
              <a:t>⏱ 5 minutos</a:t>
            </a:r>
          </a:p>
          <a:p>
            <a:br>
              <a:rPr lang="es-CL" dirty="0"/>
            </a:br>
            <a:endParaRPr lang="es-CL" dirty="0"/>
          </a:p>
          <a:p>
            <a:r>
              <a:rPr lang="es-CL" b="1" dirty="0"/>
              <a:t>🎤 Qué decir</a:t>
            </a:r>
          </a:p>
          <a:p>
            <a:br>
              <a:rPr lang="es-CL" dirty="0"/>
            </a:br>
            <a:endParaRPr lang="es-CL" dirty="0"/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Para evitar conflictos usamos una estrategia llamada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branching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br>
              <a:rPr lang="es-CL" dirty="0"/>
            </a:br>
            <a:endParaRPr lang="es-CL" dirty="0"/>
          </a:p>
          <a:p>
            <a:r>
              <a:rPr lang="es-CL" dirty="0"/>
              <a:t>Explica:</a:t>
            </a:r>
          </a:p>
          <a:p>
            <a:r>
              <a:rPr lang="es-CL" dirty="0"/>
              <a:t>Rama principal → versión estable</a:t>
            </a:r>
          </a:p>
          <a:p>
            <a:r>
              <a:rPr lang="es-CL" dirty="0"/>
              <a:t>Ramas individuales → trabajo separado</a:t>
            </a:r>
          </a:p>
          <a:p>
            <a:r>
              <a:rPr lang="es-CL" dirty="0"/>
              <a:t>Integración controlada</a:t>
            </a:r>
          </a:p>
          <a:p>
            <a:br>
              <a:rPr lang="es-CL" dirty="0"/>
            </a:br>
            <a:endParaRPr lang="es-CL" dirty="0"/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Así mantenemos orden y control.</a:t>
            </a:r>
          </a:p>
          <a:p>
            <a:br>
              <a:rPr lang="es-CL" dirty="0"/>
            </a:br>
            <a:endParaRPr lang="es-CL" dirty="0"/>
          </a:p>
          <a:p>
            <a:r>
              <a:rPr lang="es-CL" b="1" dirty="0"/>
              <a:t>🔎 Chequeo</a:t>
            </a:r>
          </a:p>
          <a:p>
            <a:br>
              <a:rPr lang="es-CL" dirty="0"/>
            </a:br>
            <a:endParaRPr lang="es-CL" dirty="0"/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¿Cuál es la ventaja principal de este modelo?</a:t>
            </a:r>
          </a:p>
          <a:p>
            <a:br>
              <a:rPr lang="es-CL" dirty="0"/>
            </a:br>
            <a:endParaRPr lang="es-CL" dirty="0"/>
          </a:p>
          <a:p>
            <a:r>
              <a:rPr lang="es-CL" b="1" dirty="0"/>
              <a:t>🎯 Profundizar en:</a:t>
            </a:r>
          </a:p>
          <a:p>
            <a:r>
              <a:rPr lang="es-CL" dirty="0"/>
              <a:t>Trabajo paralelo</a:t>
            </a:r>
          </a:p>
          <a:p>
            <a:r>
              <a:rPr lang="es-CL" dirty="0"/>
              <a:t>Seguridad en integración</a:t>
            </a:r>
          </a:p>
          <a:p>
            <a:endParaRPr lang="es-ES_tradn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165C9F-E9C1-5845-9460-9BB81A0FABD3}" type="slidenum">
              <a:rPr lang="es-ES_tradnl" smtClean="0"/>
              <a:t>15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7362555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dirty="0"/>
              <a:t>⏱ 4 minutos</a:t>
            </a:r>
          </a:p>
          <a:p>
            <a:br>
              <a:rPr lang="es-CL" dirty="0"/>
            </a:br>
            <a:endParaRPr lang="es-CL" dirty="0"/>
          </a:p>
          <a:p>
            <a:r>
              <a:rPr lang="es-CL" b="1" dirty="0"/>
              <a:t>🎤 Qué decir</a:t>
            </a:r>
          </a:p>
          <a:p>
            <a:br>
              <a:rPr lang="es-CL" dirty="0"/>
            </a:br>
            <a:endParaRPr lang="es-CL" dirty="0"/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Tomemos nuestro problema inicial: módulo de usuarios.</a:t>
            </a:r>
          </a:p>
          <a:p>
            <a:br>
              <a:rPr lang="es-CL" dirty="0"/>
            </a:br>
            <a:endParaRPr lang="es-CL" dirty="0"/>
          </a:p>
          <a:p>
            <a:r>
              <a:rPr lang="es-CL" dirty="0"/>
              <a:t>Aplicamos:</a:t>
            </a:r>
          </a:p>
          <a:p>
            <a:r>
              <a:rPr lang="es-CL" dirty="0"/>
              <a:t>Arquitectura → separación</a:t>
            </a:r>
          </a:p>
          <a:p>
            <a:r>
              <a:rPr lang="es-CL" dirty="0"/>
              <a:t>Patrón → acceso estructurado</a:t>
            </a:r>
          </a:p>
          <a:p>
            <a:r>
              <a:rPr lang="es-CL" dirty="0" err="1"/>
              <a:t>Branching</a:t>
            </a:r>
            <a:r>
              <a:rPr lang="es-CL" dirty="0"/>
              <a:t> → trabajo organizado</a:t>
            </a:r>
          </a:p>
          <a:p>
            <a:br>
              <a:rPr lang="es-CL" dirty="0"/>
            </a:br>
            <a:endParaRPr lang="es-CL" dirty="0"/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Acabamos de ejecutar buenas prácticas para resolver un problema conocido.</a:t>
            </a:r>
          </a:p>
          <a:p>
            <a:br>
              <a:rPr lang="es-CL" dirty="0"/>
            </a:br>
            <a:endParaRPr lang="es-CL" dirty="0"/>
          </a:p>
          <a:p>
            <a:r>
              <a:rPr lang="es-CL" dirty="0"/>
              <a:t>(Este es el momento clave del RA)</a:t>
            </a:r>
          </a:p>
          <a:p>
            <a:endParaRPr lang="es-ES_tradn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165C9F-E9C1-5845-9460-9BB81A0FABD3}" type="slidenum">
              <a:rPr lang="es-ES_tradnl" smtClean="0"/>
              <a:t>16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1695998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dirty="0"/>
              <a:t>⏱ 2 minutos</a:t>
            </a:r>
          </a:p>
          <a:p>
            <a:br>
              <a:rPr lang="es-CL" dirty="0"/>
            </a:br>
            <a:endParaRPr lang="es-CL" dirty="0"/>
          </a:p>
          <a:p>
            <a:r>
              <a:rPr lang="es-CL" b="1" dirty="0"/>
              <a:t>🎤 Qué decir</a:t>
            </a:r>
          </a:p>
          <a:p>
            <a:br>
              <a:rPr lang="es-CL" dirty="0"/>
            </a:br>
            <a:endParaRPr lang="es-CL" dirty="0"/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Ayúdenme a completar:</a:t>
            </a:r>
          </a:p>
          <a:p>
            <a:br>
              <a:rPr lang="es-CL" dirty="0"/>
            </a:br>
            <a:endParaRPr lang="es-CL" dirty="0"/>
          </a:p>
          <a:p>
            <a:r>
              <a:rPr lang="es-CL" dirty="0"/>
              <a:t>Mezclar todo → ______</a:t>
            </a:r>
          </a:p>
          <a:p>
            <a:r>
              <a:rPr lang="es-CL" dirty="0"/>
              <a:t>Reinventar soluciones → ______</a:t>
            </a:r>
          </a:p>
          <a:p>
            <a:r>
              <a:rPr lang="es-CL" dirty="0"/>
              <a:t>Trabajar sin control → ______</a:t>
            </a:r>
          </a:p>
          <a:p>
            <a:br>
              <a:rPr lang="es-CL" dirty="0"/>
            </a:br>
            <a:endParaRPr lang="es-CL" dirty="0"/>
          </a:p>
          <a:p>
            <a:r>
              <a:rPr lang="es-CL" dirty="0"/>
              <a:t>Valida respuestas.</a:t>
            </a:r>
          </a:p>
          <a:p>
            <a:endParaRPr lang="es-ES_tradn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165C9F-E9C1-5845-9460-9BB81A0FABD3}" type="slidenum">
              <a:rPr lang="es-ES_tradnl" smtClean="0"/>
              <a:t>17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02534617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dirty="0"/>
              <a:t>⏱ 1.5 minutos</a:t>
            </a:r>
          </a:p>
          <a:p>
            <a:br>
              <a:rPr lang="es-CL" dirty="0"/>
            </a:br>
            <a:endParaRPr lang="es-CL" dirty="0"/>
          </a:p>
          <a:p>
            <a:r>
              <a:rPr lang="es-CL" b="1" dirty="0"/>
              <a:t>🎤 Qué decir</a:t>
            </a:r>
          </a:p>
          <a:p>
            <a:br>
              <a:rPr lang="es-CL" dirty="0"/>
            </a:br>
            <a:endParaRPr lang="es-CL" dirty="0"/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El desarrollo profesional no es improvisación.</a:t>
            </a:r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Es estructura, estándares y colaboración organizada.</a:t>
            </a:r>
          </a:p>
          <a:p>
            <a:br>
              <a:rPr lang="es-CL" dirty="0"/>
            </a:br>
            <a:endParaRPr lang="es-CL" dirty="0"/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Las buenas prácticas permiten eficiencia, orden y escalabilidad.</a:t>
            </a:r>
          </a:p>
          <a:p>
            <a:endParaRPr lang="es-ES_tradn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165C9F-E9C1-5845-9460-9BB81A0FABD3}" type="slidenum">
              <a:rPr lang="es-ES_tradnl" smtClean="0"/>
              <a:t>19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55627363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dirty="0"/>
              <a:t>⏱ 1.5 minutos</a:t>
            </a:r>
          </a:p>
          <a:p>
            <a:br>
              <a:rPr lang="es-CL" dirty="0"/>
            </a:br>
            <a:endParaRPr lang="es-CL" dirty="0"/>
          </a:p>
          <a:p>
            <a:r>
              <a:rPr lang="es-CL" b="1" dirty="0"/>
              <a:t>🎤 Qué decir</a:t>
            </a:r>
          </a:p>
          <a:p>
            <a:br>
              <a:rPr lang="es-CL" dirty="0"/>
            </a:br>
            <a:endParaRPr lang="es-CL" dirty="0"/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Todo lo que vimos hoy está respaldado por estándares de la industria y literatura especializada.</a:t>
            </a:r>
          </a:p>
          <a:p>
            <a:br>
              <a:rPr lang="es-CL" dirty="0"/>
            </a:br>
            <a:endParaRPr lang="es-CL" dirty="0"/>
          </a:p>
          <a:p>
            <a:r>
              <a:rPr lang="es-CL" dirty="0"/>
              <a:t>Menciona brevemente:</a:t>
            </a:r>
          </a:p>
          <a:p>
            <a:r>
              <a:rPr lang="es-CL" dirty="0"/>
              <a:t>Robert C. Martin</a:t>
            </a:r>
          </a:p>
          <a:p>
            <a:r>
              <a:rPr lang="es-CL" dirty="0"/>
              <a:t>Martin </a:t>
            </a:r>
            <a:r>
              <a:rPr lang="es-CL" dirty="0" err="1"/>
              <a:t>Fowler</a:t>
            </a:r>
            <a:endParaRPr lang="es-CL" dirty="0"/>
          </a:p>
          <a:p>
            <a:r>
              <a:rPr lang="es-CL" dirty="0"/>
              <a:t>Pro Git</a:t>
            </a:r>
          </a:p>
          <a:p>
            <a:br>
              <a:rPr lang="es-CL" dirty="0"/>
            </a:br>
            <a:endParaRPr lang="es-CL" dirty="0"/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Profundizar en estas fuentes permite aplicar estas prácticas en proyectos reales.</a:t>
            </a:r>
          </a:p>
          <a:p>
            <a:endParaRPr lang="es-ES_tradn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165C9F-E9C1-5845-9460-9BB81A0FABD3}" type="slidenum">
              <a:rPr lang="es-ES_tradnl" smtClean="0"/>
              <a:t>20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6546269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542C88C-2F92-3FE2-0BF8-4105D03830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MX"/>
              <a:t>Haz clic para modificar el estilo de título del patrón</a:t>
            </a:r>
            <a:endParaRPr lang="es-ES_tradnl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D47A1D5-B973-747A-0DFF-860D1F36AB4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MX"/>
              <a:t>Haz clic para editar el estilo de subtítulo del patrón</a:t>
            </a:r>
            <a:endParaRPr lang="es-ES_tradn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F737395-C759-8D00-AE61-39E112A7A1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D0817-54BC-0B40-914C-AC43593DDE96}" type="datetimeFigureOut">
              <a:rPr lang="es-ES_tradnl" smtClean="0"/>
              <a:t>15/4/26</a:t>
            </a:fld>
            <a:endParaRPr lang="es-ES_tradn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482B539-37AE-D5D2-5750-E1A993281A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E08623D-F8BA-269B-239C-C828C8831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FF7F88-CC81-A44E-884D-3390AD2A7F0C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5908698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10D00A3-D7D6-639D-F386-1E273113ED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ES_tradn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18D7005-3563-01DB-40DF-4B1C6C15E6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ES_tradn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B1A0123-B0DF-C0EB-EAAF-C4871257ED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D0817-54BC-0B40-914C-AC43593DDE96}" type="datetimeFigureOut">
              <a:rPr lang="es-ES_tradnl" smtClean="0"/>
              <a:t>15/4/26</a:t>
            </a:fld>
            <a:endParaRPr lang="es-ES_tradn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4E60571-88E4-0134-77F6-72FE9F0644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E028096-1579-2126-E22C-BFE3BBE47C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FF7F88-CC81-A44E-884D-3390AD2A7F0C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5431720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A61F85B-449C-B2A9-D23B-D9F51B1CC6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MX"/>
              <a:t>Haz clic para modificar el estilo de título del patrón</a:t>
            </a:r>
            <a:endParaRPr lang="es-ES_tradn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A025033-D6F4-E699-C893-3EC65A5D12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BD53AD5-E417-02AA-54D2-7E9A3717A1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D0817-54BC-0B40-914C-AC43593DDE96}" type="datetimeFigureOut">
              <a:rPr lang="es-ES_tradnl" smtClean="0"/>
              <a:t>15/4/26</a:t>
            </a:fld>
            <a:endParaRPr lang="es-ES_tradn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0DF1582-7AE8-2B59-16CD-51015D1104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D73D480-6C37-18D0-A427-44292A0FBF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FF7F88-CC81-A44E-884D-3390AD2A7F0C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8145905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0EB7892-CF8B-1EFA-C4C0-C917F43EBA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ES_tradn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278287D-0D46-F6A0-F1FE-267009046A2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ES_tradnl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AAD4CEC-1B14-A9B0-B3CF-914D8B4FED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ES_tradnl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580031F-0AC3-A030-DDB4-576CE0054D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D0817-54BC-0B40-914C-AC43593DDE96}" type="datetimeFigureOut">
              <a:rPr lang="es-ES_tradnl" smtClean="0"/>
              <a:t>15/4/26</a:t>
            </a:fld>
            <a:endParaRPr lang="es-ES_tradn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D77CBE3-0D3E-3751-E3B3-3C882936ED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F278CBA-3F67-29BD-7F99-24BDA57529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FF7F88-CC81-A44E-884D-3390AD2A7F0C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7703793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F844706-1CFA-4FD9-9F0E-AB38C466B8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s-ES_tradn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9A27681-533F-D893-8AE3-B3D022B9C8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7D879FD-EC15-AF7F-8E85-41DF9C3BC9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ES_tradnl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1D9BCC51-55EC-0699-F2D9-980A3863CD6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E2EAFA4E-49E6-5434-C43B-857EE5E42E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ES_tradnl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0877FF33-DDC6-A835-221C-C12DF24D2D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D0817-54BC-0B40-914C-AC43593DDE96}" type="datetimeFigureOut">
              <a:rPr lang="es-ES_tradnl" smtClean="0"/>
              <a:t>15/4/26</a:t>
            </a:fld>
            <a:endParaRPr lang="es-ES_tradnl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4AC9ED56-54F8-AFAE-A91F-265E3ED490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D413F409-07F2-106D-364E-141CD7E122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FF7F88-CC81-A44E-884D-3390AD2A7F0C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1647755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A1249F4-9E8B-CFB8-6D82-C99B55D119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ES_tradnl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92CB5CBD-4D6F-EFB1-F770-5DF2137B8C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D0817-54BC-0B40-914C-AC43593DDE96}" type="datetimeFigureOut">
              <a:rPr lang="es-ES_tradnl" smtClean="0"/>
              <a:t>15/4/26</a:t>
            </a:fld>
            <a:endParaRPr lang="es-ES_tradnl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ED030E51-70DF-E487-9654-0F50CF0357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C2DC7902-9126-ED4E-692C-4464AE38C5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FF7F88-CC81-A44E-884D-3390AD2A7F0C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8420030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42A5F185-E6D1-355A-4B63-4F6E10FC92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D0817-54BC-0B40-914C-AC43593DDE96}" type="datetimeFigureOut">
              <a:rPr lang="es-ES_tradnl" smtClean="0"/>
              <a:t>15/4/26</a:t>
            </a:fld>
            <a:endParaRPr lang="es-ES_tradnl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C70EB602-9365-FE76-E5A5-42326E06A0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C2D24A2-BA11-FCED-B962-1365B9C37B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FF7F88-CC81-A44E-884D-3390AD2A7F0C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40555501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E3269C7-0D9D-2632-8968-8035693AB4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 lang="es-ES_tradn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7603F60-21F3-3F29-9E64-C1E74EABE8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ES_tradn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930F48AA-97DC-636D-512D-98F39748DA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7566943-4684-1F36-CA95-D34226C775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D0817-54BC-0B40-914C-AC43593DDE96}" type="datetimeFigureOut">
              <a:rPr lang="es-ES_tradnl" smtClean="0"/>
              <a:t>15/4/26</a:t>
            </a:fld>
            <a:endParaRPr lang="es-ES_tradn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3ABE76B-E10E-95C6-7FD5-205A1B3F66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20A21F3-1454-0772-751F-8938938D08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FF7F88-CC81-A44E-884D-3390AD2A7F0C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586017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58BA29-A130-9F9D-185F-222FE909D7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 lang="es-ES_tradnl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6F484E6F-BC45-209B-C58B-20E02F48C75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_tradn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6A2C2B9-542D-0AB0-03A0-3BD163FBE6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8C6BA52-904D-63F7-61E9-C921C86EBF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D0817-54BC-0B40-914C-AC43593DDE96}" type="datetimeFigureOut">
              <a:rPr lang="es-ES_tradnl" smtClean="0"/>
              <a:t>15/4/26</a:t>
            </a:fld>
            <a:endParaRPr lang="es-ES_tradn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D8AB473-918E-DCBB-FC26-C0B4DF834C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D845A3A-8BF9-DA87-039C-9A2839B66F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FF7F88-CC81-A44E-884D-3390AD2A7F0C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169321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1CB2628-7C3A-30F6-8CA4-0B9D19B81F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ES_tradn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DC162B72-E344-E7FE-AF05-86EA864A8E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ES_tradn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9CA612B-CB56-19EE-B939-D0111BCD41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D0817-54BC-0B40-914C-AC43593DDE96}" type="datetimeFigureOut">
              <a:rPr lang="es-ES_tradnl" smtClean="0"/>
              <a:t>15/4/26</a:t>
            </a:fld>
            <a:endParaRPr lang="es-ES_tradn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AA89AB7-5E1A-2413-CF51-9B54B60B29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80D49A9-5B41-BBBE-60A0-D322F63A8D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FF7F88-CC81-A44E-884D-3390AD2A7F0C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6786640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271EBAC6-838B-565E-A472-3F0D7D70E5D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MX"/>
              <a:t>Haz clic para modificar el estilo de título del patrón</a:t>
            </a:r>
            <a:endParaRPr lang="es-ES_tradn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585A581-BF9F-84B7-52BD-A1F71B2A68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ES_tradn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D7F2636-400D-2EB1-9CA1-B513371958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D0817-54BC-0B40-914C-AC43593DDE96}" type="datetimeFigureOut">
              <a:rPr lang="es-ES_tradnl" smtClean="0"/>
              <a:t>15/4/26</a:t>
            </a:fld>
            <a:endParaRPr lang="es-ES_tradn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7FBBBA5-ECC3-E5AE-76A3-B45C171412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BE5D612-7856-D993-4C4E-D320A1B11B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FF7F88-CC81-A44E-884D-3390AD2A7F0C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6918080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F5515A7F-12C1-F7B6-4DAC-135277334B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MX"/>
              <a:t>Haz clic para modificar el estilo de título del patrón</a:t>
            </a:r>
            <a:endParaRPr lang="es-ES_tradn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48536EB-4393-CA05-E5C8-60D90D40ED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ES_tradn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AC253AE-11C2-9154-E414-D9047F99B9F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D6D0817-54BC-0B40-914C-AC43593DDE96}" type="datetimeFigureOut">
              <a:rPr lang="es-ES_tradnl" smtClean="0"/>
              <a:t>15/4/26</a:t>
            </a:fld>
            <a:endParaRPr lang="es-ES_tradn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7A0147A-E67B-5A3D-3691-826ED65DFF9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_tradn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CB6C3BB-79C1-6000-1295-7F9E10AADA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0FF7F88-CC81-A44E-884D-3390AD2A7F0C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7039363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CFB9FA6-0DEA-3171-B98F-BDEDAD0363E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s-ES_tradnl" dirty="0"/>
              <a:t>Qué es y para que sirve JWT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45A2809-A9A9-33A8-34A8-CB86774C5F1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CL" dirty="0"/>
              <a:t>Autenticación y autorización en microservicios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2AB36E29-6A4F-195C-3EB1-D76B2DBE323E}"/>
              </a:ext>
            </a:extLst>
          </p:cNvPr>
          <p:cNvSpPr txBox="1"/>
          <p:nvPr/>
        </p:nvSpPr>
        <p:spPr>
          <a:xfrm>
            <a:off x="234771" y="5507665"/>
            <a:ext cx="447667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dirty="0"/>
              <a:t>Clase: adicional</a:t>
            </a:r>
          </a:p>
          <a:p>
            <a:r>
              <a:rPr lang="es-ES_tradnl" dirty="0"/>
              <a:t>Fecha: Jueves 19 de febrero de 2026</a:t>
            </a:r>
          </a:p>
          <a:p>
            <a:r>
              <a:rPr lang="es-ES_tradnl" dirty="0"/>
              <a:t>Docente: Juan Mora</a:t>
            </a:r>
          </a:p>
          <a:p>
            <a:r>
              <a:rPr lang="es-ES_tradnl" dirty="0"/>
              <a:t>Escuela: Informática y telecomunicaciones</a:t>
            </a: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DA8F870D-2BF8-A339-9BC1-14754569FF0A}"/>
              </a:ext>
            </a:extLst>
          </p:cNvPr>
          <p:cNvSpPr/>
          <p:nvPr/>
        </p:nvSpPr>
        <p:spPr>
          <a:xfrm>
            <a:off x="9338693" y="6180589"/>
            <a:ext cx="1618615" cy="525780"/>
          </a:xfrm>
          <a:custGeom>
            <a:avLst/>
            <a:gdLst/>
            <a:ahLst/>
            <a:cxnLst/>
            <a:rect l="l" t="t" r="r" b="b"/>
            <a:pathLst>
              <a:path w="1618615" h="525779">
                <a:moveTo>
                  <a:pt x="452996" y="248158"/>
                </a:moveTo>
                <a:lnTo>
                  <a:pt x="449186" y="196608"/>
                </a:lnTo>
                <a:lnTo>
                  <a:pt x="437883" y="151485"/>
                </a:lnTo>
                <a:lnTo>
                  <a:pt x="419849" y="112661"/>
                </a:lnTo>
                <a:lnTo>
                  <a:pt x="395846" y="79959"/>
                </a:lnTo>
                <a:lnTo>
                  <a:pt x="366382" y="53276"/>
                </a:lnTo>
                <a:lnTo>
                  <a:pt x="330695" y="31584"/>
                </a:lnTo>
                <a:lnTo>
                  <a:pt x="330695" y="251955"/>
                </a:lnTo>
                <a:lnTo>
                  <a:pt x="325107" y="307860"/>
                </a:lnTo>
                <a:lnTo>
                  <a:pt x="308851" y="353148"/>
                </a:lnTo>
                <a:lnTo>
                  <a:pt x="282816" y="387997"/>
                </a:lnTo>
                <a:lnTo>
                  <a:pt x="248145" y="412572"/>
                </a:lnTo>
                <a:lnTo>
                  <a:pt x="205473" y="427037"/>
                </a:lnTo>
                <a:lnTo>
                  <a:pt x="155816" y="431584"/>
                </a:lnTo>
                <a:lnTo>
                  <a:pt x="146786" y="431584"/>
                </a:lnTo>
                <a:lnTo>
                  <a:pt x="134226" y="431292"/>
                </a:lnTo>
                <a:lnTo>
                  <a:pt x="124079" y="430606"/>
                </a:lnTo>
                <a:lnTo>
                  <a:pt x="115570" y="429272"/>
                </a:lnTo>
                <a:lnTo>
                  <a:pt x="115570" y="93611"/>
                </a:lnTo>
                <a:lnTo>
                  <a:pt x="124333" y="91935"/>
                </a:lnTo>
                <a:lnTo>
                  <a:pt x="136004" y="90449"/>
                </a:lnTo>
                <a:lnTo>
                  <a:pt x="150609" y="89420"/>
                </a:lnTo>
                <a:lnTo>
                  <a:pt x="168008" y="89027"/>
                </a:lnTo>
                <a:lnTo>
                  <a:pt x="214871" y="93433"/>
                </a:lnTo>
                <a:lnTo>
                  <a:pt x="254749" y="106743"/>
                </a:lnTo>
                <a:lnTo>
                  <a:pt x="287007" y="129095"/>
                </a:lnTo>
                <a:lnTo>
                  <a:pt x="310756" y="160655"/>
                </a:lnTo>
                <a:lnTo>
                  <a:pt x="325615" y="201561"/>
                </a:lnTo>
                <a:lnTo>
                  <a:pt x="330695" y="251955"/>
                </a:lnTo>
                <a:lnTo>
                  <a:pt x="330695" y="31584"/>
                </a:lnTo>
                <a:lnTo>
                  <a:pt x="326758" y="29210"/>
                </a:lnTo>
                <a:lnTo>
                  <a:pt x="279641" y="12649"/>
                </a:lnTo>
                <a:lnTo>
                  <a:pt x="223253" y="3073"/>
                </a:lnTo>
                <a:lnTo>
                  <a:pt x="155816" y="0"/>
                </a:lnTo>
                <a:lnTo>
                  <a:pt x="113030" y="711"/>
                </a:lnTo>
                <a:lnTo>
                  <a:pt x="72263" y="2857"/>
                </a:lnTo>
                <a:lnTo>
                  <a:pt x="34163" y="6413"/>
                </a:lnTo>
                <a:lnTo>
                  <a:pt x="0" y="11430"/>
                </a:lnTo>
                <a:lnTo>
                  <a:pt x="0" y="514540"/>
                </a:lnTo>
                <a:lnTo>
                  <a:pt x="24003" y="517334"/>
                </a:lnTo>
                <a:lnTo>
                  <a:pt x="53721" y="519760"/>
                </a:lnTo>
                <a:lnTo>
                  <a:pt x="89535" y="521487"/>
                </a:lnTo>
                <a:lnTo>
                  <a:pt x="131432" y="522147"/>
                </a:lnTo>
                <a:lnTo>
                  <a:pt x="189471" y="519569"/>
                </a:lnTo>
                <a:lnTo>
                  <a:pt x="242811" y="511771"/>
                </a:lnTo>
                <a:lnTo>
                  <a:pt x="290817" y="498627"/>
                </a:lnTo>
                <a:lnTo>
                  <a:pt x="332854" y="480072"/>
                </a:lnTo>
                <a:lnTo>
                  <a:pt x="368668" y="455942"/>
                </a:lnTo>
                <a:lnTo>
                  <a:pt x="396100" y="427685"/>
                </a:lnTo>
                <a:lnTo>
                  <a:pt x="419341" y="392976"/>
                </a:lnTo>
                <a:lnTo>
                  <a:pt x="437375" y="351650"/>
                </a:lnTo>
                <a:lnTo>
                  <a:pt x="448932" y="303453"/>
                </a:lnTo>
                <a:lnTo>
                  <a:pt x="452996" y="248158"/>
                </a:lnTo>
                <a:close/>
              </a:path>
              <a:path w="1618615" h="525779">
                <a:moveTo>
                  <a:pt x="849858" y="516801"/>
                </a:moveTo>
                <a:lnTo>
                  <a:pt x="848715" y="491820"/>
                </a:lnTo>
                <a:lnTo>
                  <a:pt x="847699" y="463626"/>
                </a:lnTo>
                <a:lnTo>
                  <a:pt x="847064" y="432142"/>
                </a:lnTo>
                <a:lnTo>
                  <a:pt x="846810" y="397306"/>
                </a:lnTo>
                <a:lnTo>
                  <a:pt x="846810" y="144627"/>
                </a:lnTo>
                <a:lnTo>
                  <a:pt x="731240" y="144627"/>
                </a:lnTo>
                <a:lnTo>
                  <a:pt x="731240" y="366115"/>
                </a:lnTo>
                <a:lnTo>
                  <a:pt x="730986" y="373253"/>
                </a:lnTo>
                <a:lnTo>
                  <a:pt x="707237" y="418261"/>
                </a:lnTo>
                <a:lnTo>
                  <a:pt x="668883" y="431584"/>
                </a:lnTo>
                <a:lnTo>
                  <a:pt x="642467" y="425615"/>
                </a:lnTo>
                <a:lnTo>
                  <a:pt x="624319" y="408457"/>
                </a:lnTo>
                <a:lnTo>
                  <a:pt x="613778" y="381165"/>
                </a:lnTo>
                <a:lnTo>
                  <a:pt x="610349" y="344817"/>
                </a:lnTo>
                <a:lnTo>
                  <a:pt x="610349" y="144627"/>
                </a:lnTo>
                <a:lnTo>
                  <a:pt x="494906" y="144627"/>
                </a:lnTo>
                <a:lnTo>
                  <a:pt x="494906" y="363054"/>
                </a:lnTo>
                <a:lnTo>
                  <a:pt x="501129" y="424053"/>
                </a:lnTo>
                <a:lnTo>
                  <a:pt x="519036" y="469773"/>
                </a:lnTo>
                <a:lnTo>
                  <a:pt x="546722" y="501230"/>
                </a:lnTo>
                <a:lnTo>
                  <a:pt x="582790" y="519366"/>
                </a:lnTo>
                <a:lnTo>
                  <a:pt x="625589" y="525195"/>
                </a:lnTo>
                <a:lnTo>
                  <a:pt x="669899" y="518883"/>
                </a:lnTo>
                <a:lnTo>
                  <a:pt x="703427" y="503313"/>
                </a:lnTo>
                <a:lnTo>
                  <a:pt x="727049" y="483450"/>
                </a:lnTo>
                <a:lnTo>
                  <a:pt x="741908" y="464299"/>
                </a:lnTo>
                <a:lnTo>
                  <a:pt x="744194" y="464299"/>
                </a:lnTo>
                <a:lnTo>
                  <a:pt x="749528" y="516801"/>
                </a:lnTo>
                <a:lnTo>
                  <a:pt x="849858" y="516801"/>
                </a:lnTo>
                <a:close/>
              </a:path>
              <a:path w="1618615" h="525779">
                <a:moveTo>
                  <a:pt x="1277581" y="327279"/>
                </a:moveTo>
                <a:lnTo>
                  <a:pt x="1273136" y="281241"/>
                </a:lnTo>
                <a:lnTo>
                  <a:pt x="1259928" y="240157"/>
                </a:lnTo>
                <a:lnTo>
                  <a:pt x="1247355" y="219214"/>
                </a:lnTo>
                <a:lnTo>
                  <a:pt x="1238846" y="204800"/>
                </a:lnTo>
                <a:lnTo>
                  <a:pt x="1210411" y="175971"/>
                </a:lnTo>
                <a:lnTo>
                  <a:pt x="1175346" y="154406"/>
                </a:lnTo>
                <a:lnTo>
                  <a:pt x="1157566" y="148501"/>
                </a:lnTo>
                <a:lnTo>
                  <a:pt x="1157490" y="329628"/>
                </a:lnTo>
                <a:lnTo>
                  <a:pt x="1157490" y="331101"/>
                </a:lnTo>
                <a:lnTo>
                  <a:pt x="1152474" y="375132"/>
                </a:lnTo>
                <a:lnTo>
                  <a:pt x="1137754" y="411391"/>
                </a:lnTo>
                <a:lnTo>
                  <a:pt x="1083792" y="442214"/>
                </a:lnTo>
                <a:lnTo>
                  <a:pt x="1083030" y="442214"/>
                </a:lnTo>
                <a:lnTo>
                  <a:pt x="1050772" y="433730"/>
                </a:lnTo>
                <a:lnTo>
                  <a:pt x="1027150" y="410349"/>
                </a:lnTo>
                <a:lnTo>
                  <a:pt x="1012672" y="375132"/>
                </a:lnTo>
                <a:lnTo>
                  <a:pt x="1007719" y="331101"/>
                </a:lnTo>
                <a:lnTo>
                  <a:pt x="1011910" y="290182"/>
                </a:lnTo>
                <a:lnTo>
                  <a:pt x="1025245" y="254330"/>
                </a:lnTo>
                <a:lnTo>
                  <a:pt x="1048867" y="228892"/>
                </a:lnTo>
                <a:lnTo>
                  <a:pt x="1083792" y="219214"/>
                </a:lnTo>
                <a:lnTo>
                  <a:pt x="1117447" y="228892"/>
                </a:lnTo>
                <a:lnTo>
                  <a:pt x="1140333" y="254330"/>
                </a:lnTo>
                <a:lnTo>
                  <a:pt x="1153375" y="289864"/>
                </a:lnTo>
                <a:lnTo>
                  <a:pt x="1157490" y="329628"/>
                </a:lnTo>
                <a:lnTo>
                  <a:pt x="1157490" y="148488"/>
                </a:lnTo>
                <a:lnTo>
                  <a:pt x="1134465" y="140893"/>
                </a:lnTo>
                <a:lnTo>
                  <a:pt x="1088364" y="136232"/>
                </a:lnTo>
                <a:lnTo>
                  <a:pt x="1038796" y="140893"/>
                </a:lnTo>
                <a:lnTo>
                  <a:pt x="1039266" y="140893"/>
                </a:lnTo>
                <a:lnTo>
                  <a:pt x="995883" y="154406"/>
                </a:lnTo>
                <a:lnTo>
                  <a:pt x="996073" y="154406"/>
                </a:lnTo>
                <a:lnTo>
                  <a:pt x="959586" y="175971"/>
                </a:lnTo>
                <a:lnTo>
                  <a:pt x="929741" y="205282"/>
                </a:lnTo>
                <a:lnTo>
                  <a:pt x="907643" y="241693"/>
                </a:lnTo>
                <a:lnTo>
                  <a:pt x="893927" y="284568"/>
                </a:lnTo>
                <a:lnTo>
                  <a:pt x="889228" y="333362"/>
                </a:lnTo>
                <a:lnTo>
                  <a:pt x="894080" y="380911"/>
                </a:lnTo>
                <a:lnTo>
                  <a:pt x="908278" y="423976"/>
                </a:lnTo>
                <a:lnTo>
                  <a:pt x="930630" y="459346"/>
                </a:lnTo>
                <a:lnTo>
                  <a:pt x="960221" y="487565"/>
                </a:lnTo>
                <a:lnTo>
                  <a:pt x="995781" y="508203"/>
                </a:lnTo>
                <a:lnTo>
                  <a:pt x="1036675" y="520877"/>
                </a:lnTo>
                <a:lnTo>
                  <a:pt x="1081506" y="525195"/>
                </a:lnTo>
                <a:lnTo>
                  <a:pt x="1082268" y="525195"/>
                </a:lnTo>
                <a:lnTo>
                  <a:pt x="1124178" y="521335"/>
                </a:lnTo>
                <a:lnTo>
                  <a:pt x="1164170" y="509651"/>
                </a:lnTo>
                <a:lnTo>
                  <a:pt x="1200619" y="489953"/>
                </a:lnTo>
                <a:lnTo>
                  <a:pt x="1231861" y="462064"/>
                </a:lnTo>
                <a:lnTo>
                  <a:pt x="1256245" y="425754"/>
                </a:lnTo>
                <a:lnTo>
                  <a:pt x="1271993" y="380911"/>
                </a:lnTo>
                <a:lnTo>
                  <a:pt x="1277581" y="327279"/>
                </a:lnTo>
                <a:close/>
              </a:path>
              <a:path w="1618615" h="525779">
                <a:moveTo>
                  <a:pt x="1618195" y="150710"/>
                </a:moveTo>
                <a:lnTo>
                  <a:pt x="1598510" y="144602"/>
                </a:lnTo>
                <a:lnTo>
                  <a:pt x="1576412" y="140030"/>
                </a:lnTo>
                <a:lnTo>
                  <a:pt x="1553298" y="137198"/>
                </a:lnTo>
                <a:lnTo>
                  <a:pt x="1530057" y="136220"/>
                </a:lnTo>
                <a:lnTo>
                  <a:pt x="1474685" y="141465"/>
                </a:lnTo>
                <a:lnTo>
                  <a:pt x="1427441" y="156425"/>
                </a:lnTo>
                <a:lnTo>
                  <a:pt x="1388198" y="179844"/>
                </a:lnTo>
                <a:lnTo>
                  <a:pt x="1357464" y="210553"/>
                </a:lnTo>
                <a:lnTo>
                  <a:pt x="1335239" y="247307"/>
                </a:lnTo>
                <a:lnTo>
                  <a:pt x="1321777" y="288912"/>
                </a:lnTo>
                <a:lnTo>
                  <a:pt x="1317205" y="334149"/>
                </a:lnTo>
                <a:lnTo>
                  <a:pt x="1321777" y="381635"/>
                </a:lnTo>
                <a:lnTo>
                  <a:pt x="1335239" y="423278"/>
                </a:lnTo>
                <a:lnTo>
                  <a:pt x="1356956" y="458546"/>
                </a:lnTo>
                <a:lnTo>
                  <a:pt x="1386166" y="486918"/>
                </a:lnTo>
                <a:lnTo>
                  <a:pt x="1422615" y="507822"/>
                </a:lnTo>
                <a:lnTo>
                  <a:pt x="1465414" y="520763"/>
                </a:lnTo>
                <a:lnTo>
                  <a:pt x="1514055" y="525195"/>
                </a:lnTo>
                <a:lnTo>
                  <a:pt x="1545932" y="523862"/>
                </a:lnTo>
                <a:lnTo>
                  <a:pt x="1598891" y="514616"/>
                </a:lnTo>
                <a:lnTo>
                  <a:pt x="1603844" y="422427"/>
                </a:lnTo>
                <a:lnTo>
                  <a:pt x="1590001" y="427558"/>
                </a:lnTo>
                <a:lnTo>
                  <a:pt x="1574507" y="431380"/>
                </a:lnTo>
                <a:lnTo>
                  <a:pt x="1557108" y="433781"/>
                </a:lnTo>
                <a:lnTo>
                  <a:pt x="1537677" y="434606"/>
                </a:lnTo>
                <a:lnTo>
                  <a:pt x="1498053" y="427837"/>
                </a:lnTo>
                <a:lnTo>
                  <a:pt x="1465668" y="407784"/>
                </a:lnTo>
                <a:lnTo>
                  <a:pt x="1443824" y="374891"/>
                </a:lnTo>
                <a:lnTo>
                  <a:pt x="1435823" y="329590"/>
                </a:lnTo>
                <a:lnTo>
                  <a:pt x="1442427" y="287604"/>
                </a:lnTo>
                <a:lnTo>
                  <a:pt x="1462493" y="254609"/>
                </a:lnTo>
                <a:lnTo>
                  <a:pt x="1494116" y="233032"/>
                </a:lnTo>
                <a:lnTo>
                  <a:pt x="1535391" y="225298"/>
                </a:lnTo>
                <a:lnTo>
                  <a:pt x="1556346" y="226225"/>
                </a:lnTo>
                <a:lnTo>
                  <a:pt x="1573999" y="228727"/>
                </a:lnTo>
                <a:lnTo>
                  <a:pt x="1588477" y="232371"/>
                </a:lnTo>
                <a:lnTo>
                  <a:pt x="1600034" y="236715"/>
                </a:lnTo>
                <a:lnTo>
                  <a:pt x="1618195" y="150710"/>
                </a:lnTo>
                <a:close/>
              </a:path>
            </a:pathLst>
          </a:custGeom>
          <a:solidFill>
            <a:srgbClr val="FDB6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3">
            <a:extLst>
              <a:ext uri="{FF2B5EF4-FFF2-40B4-BE49-F238E27FC236}">
                <a16:creationId xmlns:a16="http://schemas.microsoft.com/office/drawing/2014/main" id="{461A38E5-6C97-3D6D-B5E1-7CFF9A3DF3B7}"/>
              </a:ext>
            </a:extLst>
          </p:cNvPr>
          <p:cNvSpPr/>
          <p:nvPr/>
        </p:nvSpPr>
        <p:spPr>
          <a:xfrm>
            <a:off x="11068865" y="6224760"/>
            <a:ext cx="388620" cy="483234"/>
          </a:xfrm>
          <a:custGeom>
            <a:avLst/>
            <a:gdLst/>
            <a:ahLst/>
            <a:cxnLst/>
            <a:rect l="l" t="t" r="r" b="b"/>
            <a:pathLst>
              <a:path w="388619" h="483234">
                <a:moveTo>
                  <a:pt x="387756" y="21"/>
                </a:moveTo>
                <a:lnTo>
                  <a:pt x="280571" y="21"/>
                </a:lnTo>
                <a:lnTo>
                  <a:pt x="280571" y="273635"/>
                </a:lnTo>
                <a:lnTo>
                  <a:pt x="274856" y="328320"/>
                </a:lnTo>
                <a:lnTo>
                  <a:pt x="258093" y="366813"/>
                </a:lnTo>
                <a:lnTo>
                  <a:pt x="230661" y="389558"/>
                </a:lnTo>
                <a:lnTo>
                  <a:pt x="193324" y="397038"/>
                </a:lnTo>
                <a:lnTo>
                  <a:pt x="156622" y="389266"/>
                </a:lnTo>
                <a:lnTo>
                  <a:pt x="129699" y="366013"/>
                </a:lnTo>
                <a:lnTo>
                  <a:pt x="113062" y="327431"/>
                </a:lnTo>
                <a:lnTo>
                  <a:pt x="107347" y="273635"/>
                </a:lnTo>
                <a:lnTo>
                  <a:pt x="107347" y="21"/>
                </a:lnTo>
                <a:lnTo>
                  <a:pt x="-472" y="21"/>
                </a:lnTo>
                <a:lnTo>
                  <a:pt x="-472" y="265190"/>
                </a:lnTo>
                <a:lnTo>
                  <a:pt x="3718" y="325006"/>
                </a:lnTo>
                <a:lnTo>
                  <a:pt x="16291" y="374699"/>
                </a:lnTo>
                <a:lnTo>
                  <a:pt x="36737" y="414614"/>
                </a:lnTo>
                <a:lnTo>
                  <a:pt x="64550" y="445081"/>
                </a:lnTo>
                <a:lnTo>
                  <a:pt x="99728" y="466429"/>
                </a:lnTo>
                <a:lnTo>
                  <a:pt x="141510" y="478989"/>
                </a:lnTo>
                <a:lnTo>
                  <a:pt x="189768" y="483104"/>
                </a:lnTo>
                <a:lnTo>
                  <a:pt x="239805" y="478799"/>
                </a:lnTo>
                <a:lnTo>
                  <a:pt x="283238" y="465832"/>
                </a:lnTo>
                <a:lnTo>
                  <a:pt x="319686" y="444065"/>
                </a:lnTo>
                <a:lnTo>
                  <a:pt x="348768" y="413383"/>
                </a:lnTo>
                <a:lnTo>
                  <a:pt x="370104" y="373658"/>
                </a:lnTo>
                <a:lnTo>
                  <a:pt x="383184" y="324764"/>
                </a:lnTo>
                <a:lnTo>
                  <a:pt x="387756" y="266587"/>
                </a:lnTo>
                <a:lnTo>
                  <a:pt x="387756" y="2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7" name="object 4">
            <a:extLst>
              <a:ext uri="{FF2B5EF4-FFF2-40B4-BE49-F238E27FC236}">
                <a16:creationId xmlns:a16="http://schemas.microsoft.com/office/drawing/2014/main" id="{CF73A2DA-7B63-9C2E-5F5F-E8E600F64CC6}"/>
              </a:ext>
            </a:extLst>
          </p:cNvPr>
          <p:cNvGrpSpPr/>
          <p:nvPr/>
        </p:nvGrpSpPr>
        <p:grpSpPr>
          <a:xfrm>
            <a:off x="11510824" y="6110485"/>
            <a:ext cx="446405" cy="596900"/>
            <a:chOff x="19130771" y="10355319"/>
            <a:chExt cx="446405" cy="596900"/>
          </a:xfrm>
        </p:grpSpPr>
        <p:sp>
          <p:nvSpPr>
            <p:cNvPr id="8" name="object 5">
              <a:extLst>
                <a:ext uri="{FF2B5EF4-FFF2-40B4-BE49-F238E27FC236}">
                  <a16:creationId xmlns:a16="http://schemas.microsoft.com/office/drawing/2014/main" id="{075A14F0-AD9C-63F0-9DE6-43A5C3955937}"/>
                </a:ext>
              </a:extLst>
            </p:cNvPr>
            <p:cNvSpPr/>
            <p:nvPr/>
          </p:nvSpPr>
          <p:spPr>
            <a:xfrm>
              <a:off x="19130771" y="10461974"/>
              <a:ext cx="376555" cy="490220"/>
            </a:xfrm>
            <a:custGeom>
              <a:avLst/>
              <a:gdLst/>
              <a:ahLst/>
              <a:cxnLst/>
              <a:rect l="l" t="t" r="r" b="b"/>
              <a:pathLst>
                <a:path w="376555" h="490220">
                  <a:moveTo>
                    <a:pt x="258716" y="21"/>
                  </a:moveTo>
                  <a:lnTo>
                    <a:pt x="211982" y="3336"/>
                  </a:lnTo>
                  <a:lnTo>
                    <a:pt x="168041" y="13178"/>
                  </a:lnTo>
                  <a:lnTo>
                    <a:pt x="127656" y="29395"/>
                  </a:lnTo>
                  <a:lnTo>
                    <a:pt x="91462" y="51848"/>
                  </a:lnTo>
                  <a:lnTo>
                    <a:pt x="60347" y="80359"/>
                  </a:lnTo>
                  <a:lnTo>
                    <a:pt x="34821" y="114813"/>
                  </a:lnTo>
                  <a:lnTo>
                    <a:pt x="15645" y="155033"/>
                  </a:lnTo>
                  <a:lnTo>
                    <a:pt x="3707" y="200866"/>
                  </a:lnTo>
                  <a:lnTo>
                    <a:pt x="-483" y="252186"/>
                  </a:lnTo>
                  <a:lnTo>
                    <a:pt x="2691" y="295949"/>
                  </a:lnTo>
                  <a:lnTo>
                    <a:pt x="11962" y="336740"/>
                  </a:lnTo>
                  <a:lnTo>
                    <a:pt x="27455" y="373976"/>
                  </a:lnTo>
                  <a:lnTo>
                    <a:pt x="49172" y="407084"/>
                  </a:lnTo>
                  <a:lnTo>
                    <a:pt x="76857" y="435468"/>
                  </a:lnTo>
                  <a:lnTo>
                    <a:pt x="110765" y="458556"/>
                  </a:lnTo>
                  <a:lnTo>
                    <a:pt x="150515" y="475764"/>
                  </a:lnTo>
                  <a:lnTo>
                    <a:pt x="196361" y="486508"/>
                  </a:lnTo>
                  <a:lnTo>
                    <a:pt x="248049" y="490229"/>
                  </a:lnTo>
                  <a:lnTo>
                    <a:pt x="288688" y="488311"/>
                  </a:lnTo>
                  <a:lnTo>
                    <a:pt x="323231" y="483358"/>
                  </a:lnTo>
                  <a:lnTo>
                    <a:pt x="350662" y="476551"/>
                  </a:lnTo>
                  <a:lnTo>
                    <a:pt x="369966" y="469084"/>
                  </a:lnTo>
                  <a:lnTo>
                    <a:pt x="353710" y="385291"/>
                  </a:lnTo>
                  <a:lnTo>
                    <a:pt x="335423" y="391273"/>
                  </a:lnTo>
                  <a:lnTo>
                    <a:pt x="313198" y="396187"/>
                  </a:lnTo>
                  <a:lnTo>
                    <a:pt x="288942" y="399527"/>
                  </a:lnTo>
                  <a:lnTo>
                    <a:pt x="264304" y="400747"/>
                  </a:lnTo>
                  <a:lnTo>
                    <a:pt x="211728" y="393762"/>
                  </a:lnTo>
                  <a:lnTo>
                    <a:pt x="169438" y="373595"/>
                  </a:lnTo>
                  <a:lnTo>
                    <a:pt x="138197" y="341426"/>
                  </a:lnTo>
                  <a:lnTo>
                    <a:pt x="118893" y="298451"/>
                  </a:lnTo>
                  <a:lnTo>
                    <a:pt x="112162" y="245823"/>
                  </a:lnTo>
                  <a:lnTo>
                    <a:pt x="119782" y="188929"/>
                  </a:lnTo>
                  <a:lnTo>
                    <a:pt x="140990" y="144912"/>
                  </a:lnTo>
                  <a:lnTo>
                    <a:pt x="173502" y="113632"/>
                  </a:lnTo>
                  <a:lnTo>
                    <a:pt x="215157" y="94964"/>
                  </a:lnTo>
                  <a:lnTo>
                    <a:pt x="263669" y="88766"/>
                  </a:lnTo>
                  <a:lnTo>
                    <a:pt x="290720" y="90227"/>
                  </a:lnTo>
                  <a:lnTo>
                    <a:pt x="314722" y="94138"/>
                  </a:lnTo>
                  <a:lnTo>
                    <a:pt x="335804" y="99764"/>
                  </a:lnTo>
                  <a:lnTo>
                    <a:pt x="353710" y="106368"/>
                  </a:lnTo>
                  <a:lnTo>
                    <a:pt x="375554" y="21179"/>
                  </a:lnTo>
                  <a:lnTo>
                    <a:pt x="357139" y="13698"/>
                  </a:lnTo>
                  <a:lnTo>
                    <a:pt x="330851" y="6891"/>
                  </a:lnTo>
                  <a:lnTo>
                    <a:pt x="297704" y="1939"/>
                  </a:lnTo>
                  <a:lnTo>
                    <a:pt x="258716" y="2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6">
              <a:extLst>
                <a:ext uri="{FF2B5EF4-FFF2-40B4-BE49-F238E27FC236}">
                  <a16:creationId xmlns:a16="http://schemas.microsoft.com/office/drawing/2014/main" id="{9FD1940E-BDA9-35A0-4575-C83276EE341A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9464035" y="10355319"/>
              <a:ext cx="112771" cy="111247"/>
            </a:xfrm>
            <a:prstGeom prst="rect">
              <a:avLst/>
            </a:prstGeom>
          </p:spPr>
        </p:pic>
      </p:grpSp>
      <p:pic>
        <p:nvPicPr>
          <p:cNvPr id="10" name="object 7">
            <a:extLst>
              <a:ext uri="{FF2B5EF4-FFF2-40B4-BE49-F238E27FC236}">
                <a16:creationId xmlns:a16="http://schemas.microsoft.com/office/drawing/2014/main" id="{4E2C5ACC-41D8-2405-C501-A252E29F3443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088337" y="4300413"/>
            <a:ext cx="4015326" cy="416803"/>
          </a:xfrm>
          <a:prstGeom prst="rect">
            <a:avLst/>
          </a:prstGeom>
        </p:spPr>
      </p:pic>
      <p:sp>
        <p:nvSpPr>
          <p:cNvPr id="12" name="object 15">
            <a:extLst>
              <a:ext uri="{FF2B5EF4-FFF2-40B4-BE49-F238E27FC236}">
                <a16:creationId xmlns:a16="http://schemas.microsoft.com/office/drawing/2014/main" id="{3535B78D-00BB-7203-0007-EF29ECA01790}"/>
              </a:ext>
            </a:extLst>
          </p:cNvPr>
          <p:cNvSpPr/>
          <p:nvPr/>
        </p:nvSpPr>
        <p:spPr>
          <a:xfrm>
            <a:off x="6095999" y="0"/>
            <a:ext cx="6096001" cy="731519"/>
          </a:xfrm>
          <a:custGeom>
            <a:avLst/>
            <a:gdLst/>
            <a:ahLst/>
            <a:cxnLst/>
            <a:rect l="l" t="t" r="r" b="b"/>
            <a:pathLst>
              <a:path w="7379334" h="2184400">
                <a:moveTo>
                  <a:pt x="7378844" y="94"/>
                </a:moveTo>
                <a:lnTo>
                  <a:pt x="-177" y="94"/>
                </a:lnTo>
                <a:lnTo>
                  <a:pt x="-177" y="2183931"/>
                </a:lnTo>
                <a:lnTo>
                  <a:pt x="7378844" y="2183931"/>
                </a:lnTo>
                <a:lnTo>
                  <a:pt x="7378844" y="9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3">
            <a:extLst>
              <a:ext uri="{FF2B5EF4-FFF2-40B4-BE49-F238E27FC236}">
                <a16:creationId xmlns:a16="http://schemas.microsoft.com/office/drawing/2014/main" id="{4A3A3FA2-7381-2F53-9E73-E229EF096CED}"/>
              </a:ext>
            </a:extLst>
          </p:cNvPr>
          <p:cNvSpPr/>
          <p:nvPr/>
        </p:nvSpPr>
        <p:spPr>
          <a:xfrm>
            <a:off x="-1" y="1"/>
            <a:ext cx="6096001" cy="731519"/>
          </a:xfrm>
          <a:custGeom>
            <a:avLst/>
            <a:gdLst/>
            <a:ahLst/>
            <a:cxnLst/>
            <a:rect l="l" t="t" r="r" b="b"/>
            <a:pathLst>
              <a:path w="2877820" h="2283460">
                <a:moveTo>
                  <a:pt x="2877239" y="256"/>
                </a:moveTo>
                <a:lnTo>
                  <a:pt x="0" y="256"/>
                </a:lnTo>
                <a:lnTo>
                  <a:pt x="0" y="2283150"/>
                </a:lnTo>
                <a:lnTo>
                  <a:pt x="2877239" y="2283150"/>
                </a:lnTo>
                <a:lnTo>
                  <a:pt x="2877239" y="256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1789155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F22E3DE-1D8D-DF79-5FED-AD214AE989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CL" dirty="0"/>
              <a:t>Explicar para qué sirve un JWT</a:t>
            </a:r>
          </a:p>
          <a:p>
            <a:r>
              <a:rPr lang="es-CL" dirty="0"/>
              <a:t>Entender cómo se genera y cómo se valida</a:t>
            </a:r>
          </a:p>
          <a:p>
            <a:r>
              <a:rPr lang="es-CL" dirty="0"/>
              <a:t>Consumir un token desde un cliente o </a:t>
            </a:r>
            <a:r>
              <a:rPr lang="es-CL" dirty="0" err="1"/>
              <a:t>Postman</a:t>
            </a:r>
            <a:endParaRPr lang="es-CL" dirty="0"/>
          </a:p>
          <a:p>
            <a:r>
              <a:rPr lang="es-CL" dirty="0"/>
              <a:t>Aplicar buenas prácticas de seguridad</a:t>
            </a:r>
          </a:p>
          <a:p>
            <a:r>
              <a:rPr lang="es-CL" dirty="0"/>
              <a:t>Diferenciar autenticación y autorización</a:t>
            </a:r>
          </a:p>
          <a:p>
            <a:r>
              <a:rPr lang="es-CL" dirty="0"/>
              <a:t>Comprender RBAC como modelo de control de acceso</a:t>
            </a: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692DCE7F-28B0-A177-6AFE-02B2A145A806}"/>
              </a:ext>
            </a:extLst>
          </p:cNvPr>
          <p:cNvSpPr/>
          <p:nvPr/>
        </p:nvSpPr>
        <p:spPr>
          <a:xfrm>
            <a:off x="9338693" y="6180589"/>
            <a:ext cx="1618615" cy="525780"/>
          </a:xfrm>
          <a:custGeom>
            <a:avLst/>
            <a:gdLst/>
            <a:ahLst/>
            <a:cxnLst/>
            <a:rect l="l" t="t" r="r" b="b"/>
            <a:pathLst>
              <a:path w="1618615" h="525779">
                <a:moveTo>
                  <a:pt x="452996" y="248158"/>
                </a:moveTo>
                <a:lnTo>
                  <a:pt x="449186" y="196608"/>
                </a:lnTo>
                <a:lnTo>
                  <a:pt x="437883" y="151485"/>
                </a:lnTo>
                <a:lnTo>
                  <a:pt x="419849" y="112661"/>
                </a:lnTo>
                <a:lnTo>
                  <a:pt x="395846" y="79959"/>
                </a:lnTo>
                <a:lnTo>
                  <a:pt x="366382" y="53276"/>
                </a:lnTo>
                <a:lnTo>
                  <a:pt x="330695" y="31584"/>
                </a:lnTo>
                <a:lnTo>
                  <a:pt x="330695" y="251955"/>
                </a:lnTo>
                <a:lnTo>
                  <a:pt x="325107" y="307860"/>
                </a:lnTo>
                <a:lnTo>
                  <a:pt x="308851" y="353148"/>
                </a:lnTo>
                <a:lnTo>
                  <a:pt x="282816" y="387997"/>
                </a:lnTo>
                <a:lnTo>
                  <a:pt x="248145" y="412572"/>
                </a:lnTo>
                <a:lnTo>
                  <a:pt x="205473" y="427037"/>
                </a:lnTo>
                <a:lnTo>
                  <a:pt x="155816" y="431584"/>
                </a:lnTo>
                <a:lnTo>
                  <a:pt x="146786" y="431584"/>
                </a:lnTo>
                <a:lnTo>
                  <a:pt x="134226" y="431292"/>
                </a:lnTo>
                <a:lnTo>
                  <a:pt x="124079" y="430606"/>
                </a:lnTo>
                <a:lnTo>
                  <a:pt x="115570" y="429272"/>
                </a:lnTo>
                <a:lnTo>
                  <a:pt x="115570" y="93611"/>
                </a:lnTo>
                <a:lnTo>
                  <a:pt x="124333" y="91935"/>
                </a:lnTo>
                <a:lnTo>
                  <a:pt x="136004" y="90449"/>
                </a:lnTo>
                <a:lnTo>
                  <a:pt x="150609" y="89420"/>
                </a:lnTo>
                <a:lnTo>
                  <a:pt x="168008" y="89027"/>
                </a:lnTo>
                <a:lnTo>
                  <a:pt x="214871" y="93433"/>
                </a:lnTo>
                <a:lnTo>
                  <a:pt x="254749" y="106743"/>
                </a:lnTo>
                <a:lnTo>
                  <a:pt x="287007" y="129095"/>
                </a:lnTo>
                <a:lnTo>
                  <a:pt x="310756" y="160655"/>
                </a:lnTo>
                <a:lnTo>
                  <a:pt x="325615" y="201561"/>
                </a:lnTo>
                <a:lnTo>
                  <a:pt x="330695" y="251955"/>
                </a:lnTo>
                <a:lnTo>
                  <a:pt x="330695" y="31584"/>
                </a:lnTo>
                <a:lnTo>
                  <a:pt x="326758" y="29210"/>
                </a:lnTo>
                <a:lnTo>
                  <a:pt x="279641" y="12649"/>
                </a:lnTo>
                <a:lnTo>
                  <a:pt x="223253" y="3073"/>
                </a:lnTo>
                <a:lnTo>
                  <a:pt x="155816" y="0"/>
                </a:lnTo>
                <a:lnTo>
                  <a:pt x="113030" y="711"/>
                </a:lnTo>
                <a:lnTo>
                  <a:pt x="72263" y="2857"/>
                </a:lnTo>
                <a:lnTo>
                  <a:pt x="34163" y="6413"/>
                </a:lnTo>
                <a:lnTo>
                  <a:pt x="0" y="11430"/>
                </a:lnTo>
                <a:lnTo>
                  <a:pt x="0" y="514540"/>
                </a:lnTo>
                <a:lnTo>
                  <a:pt x="24003" y="517334"/>
                </a:lnTo>
                <a:lnTo>
                  <a:pt x="53721" y="519760"/>
                </a:lnTo>
                <a:lnTo>
                  <a:pt x="89535" y="521487"/>
                </a:lnTo>
                <a:lnTo>
                  <a:pt x="131432" y="522147"/>
                </a:lnTo>
                <a:lnTo>
                  <a:pt x="189471" y="519569"/>
                </a:lnTo>
                <a:lnTo>
                  <a:pt x="242811" y="511771"/>
                </a:lnTo>
                <a:lnTo>
                  <a:pt x="290817" y="498627"/>
                </a:lnTo>
                <a:lnTo>
                  <a:pt x="332854" y="480072"/>
                </a:lnTo>
                <a:lnTo>
                  <a:pt x="368668" y="455942"/>
                </a:lnTo>
                <a:lnTo>
                  <a:pt x="396100" y="427685"/>
                </a:lnTo>
                <a:lnTo>
                  <a:pt x="419341" y="392976"/>
                </a:lnTo>
                <a:lnTo>
                  <a:pt x="437375" y="351650"/>
                </a:lnTo>
                <a:lnTo>
                  <a:pt x="448932" y="303453"/>
                </a:lnTo>
                <a:lnTo>
                  <a:pt x="452996" y="248158"/>
                </a:lnTo>
                <a:close/>
              </a:path>
              <a:path w="1618615" h="525779">
                <a:moveTo>
                  <a:pt x="849858" y="516801"/>
                </a:moveTo>
                <a:lnTo>
                  <a:pt x="848715" y="491820"/>
                </a:lnTo>
                <a:lnTo>
                  <a:pt x="847699" y="463626"/>
                </a:lnTo>
                <a:lnTo>
                  <a:pt x="847064" y="432142"/>
                </a:lnTo>
                <a:lnTo>
                  <a:pt x="846810" y="397306"/>
                </a:lnTo>
                <a:lnTo>
                  <a:pt x="846810" y="144627"/>
                </a:lnTo>
                <a:lnTo>
                  <a:pt x="731240" y="144627"/>
                </a:lnTo>
                <a:lnTo>
                  <a:pt x="731240" y="366115"/>
                </a:lnTo>
                <a:lnTo>
                  <a:pt x="730986" y="373253"/>
                </a:lnTo>
                <a:lnTo>
                  <a:pt x="707237" y="418261"/>
                </a:lnTo>
                <a:lnTo>
                  <a:pt x="668883" y="431584"/>
                </a:lnTo>
                <a:lnTo>
                  <a:pt x="642467" y="425615"/>
                </a:lnTo>
                <a:lnTo>
                  <a:pt x="624319" y="408457"/>
                </a:lnTo>
                <a:lnTo>
                  <a:pt x="613778" y="381165"/>
                </a:lnTo>
                <a:lnTo>
                  <a:pt x="610349" y="344817"/>
                </a:lnTo>
                <a:lnTo>
                  <a:pt x="610349" y="144627"/>
                </a:lnTo>
                <a:lnTo>
                  <a:pt x="494906" y="144627"/>
                </a:lnTo>
                <a:lnTo>
                  <a:pt x="494906" y="363054"/>
                </a:lnTo>
                <a:lnTo>
                  <a:pt x="501129" y="424053"/>
                </a:lnTo>
                <a:lnTo>
                  <a:pt x="519036" y="469773"/>
                </a:lnTo>
                <a:lnTo>
                  <a:pt x="546722" y="501230"/>
                </a:lnTo>
                <a:lnTo>
                  <a:pt x="582790" y="519366"/>
                </a:lnTo>
                <a:lnTo>
                  <a:pt x="625589" y="525195"/>
                </a:lnTo>
                <a:lnTo>
                  <a:pt x="669899" y="518883"/>
                </a:lnTo>
                <a:lnTo>
                  <a:pt x="703427" y="503313"/>
                </a:lnTo>
                <a:lnTo>
                  <a:pt x="727049" y="483450"/>
                </a:lnTo>
                <a:lnTo>
                  <a:pt x="741908" y="464299"/>
                </a:lnTo>
                <a:lnTo>
                  <a:pt x="744194" y="464299"/>
                </a:lnTo>
                <a:lnTo>
                  <a:pt x="749528" y="516801"/>
                </a:lnTo>
                <a:lnTo>
                  <a:pt x="849858" y="516801"/>
                </a:lnTo>
                <a:close/>
              </a:path>
              <a:path w="1618615" h="525779">
                <a:moveTo>
                  <a:pt x="1277581" y="327279"/>
                </a:moveTo>
                <a:lnTo>
                  <a:pt x="1273136" y="281241"/>
                </a:lnTo>
                <a:lnTo>
                  <a:pt x="1259928" y="240157"/>
                </a:lnTo>
                <a:lnTo>
                  <a:pt x="1247355" y="219214"/>
                </a:lnTo>
                <a:lnTo>
                  <a:pt x="1238846" y="204800"/>
                </a:lnTo>
                <a:lnTo>
                  <a:pt x="1210411" y="175971"/>
                </a:lnTo>
                <a:lnTo>
                  <a:pt x="1175346" y="154406"/>
                </a:lnTo>
                <a:lnTo>
                  <a:pt x="1157566" y="148501"/>
                </a:lnTo>
                <a:lnTo>
                  <a:pt x="1157490" y="329628"/>
                </a:lnTo>
                <a:lnTo>
                  <a:pt x="1157490" y="331101"/>
                </a:lnTo>
                <a:lnTo>
                  <a:pt x="1152474" y="375132"/>
                </a:lnTo>
                <a:lnTo>
                  <a:pt x="1137754" y="411391"/>
                </a:lnTo>
                <a:lnTo>
                  <a:pt x="1083792" y="442214"/>
                </a:lnTo>
                <a:lnTo>
                  <a:pt x="1083030" y="442214"/>
                </a:lnTo>
                <a:lnTo>
                  <a:pt x="1050772" y="433730"/>
                </a:lnTo>
                <a:lnTo>
                  <a:pt x="1027150" y="410349"/>
                </a:lnTo>
                <a:lnTo>
                  <a:pt x="1012672" y="375132"/>
                </a:lnTo>
                <a:lnTo>
                  <a:pt x="1007719" y="331101"/>
                </a:lnTo>
                <a:lnTo>
                  <a:pt x="1011910" y="290182"/>
                </a:lnTo>
                <a:lnTo>
                  <a:pt x="1025245" y="254330"/>
                </a:lnTo>
                <a:lnTo>
                  <a:pt x="1048867" y="228892"/>
                </a:lnTo>
                <a:lnTo>
                  <a:pt x="1083792" y="219214"/>
                </a:lnTo>
                <a:lnTo>
                  <a:pt x="1117447" y="228892"/>
                </a:lnTo>
                <a:lnTo>
                  <a:pt x="1140333" y="254330"/>
                </a:lnTo>
                <a:lnTo>
                  <a:pt x="1153375" y="289864"/>
                </a:lnTo>
                <a:lnTo>
                  <a:pt x="1157490" y="329628"/>
                </a:lnTo>
                <a:lnTo>
                  <a:pt x="1157490" y="148488"/>
                </a:lnTo>
                <a:lnTo>
                  <a:pt x="1134465" y="140893"/>
                </a:lnTo>
                <a:lnTo>
                  <a:pt x="1088364" y="136232"/>
                </a:lnTo>
                <a:lnTo>
                  <a:pt x="1038796" y="140893"/>
                </a:lnTo>
                <a:lnTo>
                  <a:pt x="1039266" y="140893"/>
                </a:lnTo>
                <a:lnTo>
                  <a:pt x="995883" y="154406"/>
                </a:lnTo>
                <a:lnTo>
                  <a:pt x="996073" y="154406"/>
                </a:lnTo>
                <a:lnTo>
                  <a:pt x="959586" y="175971"/>
                </a:lnTo>
                <a:lnTo>
                  <a:pt x="929741" y="205282"/>
                </a:lnTo>
                <a:lnTo>
                  <a:pt x="907643" y="241693"/>
                </a:lnTo>
                <a:lnTo>
                  <a:pt x="893927" y="284568"/>
                </a:lnTo>
                <a:lnTo>
                  <a:pt x="889228" y="333362"/>
                </a:lnTo>
                <a:lnTo>
                  <a:pt x="894080" y="380911"/>
                </a:lnTo>
                <a:lnTo>
                  <a:pt x="908278" y="423976"/>
                </a:lnTo>
                <a:lnTo>
                  <a:pt x="930630" y="459346"/>
                </a:lnTo>
                <a:lnTo>
                  <a:pt x="960221" y="487565"/>
                </a:lnTo>
                <a:lnTo>
                  <a:pt x="995781" y="508203"/>
                </a:lnTo>
                <a:lnTo>
                  <a:pt x="1036675" y="520877"/>
                </a:lnTo>
                <a:lnTo>
                  <a:pt x="1081506" y="525195"/>
                </a:lnTo>
                <a:lnTo>
                  <a:pt x="1082268" y="525195"/>
                </a:lnTo>
                <a:lnTo>
                  <a:pt x="1124178" y="521335"/>
                </a:lnTo>
                <a:lnTo>
                  <a:pt x="1164170" y="509651"/>
                </a:lnTo>
                <a:lnTo>
                  <a:pt x="1200619" y="489953"/>
                </a:lnTo>
                <a:lnTo>
                  <a:pt x="1231861" y="462064"/>
                </a:lnTo>
                <a:lnTo>
                  <a:pt x="1256245" y="425754"/>
                </a:lnTo>
                <a:lnTo>
                  <a:pt x="1271993" y="380911"/>
                </a:lnTo>
                <a:lnTo>
                  <a:pt x="1277581" y="327279"/>
                </a:lnTo>
                <a:close/>
              </a:path>
              <a:path w="1618615" h="525779">
                <a:moveTo>
                  <a:pt x="1618195" y="150710"/>
                </a:moveTo>
                <a:lnTo>
                  <a:pt x="1598510" y="144602"/>
                </a:lnTo>
                <a:lnTo>
                  <a:pt x="1576412" y="140030"/>
                </a:lnTo>
                <a:lnTo>
                  <a:pt x="1553298" y="137198"/>
                </a:lnTo>
                <a:lnTo>
                  <a:pt x="1530057" y="136220"/>
                </a:lnTo>
                <a:lnTo>
                  <a:pt x="1474685" y="141465"/>
                </a:lnTo>
                <a:lnTo>
                  <a:pt x="1427441" y="156425"/>
                </a:lnTo>
                <a:lnTo>
                  <a:pt x="1388198" y="179844"/>
                </a:lnTo>
                <a:lnTo>
                  <a:pt x="1357464" y="210553"/>
                </a:lnTo>
                <a:lnTo>
                  <a:pt x="1335239" y="247307"/>
                </a:lnTo>
                <a:lnTo>
                  <a:pt x="1321777" y="288912"/>
                </a:lnTo>
                <a:lnTo>
                  <a:pt x="1317205" y="334149"/>
                </a:lnTo>
                <a:lnTo>
                  <a:pt x="1321777" y="381635"/>
                </a:lnTo>
                <a:lnTo>
                  <a:pt x="1335239" y="423278"/>
                </a:lnTo>
                <a:lnTo>
                  <a:pt x="1356956" y="458546"/>
                </a:lnTo>
                <a:lnTo>
                  <a:pt x="1386166" y="486918"/>
                </a:lnTo>
                <a:lnTo>
                  <a:pt x="1422615" y="507822"/>
                </a:lnTo>
                <a:lnTo>
                  <a:pt x="1465414" y="520763"/>
                </a:lnTo>
                <a:lnTo>
                  <a:pt x="1514055" y="525195"/>
                </a:lnTo>
                <a:lnTo>
                  <a:pt x="1545932" y="523862"/>
                </a:lnTo>
                <a:lnTo>
                  <a:pt x="1598891" y="514616"/>
                </a:lnTo>
                <a:lnTo>
                  <a:pt x="1603844" y="422427"/>
                </a:lnTo>
                <a:lnTo>
                  <a:pt x="1590001" y="427558"/>
                </a:lnTo>
                <a:lnTo>
                  <a:pt x="1574507" y="431380"/>
                </a:lnTo>
                <a:lnTo>
                  <a:pt x="1557108" y="433781"/>
                </a:lnTo>
                <a:lnTo>
                  <a:pt x="1537677" y="434606"/>
                </a:lnTo>
                <a:lnTo>
                  <a:pt x="1498053" y="427837"/>
                </a:lnTo>
                <a:lnTo>
                  <a:pt x="1465668" y="407784"/>
                </a:lnTo>
                <a:lnTo>
                  <a:pt x="1443824" y="374891"/>
                </a:lnTo>
                <a:lnTo>
                  <a:pt x="1435823" y="329590"/>
                </a:lnTo>
                <a:lnTo>
                  <a:pt x="1442427" y="287604"/>
                </a:lnTo>
                <a:lnTo>
                  <a:pt x="1462493" y="254609"/>
                </a:lnTo>
                <a:lnTo>
                  <a:pt x="1494116" y="233032"/>
                </a:lnTo>
                <a:lnTo>
                  <a:pt x="1535391" y="225298"/>
                </a:lnTo>
                <a:lnTo>
                  <a:pt x="1556346" y="226225"/>
                </a:lnTo>
                <a:lnTo>
                  <a:pt x="1573999" y="228727"/>
                </a:lnTo>
                <a:lnTo>
                  <a:pt x="1588477" y="232371"/>
                </a:lnTo>
                <a:lnTo>
                  <a:pt x="1600034" y="236715"/>
                </a:lnTo>
                <a:lnTo>
                  <a:pt x="1618195" y="150710"/>
                </a:lnTo>
                <a:close/>
              </a:path>
            </a:pathLst>
          </a:custGeom>
          <a:solidFill>
            <a:srgbClr val="FDB6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3">
            <a:extLst>
              <a:ext uri="{FF2B5EF4-FFF2-40B4-BE49-F238E27FC236}">
                <a16:creationId xmlns:a16="http://schemas.microsoft.com/office/drawing/2014/main" id="{B6AB8B49-A98E-31BE-9F48-34D4910A8656}"/>
              </a:ext>
            </a:extLst>
          </p:cNvPr>
          <p:cNvSpPr/>
          <p:nvPr/>
        </p:nvSpPr>
        <p:spPr>
          <a:xfrm>
            <a:off x="11068865" y="6224760"/>
            <a:ext cx="388620" cy="483234"/>
          </a:xfrm>
          <a:custGeom>
            <a:avLst/>
            <a:gdLst/>
            <a:ahLst/>
            <a:cxnLst/>
            <a:rect l="l" t="t" r="r" b="b"/>
            <a:pathLst>
              <a:path w="388619" h="483234">
                <a:moveTo>
                  <a:pt x="387756" y="21"/>
                </a:moveTo>
                <a:lnTo>
                  <a:pt x="280571" y="21"/>
                </a:lnTo>
                <a:lnTo>
                  <a:pt x="280571" y="273635"/>
                </a:lnTo>
                <a:lnTo>
                  <a:pt x="274856" y="328320"/>
                </a:lnTo>
                <a:lnTo>
                  <a:pt x="258093" y="366813"/>
                </a:lnTo>
                <a:lnTo>
                  <a:pt x="230661" y="389558"/>
                </a:lnTo>
                <a:lnTo>
                  <a:pt x="193324" y="397038"/>
                </a:lnTo>
                <a:lnTo>
                  <a:pt x="156622" y="389266"/>
                </a:lnTo>
                <a:lnTo>
                  <a:pt x="129699" y="366013"/>
                </a:lnTo>
                <a:lnTo>
                  <a:pt x="113062" y="327431"/>
                </a:lnTo>
                <a:lnTo>
                  <a:pt x="107347" y="273635"/>
                </a:lnTo>
                <a:lnTo>
                  <a:pt x="107347" y="21"/>
                </a:lnTo>
                <a:lnTo>
                  <a:pt x="-472" y="21"/>
                </a:lnTo>
                <a:lnTo>
                  <a:pt x="-472" y="265190"/>
                </a:lnTo>
                <a:lnTo>
                  <a:pt x="3718" y="325006"/>
                </a:lnTo>
                <a:lnTo>
                  <a:pt x="16291" y="374699"/>
                </a:lnTo>
                <a:lnTo>
                  <a:pt x="36737" y="414614"/>
                </a:lnTo>
                <a:lnTo>
                  <a:pt x="64550" y="445081"/>
                </a:lnTo>
                <a:lnTo>
                  <a:pt x="99728" y="466429"/>
                </a:lnTo>
                <a:lnTo>
                  <a:pt x="141510" y="478989"/>
                </a:lnTo>
                <a:lnTo>
                  <a:pt x="189768" y="483104"/>
                </a:lnTo>
                <a:lnTo>
                  <a:pt x="239805" y="478799"/>
                </a:lnTo>
                <a:lnTo>
                  <a:pt x="283238" y="465832"/>
                </a:lnTo>
                <a:lnTo>
                  <a:pt x="319686" y="444065"/>
                </a:lnTo>
                <a:lnTo>
                  <a:pt x="348768" y="413383"/>
                </a:lnTo>
                <a:lnTo>
                  <a:pt x="370104" y="373658"/>
                </a:lnTo>
                <a:lnTo>
                  <a:pt x="383184" y="324764"/>
                </a:lnTo>
                <a:lnTo>
                  <a:pt x="387756" y="266587"/>
                </a:lnTo>
                <a:lnTo>
                  <a:pt x="387756" y="2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6" name="object 4">
            <a:extLst>
              <a:ext uri="{FF2B5EF4-FFF2-40B4-BE49-F238E27FC236}">
                <a16:creationId xmlns:a16="http://schemas.microsoft.com/office/drawing/2014/main" id="{06F46616-CD8C-BCFA-569F-6214A00F3E90}"/>
              </a:ext>
            </a:extLst>
          </p:cNvPr>
          <p:cNvGrpSpPr/>
          <p:nvPr/>
        </p:nvGrpSpPr>
        <p:grpSpPr>
          <a:xfrm>
            <a:off x="11510824" y="6110485"/>
            <a:ext cx="446405" cy="596900"/>
            <a:chOff x="19130771" y="10355319"/>
            <a:chExt cx="446405" cy="596900"/>
          </a:xfrm>
        </p:grpSpPr>
        <p:sp>
          <p:nvSpPr>
            <p:cNvPr id="7" name="object 5">
              <a:extLst>
                <a:ext uri="{FF2B5EF4-FFF2-40B4-BE49-F238E27FC236}">
                  <a16:creationId xmlns:a16="http://schemas.microsoft.com/office/drawing/2014/main" id="{F654AE82-F8B7-7540-992F-27D3D4AC3CB3}"/>
                </a:ext>
              </a:extLst>
            </p:cNvPr>
            <p:cNvSpPr/>
            <p:nvPr/>
          </p:nvSpPr>
          <p:spPr>
            <a:xfrm>
              <a:off x="19130771" y="10461974"/>
              <a:ext cx="376555" cy="490220"/>
            </a:xfrm>
            <a:custGeom>
              <a:avLst/>
              <a:gdLst/>
              <a:ahLst/>
              <a:cxnLst/>
              <a:rect l="l" t="t" r="r" b="b"/>
              <a:pathLst>
                <a:path w="376555" h="490220">
                  <a:moveTo>
                    <a:pt x="258716" y="21"/>
                  </a:moveTo>
                  <a:lnTo>
                    <a:pt x="211982" y="3336"/>
                  </a:lnTo>
                  <a:lnTo>
                    <a:pt x="168041" y="13178"/>
                  </a:lnTo>
                  <a:lnTo>
                    <a:pt x="127656" y="29395"/>
                  </a:lnTo>
                  <a:lnTo>
                    <a:pt x="91462" y="51848"/>
                  </a:lnTo>
                  <a:lnTo>
                    <a:pt x="60347" y="80359"/>
                  </a:lnTo>
                  <a:lnTo>
                    <a:pt x="34821" y="114813"/>
                  </a:lnTo>
                  <a:lnTo>
                    <a:pt x="15645" y="155033"/>
                  </a:lnTo>
                  <a:lnTo>
                    <a:pt x="3707" y="200866"/>
                  </a:lnTo>
                  <a:lnTo>
                    <a:pt x="-483" y="252186"/>
                  </a:lnTo>
                  <a:lnTo>
                    <a:pt x="2691" y="295949"/>
                  </a:lnTo>
                  <a:lnTo>
                    <a:pt x="11962" y="336740"/>
                  </a:lnTo>
                  <a:lnTo>
                    <a:pt x="27455" y="373976"/>
                  </a:lnTo>
                  <a:lnTo>
                    <a:pt x="49172" y="407084"/>
                  </a:lnTo>
                  <a:lnTo>
                    <a:pt x="76857" y="435468"/>
                  </a:lnTo>
                  <a:lnTo>
                    <a:pt x="110765" y="458556"/>
                  </a:lnTo>
                  <a:lnTo>
                    <a:pt x="150515" y="475764"/>
                  </a:lnTo>
                  <a:lnTo>
                    <a:pt x="196361" y="486508"/>
                  </a:lnTo>
                  <a:lnTo>
                    <a:pt x="248049" y="490229"/>
                  </a:lnTo>
                  <a:lnTo>
                    <a:pt x="288688" y="488311"/>
                  </a:lnTo>
                  <a:lnTo>
                    <a:pt x="323231" y="483358"/>
                  </a:lnTo>
                  <a:lnTo>
                    <a:pt x="350662" y="476551"/>
                  </a:lnTo>
                  <a:lnTo>
                    <a:pt x="369966" y="469084"/>
                  </a:lnTo>
                  <a:lnTo>
                    <a:pt x="353710" y="385291"/>
                  </a:lnTo>
                  <a:lnTo>
                    <a:pt x="335423" y="391273"/>
                  </a:lnTo>
                  <a:lnTo>
                    <a:pt x="313198" y="396187"/>
                  </a:lnTo>
                  <a:lnTo>
                    <a:pt x="288942" y="399527"/>
                  </a:lnTo>
                  <a:lnTo>
                    <a:pt x="264304" y="400747"/>
                  </a:lnTo>
                  <a:lnTo>
                    <a:pt x="211728" y="393762"/>
                  </a:lnTo>
                  <a:lnTo>
                    <a:pt x="169438" y="373595"/>
                  </a:lnTo>
                  <a:lnTo>
                    <a:pt x="138197" y="341426"/>
                  </a:lnTo>
                  <a:lnTo>
                    <a:pt x="118893" y="298451"/>
                  </a:lnTo>
                  <a:lnTo>
                    <a:pt x="112162" y="245823"/>
                  </a:lnTo>
                  <a:lnTo>
                    <a:pt x="119782" y="188929"/>
                  </a:lnTo>
                  <a:lnTo>
                    <a:pt x="140990" y="144912"/>
                  </a:lnTo>
                  <a:lnTo>
                    <a:pt x="173502" y="113632"/>
                  </a:lnTo>
                  <a:lnTo>
                    <a:pt x="215157" y="94964"/>
                  </a:lnTo>
                  <a:lnTo>
                    <a:pt x="263669" y="88766"/>
                  </a:lnTo>
                  <a:lnTo>
                    <a:pt x="290720" y="90227"/>
                  </a:lnTo>
                  <a:lnTo>
                    <a:pt x="314722" y="94138"/>
                  </a:lnTo>
                  <a:lnTo>
                    <a:pt x="335804" y="99764"/>
                  </a:lnTo>
                  <a:lnTo>
                    <a:pt x="353710" y="106368"/>
                  </a:lnTo>
                  <a:lnTo>
                    <a:pt x="375554" y="21179"/>
                  </a:lnTo>
                  <a:lnTo>
                    <a:pt x="357139" y="13698"/>
                  </a:lnTo>
                  <a:lnTo>
                    <a:pt x="330851" y="6891"/>
                  </a:lnTo>
                  <a:lnTo>
                    <a:pt x="297704" y="1939"/>
                  </a:lnTo>
                  <a:lnTo>
                    <a:pt x="258716" y="2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6">
              <a:extLst>
                <a:ext uri="{FF2B5EF4-FFF2-40B4-BE49-F238E27FC236}">
                  <a16:creationId xmlns:a16="http://schemas.microsoft.com/office/drawing/2014/main" id="{3387F146-3754-4772-C2D1-A59078F9C1FA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9464035" y="10355319"/>
              <a:ext cx="112771" cy="111247"/>
            </a:xfrm>
            <a:prstGeom prst="rect">
              <a:avLst/>
            </a:prstGeom>
          </p:spPr>
        </p:pic>
      </p:grpSp>
      <p:sp>
        <p:nvSpPr>
          <p:cNvPr id="9" name="object 3">
            <a:extLst>
              <a:ext uri="{FF2B5EF4-FFF2-40B4-BE49-F238E27FC236}">
                <a16:creationId xmlns:a16="http://schemas.microsoft.com/office/drawing/2014/main" id="{80C282F6-9705-0999-CC96-CF130CC92BC3}"/>
              </a:ext>
            </a:extLst>
          </p:cNvPr>
          <p:cNvSpPr txBox="1"/>
          <p:nvPr/>
        </p:nvSpPr>
        <p:spPr>
          <a:xfrm>
            <a:off x="428" y="502567"/>
            <a:ext cx="5454441" cy="720000"/>
          </a:xfrm>
          <a:prstGeom prst="rect">
            <a:avLst/>
          </a:prstGeom>
          <a:solidFill>
            <a:srgbClr val="FFC000"/>
          </a:solidFill>
        </p:spPr>
        <p:txBody>
          <a:bodyPr vert="horz" wrap="square" lIns="0" tIns="111669" rIns="0" bIns="0" rtlCol="0">
            <a:spAutoFit/>
          </a:bodyPr>
          <a:lstStyle/>
          <a:p>
            <a:pPr marR="140548" lvl="1">
              <a:spcBef>
                <a:spcPts val="879"/>
              </a:spcBef>
            </a:pPr>
            <a:r>
              <a:rPr lang="es-ES" sz="2911" b="1" spc="-6" dirty="0">
                <a:latin typeface="Arial"/>
                <a:cs typeface="Arial"/>
              </a:rPr>
              <a:t>¿Qué aprenderemos hoy?</a:t>
            </a:r>
            <a:endParaRPr sz="2911" b="1" spc="-6" dirty="0">
              <a:latin typeface="Arial"/>
              <a:cs typeface="Arial"/>
            </a:endParaRPr>
          </a:p>
        </p:txBody>
      </p:sp>
      <p:pic>
        <p:nvPicPr>
          <p:cNvPr id="12" name="object 7">
            <a:extLst>
              <a:ext uri="{FF2B5EF4-FFF2-40B4-BE49-F238E27FC236}">
                <a16:creationId xmlns:a16="http://schemas.microsoft.com/office/drawing/2014/main" id="{0ABA543D-036A-AF35-5387-049DCB763903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73696" y="5443486"/>
            <a:ext cx="1881470" cy="11941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03904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16FDED5-3F97-784C-36F5-7C57DDA0E6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s-CL" sz="2200" dirty="0"/>
              <a:t>JWT significa </a:t>
            </a:r>
            <a:r>
              <a:rPr lang="es-CL" sz="2200" b="1" dirty="0"/>
              <a:t>JSON Web Token</a:t>
            </a:r>
            <a:br>
              <a:rPr lang="es-CL" sz="2200" dirty="0"/>
            </a:br>
            <a:endParaRPr lang="es-CL" sz="2200" dirty="0"/>
          </a:p>
          <a:p>
            <a:pPr marL="0" indent="0">
              <a:buNone/>
            </a:pPr>
            <a:r>
              <a:rPr lang="es-CL" sz="2200" dirty="0"/>
              <a:t>Es un token firmado digitalmente que contiene información sobre un usuario o sesión</a:t>
            </a:r>
          </a:p>
          <a:p>
            <a:pPr marL="0" indent="0">
              <a:buNone/>
            </a:pPr>
            <a:r>
              <a:rPr lang="es-CL" sz="2200" dirty="0"/>
              <a:t>Sirve para:</a:t>
            </a:r>
          </a:p>
          <a:p>
            <a:r>
              <a:rPr lang="es-CL" sz="2200" dirty="0"/>
              <a:t>Identificar al usuario autenticado</a:t>
            </a:r>
          </a:p>
          <a:p>
            <a:r>
              <a:rPr lang="es-CL" sz="2200" dirty="0"/>
              <a:t>Enviar </a:t>
            </a:r>
            <a:r>
              <a:rPr lang="es-CL" sz="2200" dirty="0" err="1"/>
              <a:t>claims</a:t>
            </a:r>
            <a:r>
              <a:rPr lang="es-CL" sz="2200" dirty="0"/>
              <a:t> entre sistemas</a:t>
            </a:r>
          </a:p>
          <a:p>
            <a:r>
              <a:rPr lang="es-CL" sz="2200" dirty="0"/>
              <a:t>Proteger </a:t>
            </a:r>
            <a:r>
              <a:rPr lang="es-CL" sz="2200" dirty="0" err="1"/>
              <a:t>APIs</a:t>
            </a:r>
            <a:r>
              <a:rPr lang="es-CL" sz="2200" dirty="0"/>
              <a:t> sin usar sesiones en el servidor</a:t>
            </a:r>
          </a:p>
          <a:p>
            <a:r>
              <a:rPr lang="es-CL" sz="2200" dirty="0"/>
              <a:t>Escalar mejor en arquitecturas distribuidas</a:t>
            </a:r>
          </a:p>
          <a:p>
            <a:pPr marL="0" indent="0">
              <a:buNone/>
            </a:pPr>
            <a:endParaRPr lang="es-CL" sz="2200" dirty="0"/>
          </a:p>
          <a:p>
            <a:pPr marL="0" indent="0">
              <a:buNone/>
            </a:pPr>
            <a:r>
              <a:rPr lang="es-CL" sz="2200" b="1" dirty="0"/>
              <a:t>Idea clave:</a:t>
            </a:r>
          </a:p>
          <a:p>
            <a:pPr marL="0" indent="0">
              <a:buNone/>
            </a:pPr>
            <a:r>
              <a:rPr lang="es-CL" sz="2200" dirty="0"/>
              <a:t>J</a:t>
            </a:r>
            <a:r>
              <a:rPr lang="es-CL" sz="2000" dirty="0"/>
              <a:t>WT no cifra por defecto la información; la firma garantiza integridad, no confidencialidad</a:t>
            </a: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9A429F42-197C-3835-757D-8BB62248E4E8}"/>
              </a:ext>
            </a:extLst>
          </p:cNvPr>
          <p:cNvSpPr/>
          <p:nvPr/>
        </p:nvSpPr>
        <p:spPr>
          <a:xfrm>
            <a:off x="9338693" y="6180589"/>
            <a:ext cx="1618615" cy="525780"/>
          </a:xfrm>
          <a:custGeom>
            <a:avLst/>
            <a:gdLst/>
            <a:ahLst/>
            <a:cxnLst/>
            <a:rect l="l" t="t" r="r" b="b"/>
            <a:pathLst>
              <a:path w="1618615" h="525779">
                <a:moveTo>
                  <a:pt x="452996" y="248158"/>
                </a:moveTo>
                <a:lnTo>
                  <a:pt x="449186" y="196608"/>
                </a:lnTo>
                <a:lnTo>
                  <a:pt x="437883" y="151485"/>
                </a:lnTo>
                <a:lnTo>
                  <a:pt x="419849" y="112661"/>
                </a:lnTo>
                <a:lnTo>
                  <a:pt x="395846" y="79959"/>
                </a:lnTo>
                <a:lnTo>
                  <a:pt x="366382" y="53276"/>
                </a:lnTo>
                <a:lnTo>
                  <a:pt x="330695" y="31584"/>
                </a:lnTo>
                <a:lnTo>
                  <a:pt x="330695" y="251955"/>
                </a:lnTo>
                <a:lnTo>
                  <a:pt x="325107" y="307860"/>
                </a:lnTo>
                <a:lnTo>
                  <a:pt x="308851" y="353148"/>
                </a:lnTo>
                <a:lnTo>
                  <a:pt x="282816" y="387997"/>
                </a:lnTo>
                <a:lnTo>
                  <a:pt x="248145" y="412572"/>
                </a:lnTo>
                <a:lnTo>
                  <a:pt x="205473" y="427037"/>
                </a:lnTo>
                <a:lnTo>
                  <a:pt x="155816" y="431584"/>
                </a:lnTo>
                <a:lnTo>
                  <a:pt x="146786" y="431584"/>
                </a:lnTo>
                <a:lnTo>
                  <a:pt x="134226" y="431292"/>
                </a:lnTo>
                <a:lnTo>
                  <a:pt x="124079" y="430606"/>
                </a:lnTo>
                <a:lnTo>
                  <a:pt x="115570" y="429272"/>
                </a:lnTo>
                <a:lnTo>
                  <a:pt x="115570" y="93611"/>
                </a:lnTo>
                <a:lnTo>
                  <a:pt x="124333" y="91935"/>
                </a:lnTo>
                <a:lnTo>
                  <a:pt x="136004" y="90449"/>
                </a:lnTo>
                <a:lnTo>
                  <a:pt x="150609" y="89420"/>
                </a:lnTo>
                <a:lnTo>
                  <a:pt x="168008" y="89027"/>
                </a:lnTo>
                <a:lnTo>
                  <a:pt x="214871" y="93433"/>
                </a:lnTo>
                <a:lnTo>
                  <a:pt x="254749" y="106743"/>
                </a:lnTo>
                <a:lnTo>
                  <a:pt x="287007" y="129095"/>
                </a:lnTo>
                <a:lnTo>
                  <a:pt x="310756" y="160655"/>
                </a:lnTo>
                <a:lnTo>
                  <a:pt x="325615" y="201561"/>
                </a:lnTo>
                <a:lnTo>
                  <a:pt x="330695" y="251955"/>
                </a:lnTo>
                <a:lnTo>
                  <a:pt x="330695" y="31584"/>
                </a:lnTo>
                <a:lnTo>
                  <a:pt x="326758" y="29210"/>
                </a:lnTo>
                <a:lnTo>
                  <a:pt x="279641" y="12649"/>
                </a:lnTo>
                <a:lnTo>
                  <a:pt x="223253" y="3073"/>
                </a:lnTo>
                <a:lnTo>
                  <a:pt x="155816" y="0"/>
                </a:lnTo>
                <a:lnTo>
                  <a:pt x="113030" y="711"/>
                </a:lnTo>
                <a:lnTo>
                  <a:pt x="72263" y="2857"/>
                </a:lnTo>
                <a:lnTo>
                  <a:pt x="34163" y="6413"/>
                </a:lnTo>
                <a:lnTo>
                  <a:pt x="0" y="11430"/>
                </a:lnTo>
                <a:lnTo>
                  <a:pt x="0" y="514540"/>
                </a:lnTo>
                <a:lnTo>
                  <a:pt x="24003" y="517334"/>
                </a:lnTo>
                <a:lnTo>
                  <a:pt x="53721" y="519760"/>
                </a:lnTo>
                <a:lnTo>
                  <a:pt x="89535" y="521487"/>
                </a:lnTo>
                <a:lnTo>
                  <a:pt x="131432" y="522147"/>
                </a:lnTo>
                <a:lnTo>
                  <a:pt x="189471" y="519569"/>
                </a:lnTo>
                <a:lnTo>
                  <a:pt x="242811" y="511771"/>
                </a:lnTo>
                <a:lnTo>
                  <a:pt x="290817" y="498627"/>
                </a:lnTo>
                <a:lnTo>
                  <a:pt x="332854" y="480072"/>
                </a:lnTo>
                <a:lnTo>
                  <a:pt x="368668" y="455942"/>
                </a:lnTo>
                <a:lnTo>
                  <a:pt x="396100" y="427685"/>
                </a:lnTo>
                <a:lnTo>
                  <a:pt x="419341" y="392976"/>
                </a:lnTo>
                <a:lnTo>
                  <a:pt x="437375" y="351650"/>
                </a:lnTo>
                <a:lnTo>
                  <a:pt x="448932" y="303453"/>
                </a:lnTo>
                <a:lnTo>
                  <a:pt x="452996" y="248158"/>
                </a:lnTo>
                <a:close/>
              </a:path>
              <a:path w="1618615" h="525779">
                <a:moveTo>
                  <a:pt x="849858" y="516801"/>
                </a:moveTo>
                <a:lnTo>
                  <a:pt x="848715" y="491820"/>
                </a:lnTo>
                <a:lnTo>
                  <a:pt x="847699" y="463626"/>
                </a:lnTo>
                <a:lnTo>
                  <a:pt x="847064" y="432142"/>
                </a:lnTo>
                <a:lnTo>
                  <a:pt x="846810" y="397306"/>
                </a:lnTo>
                <a:lnTo>
                  <a:pt x="846810" y="144627"/>
                </a:lnTo>
                <a:lnTo>
                  <a:pt x="731240" y="144627"/>
                </a:lnTo>
                <a:lnTo>
                  <a:pt x="731240" y="366115"/>
                </a:lnTo>
                <a:lnTo>
                  <a:pt x="730986" y="373253"/>
                </a:lnTo>
                <a:lnTo>
                  <a:pt x="707237" y="418261"/>
                </a:lnTo>
                <a:lnTo>
                  <a:pt x="668883" y="431584"/>
                </a:lnTo>
                <a:lnTo>
                  <a:pt x="642467" y="425615"/>
                </a:lnTo>
                <a:lnTo>
                  <a:pt x="624319" y="408457"/>
                </a:lnTo>
                <a:lnTo>
                  <a:pt x="613778" y="381165"/>
                </a:lnTo>
                <a:lnTo>
                  <a:pt x="610349" y="344817"/>
                </a:lnTo>
                <a:lnTo>
                  <a:pt x="610349" y="144627"/>
                </a:lnTo>
                <a:lnTo>
                  <a:pt x="494906" y="144627"/>
                </a:lnTo>
                <a:lnTo>
                  <a:pt x="494906" y="363054"/>
                </a:lnTo>
                <a:lnTo>
                  <a:pt x="501129" y="424053"/>
                </a:lnTo>
                <a:lnTo>
                  <a:pt x="519036" y="469773"/>
                </a:lnTo>
                <a:lnTo>
                  <a:pt x="546722" y="501230"/>
                </a:lnTo>
                <a:lnTo>
                  <a:pt x="582790" y="519366"/>
                </a:lnTo>
                <a:lnTo>
                  <a:pt x="625589" y="525195"/>
                </a:lnTo>
                <a:lnTo>
                  <a:pt x="669899" y="518883"/>
                </a:lnTo>
                <a:lnTo>
                  <a:pt x="703427" y="503313"/>
                </a:lnTo>
                <a:lnTo>
                  <a:pt x="727049" y="483450"/>
                </a:lnTo>
                <a:lnTo>
                  <a:pt x="741908" y="464299"/>
                </a:lnTo>
                <a:lnTo>
                  <a:pt x="744194" y="464299"/>
                </a:lnTo>
                <a:lnTo>
                  <a:pt x="749528" y="516801"/>
                </a:lnTo>
                <a:lnTo>
                  <a:pt x="849858" y="516801"/>
                </a:lnTo>
                <a:close/>
              </a:path>
              <a:path w="1618615" h="525779">
                <a:moveTo>
                  <a:pt x="1277581" y="327279"/>
                </a:moveTo>
                <a:lnTo>
                  <a:pt x="1273136" y="281241"/>
                </a:lnTo>
                <a:lnTo>
                  <a:pt x="1259928" y="240157"/>
                </a:lnTo>
                <a:lnTo>
                  <a:pt x="1247355" y="219214"/>
                </a:lnTo>
                <a:lnTo>
                  <a:pt x="1238846" y="204800"/>
                </a:lnTo>
                <a:lnTo>
                  <a:pt x="1210411" y="175971"/>
                </a:lnTo>
                <a:lnTo>
                  <a:pt x="1175346" y="154406"/>
                </a:lnTo>
                <a:lnTo>
                  <a:pt x="1157566" y="148501"/>
                </a:lnTo>
                <a:lnTo>
                  <a:pt x="1157490" y="329628"/>
                </a:lnTo>
                <a:lnTo>
                  <a:pt x="1157490" y="331101"/>
                </a:lnTo>
                <a:lnTo>
                  <a:pt x="1152474" y="375132"/>
                </a:lnTo>
                <a:lnTo>
                  <a:pt x="1137754" y="411391"/>
                </a:lnTo>
                <a:lnTo>
                  <a:pt x="1083792" y="442214"/>
                </a:lnTo>
                <a:lnTo>
                  <a:pt x="1083030" y="442214"/>
                </a:lnTo>
                <a:lnTo>
                  <a:pt x="1050772" y="433730"/>
                </a:lnTo>
                <a:lnTo>
                  <a:pt x="1027150" y="410349"/>
                </a:lnTo>
                <a:lnTo>
                  <a:pt x="1012672" y="375132"/>
                </a:lnTo>
                <a:lnTo>
                  <a:pt x="1007719" y="331101"/>
                </a:lnTo>
                <a:lnTo>
                  <a:pt x="1011910" y="290182"/>
                </a:lnTo>
                <a:lnTo>
                  <a:pt x="1025245" y="254330"/>
                </a:lnTo>
                <a:lnTo>
                  <a:pt x="1048867" y="228892"/>
                </a:lnTo>
                <a:lnTo>
                  <a:pt x="1083792" y="219214"/>
                </a:lnTo>
                <a:lnTo>
                  <a:pt x="1117447" y="228892"/>
                </a:lnTo>
                <a:lnTo>
                  <a:pt x="1140333" y="254330"/>
                </a:lnTo>
                <a:lnTo>
                  <a:pt x="1153375" y="289864"/>
                </a:lnTo>
                <a:lnTo>
                  <a:pt x="1157490" y="329628"/>
                </a:lnTo>
                <a:lnTo>
                  <a:pt x="1157490" y="148488"/>
                </a:lnTo>
                <a:lnTo>
                  <a:pt x="1134465" y="140893"/>
                </a:lnTo>
                <a:lnTo>
                  <a:pt x="1088364" y="136232"/>
                </a:lnTo>
                <a:lnTo>
                  <a:pt x="1038796" y="140893"/>
                </a:lnTo>
                <a:lnTo>
                  <a:pt x="1039266" y="140893"/>
                </a:lnTo>
                <a:lnTo>
                  <a:pt x="995883" y="154406"/>
                </a:lnTo>
                <a:lnTo>
                  <a:pt x="996073" y="154406"/>
                </a:lnTo>
                <a:lnTo>
                  <a:pt x="959586" y="175971"/>
                </a:lnTo>
                <a:lnTo>
                  <a:pt x="929741" y="205282"/>
                </a:lnTo>
                <a:lnTo>
                  <a:pt x="907643" y="241693"/>
                </a:lnTo>
                <a:lnTo>
                  <a:pt x="893927" y="284568"/>
                </a:lnTo>
                <a:lnTo>
                  <a:pt x="889228" y="333362"/>
                </a:lnTo>
                <a:lnTo>
                  <a:pt x="894080" y="380911"/>
                </a:lnTo>
                <a:lnTo>
                  <a:pt x="908278" y="423976"/>
                </a:lnTo>
                <a:lnTo>
                  <a:pt x="930630" y="459346"/>
                </a:lnTo>
                <a:lnTo>
                  <a:pt x="960221" y="487565"/>
                </a:lnTo>
                <a:lnTo>
                  <a:pt x="995781" y="508203"/>
                </a:lnTo>
                <a:lnTo>
                  <a:pt x="1036675" y="520877"/>
                </a:lnTo>
                <a:lnTo>
                  <a:pt x="1081506" y="525195"/>
                </a:lnTo>
                <a:lnTo>
                  <a:pt x="1082268" y="525195"/>
                </a:lnTo>
                <a:lnTo>
                  <a:pt x="1124178" y="521335"/>
                </a:lnTo>
                <a:lnTo>
                  <a:pt x="1164170" y="509651"/>
                </a:lnTo>
                <a:lnTo>
                  <a:pt x="1200619" y="489953"/>
                </a:lnTo>
                <a:lnTo>
                  <a:pt x="1231861" y="462064"/>
                </a:lnTo>
                <a:lnTo>
                  <a:pt x="1256245" y="425754"/>
                </a:lnTo>
                <a:lnTo>
                  <a:pt x="1271993" y="380911"/>
                </a:lnTo>
                <a:lnTo>
                  <a:pt x="1277581" y="327279"/>
                </a:lnTo>
                <a:close/>
              </a:path>
              <a:path w="1618615" h="525779">
                <a:moveTo>
                  <a:pt x="1618195" y="150710"/>
                </a:moveTo>
                <a:lnTo>
                  <a:pt x="1598510" y="144602"/>
                </a:lnTo>
                <a:lnTo>
                  <a:pt x="1576412" y="140030"/>
                </a:lnTo>
                <a:lnTo>
                  <a:pt x="1553298" y="137198"/>
                </a:lnTo>
                <a:lnTo>
                  <a:pt x="1530057" y="136220"/>
                </a:lnTo>
                <a:lnTo>
                  <a:pt x="1474685" y="141465"/>
                </a:lnTo>
                <a:lnTo>
                  <a:pt x="1427441" y="156425"/>
                </a:lnTo>
                <a:lnTo>
                  <a:pt x="1388198" y="179844"/>
                </a:lnTo>
                <a:lnTo>
                  <a:pt x="1357464" y="210553"/>
                </a:lnTo>
                <a:lnTo>
                  <a:pt x="1335239" y="247307"/>
                </a:lnTo>
                <a:lnTo>
                  <a:pt x="1321777" y="288912"/>
                </a:lnTo>
                <a:lnTo>
                  <a:pt x="1317205" y="334149"/>
                </a:lnTo>
                <a:lnTo>
                  <a:pt x="1321777" y="381635"/>
                </a:lnTo>
                <a:lnTo>
                  <a:pt x="1335239" y="423278"/>
                </a:lnTo>
                <a:lnTo>
                  <a:pt x="1356956" y="458546"/>
                </a:lnTo>
                <a:lnTo>
                  <a:pt x="1386166" y="486918"/>
                </a:lnTo>
                <a:lnTo>
                  <a:pt x="1422615" y="507822"/>
                </a:lnTo>
                <a:lnTo>
                  <a:pt x="1465414" y="520763"/>
                </a:lnTo>
                <a:lnTo>
                  <a:pt x="1514055" y="525195"/>
                </a:lnTo>
                <a:lnTo>
                  <a:pt x="1545932" y="523862"/>
                </a:lnTo>
                <a:lnTo>
                  <a:pt x="1598891" y="514616"/>
                </a:lnTo>
                <a:lnTo>
                  <a:pt x="1603844" y="422427"/>
                </a:lnTo>
                <a:lnTo>
                  <a:pt x="1590001" y="427558"/>
                </a:lnTo>
                <a:lnTo>
                  <a:pt x="1574507" y="431380"/>
                </a:lnTo>
                <a:lnTo>
                  <a:pt x="1557108" y="433781"/>
                </a:lnTo>
                <a:lnTo>
                  <a:pt x="1537677" y="434606"/>
                </a:lnTo>
                <a:lnTo>
                  <a:pt x="1498053" y="427837"/>
                </a:lnTo>
                <a:lnTo>
                  <a:pt x="1465668" y="407784"/>
                </a:lnTo>
                <a:lnTo>
                  <a:pt x="1443824" y="374891"/>
                </a:lnTo>
                <a:lnTo>
                  <a:pt x="1435823" y="329590"/>
                </a:lnTo>
                <a:lnTo>
                  <a:pt x="1442427" y="287604"/>
                </a:lnTo>
                <a:lnTo>
                  <a:pt x="1462493" y="254609"/>
                </a:lnTo>
                <a:lnTo>
                  <a:pt x="1494116" y="233032"/>
                </a:lnTo>
                <a:lnTo>
                  <a:pt x="1535391" y="225298"/>
                </a:lnTo>
                <a:lnTo>
                  <a:pt x="1556346" y="226225"/>
                </a:lnTo>
                <a:lnTo>
                  <a:pt x="1573999" y="228727"/>
                </a:lnTo>
                <a:lnTo>
                  <a:pt x="1588477" y="232371"/>
                </a:lnTo>
                <a:lnTo>
                  <a:pt x="1600034" y="236715"/>
                </a:lnTo>
                <a:lnTo>
                  <a:pt x="1618195" y="150710"/>
                </a:lnTo>
                <a:close/>
              </a:path>
            </a:pathLst>
          </a:custGeom>
          <a:solidFill>
            <a:srgbClr val="FDB6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3">
            <a:extLst>
              <a:ext uri="{FF2B5EF4-FFF2-40B4-BE49-F238E27FC236}">
                <a16:creationId xmlns:a16="http://schemas.microsoft.com/office/drawing/2014/main" id="{A5D21F7C-2279-FCB1-EFF3-AD092C07F164}"/>
              </a:ext>
            </a:extLst>
          </p:cNvPr>
          <p:cNvSpPr/>
          <p:nvPr/>
        </p:nvSpPr>
        <p:spPr>
          <a:xfrm>
            <a:off x="11068865" y="6224760"/>
            <a:ext cx="388620" cy="483234"/>
          </a:xfrm>
          <a:custGeom>
            <a:avLst/>
            <a:gdLst/>
            <a:ahLst/>
            <a:cxnLst/>
            <a:rect l="l" t="t" r="r" b="b"/>
            <a:pathLst>
              <a:path w="388619" h="483234">
                <a:moveTo>
                  <a:pt x="387756" y="21"/>
                </a:moveTo>
                <a:lnTo>
                  <a:pt x="280571" y="21"/>
                </a:lnTo>
                <a:lnTo>
                  <a:pt x="280571" y="273635"/>
                </a:lnTo>
                <a:lnTo>
                  <a:pt x="274856" y="328320"/>
                </a:lnTo>
                <a:lnTo>
                  <a:pt x="258093" y="366813"/>
                </a:lnTo>
                <a:lnTo>
                  <a:pt x="230661" y="389558"/>
                </a:lnTo>
                <a:lnTo>
                  <a:pt x="193324" y="397038"/>
                </a:lnTo>
                <a:lnTo>
                  <a:pt x="156622" y="389266"/>
                </a:lnTo>
                <a:lnTo>
                  <a:pt x="129699" y="366013"/>
                </a:lnTo>
                <a:lnTo>
                  <a:pt x="113062" y="327431"/>
                </a:lnTo>
                <a:lnTo>
                  <a:pt x="107347" y="273635"/>
                </a:lnTo>
                <a:lnTo>
                  <a:pt x="107347" y="21"/>
                </a:lnTo>
                <a:lnTo>
                  <a:pt x="-472" y="21"/>
                </a:lnTo>
                <a:lnTo>
                  <a:pt x="-472" y="265190"/>
                </a:lnTo>
                <a:lnTo>
                  <a:pt x="3718" y="325006"/>
                </a:lnTo>
                <a:lnTo>
                  <a:pt x="16291" y="374699"/>
                </a:lnTo>
                <a:lnTo>
                  <a:pt x="36737" y="414614"/>
                </a:lnTo>
                <a:lnTo>
                  <a:pt x="64550" y="445081"/>
                </a:lnTo>
                <a:lnTo>
                  <a:pt x="99728" y="466429"/>
                </a:lnTo>
                <a:lnTo>
                  <a:pt x="141510" y="478989"/>
                </a:lnTo>
                <a:lnTo>
                  <a:pt x="189768" y="483104"/>
                </a:lnTo>
                <a:lnTo>
                  <a:pt x="239805" y="478799"/>
                </a:lnTo>
                <a:lnTo>
                  <a:pt x="283238" y="465832"/>
                </a:lnTo>
                <a:lnTo>
                  <a:pt x="319686" y="444065"/>
                </a:lnTo>
                <a:lnTo>
                  <a:pt x="348768" y="413383"/>
                </a:lnTo>
                <a:lnTo>
                  <a:pt x="370104" y="373658"/>
                </a:lnTo>
                <a:lnTo>
                  <a:pt x="383184" y="324764"/>
                </a:lnTo>
                <a:lnTo>
                  <a:pt x="387756" y="266587"/>
                </a:lnTo>
                <a:lnTo>
                  <a:pt x="387756" y="2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6" name="object 4">
            <a:extLst>
              <a:ext uri="{FF2B5EF4-FFF2-40B4-BE49-F238E27FC236}">
                <a16:creationId xmlns:a16="http://schemas.microsoft.com/office/drawing/2014/main" id="{55B4AFDC-87AB-F31B-5603-4248FF4CEC6A}"/>
              </a:ext>
            </a:extLst>
          </p:cNvPr>
          <p:cNvGrpSpPr/>
          <p:nvPr/>
        </p:nvGrpSpPr>
        <p:grpSpPr>
          <a:xfrm>
            <a:off x="11510824" y="6110485"/>
            <a:ext cx="446405" cy="596900"/>
            <a:chOff x="19130771" y="10355319"/>
            <a:chExt cx="446405" cy="596900"/>
          </a:xfrm>
        </p:grpSpPr>
        <p:sp>
          <p:nvSpPr>
            <p:cNvPr id="7" name="object 5">
              <a:extLst>
                <a:ext uri="{FF2B5EF4-FFF2-40B4-BE49-F238E27FC236}">
                  <a16:creationId xmlns:a16="http://schemas.microsoft.com/office/drawing/2014/main" id="{01E5F166-B362-A25E-3EDA-62043D07C3A0}"/>
                </a:ext>
              </a:extLst>
            </p:cNvPr>
            <p:cNvSpPr/>
            <p:nvPr/>
          </p:nvSpPr>
          <p:spPr>
            <a:xfrm>
              <a:off x="19130771" y="10461974"/>
              <a:ext cx="376555" cy="490220"/>
            </a:xfrm>
            <a:custGeom>
              <a:avLst/>
              <a:gdLst/>
              <a:ahLst/>
              <a:cxnLst/>
              <a:rect l="l" t="t" r="r" b="b"/>
              <a:pathLst>
                <a:path w="376555" h="490220">
                  <a:moveTo>
                    <a:pt x="258716" y="21"/>
                  </a:moveTo>
                  <a:lnTo>
                    <a:pt x="211982" y="3336"/>
                  </a:lnTo>
                  <a:lnTo>
                    <a:pt x="168041" y="13178"/>
                  </a:lnTo>
                  <a:lnTo>
                    <a:pt x="127656" y="29395"/>
                  </a:lnTo>
                  <a:lnTo>
                    <a:pt x="91462" y="51848"/>
                  </a:lnTo>
                  <a:lnTo>
                    <a:pt x="60347" y="80359"/>
                  </a:lnTo>
                  <a:lnTo>
                    <a:pt x="34821" y="114813"/>
                  </a:lnTo>
                  <a:lnTo>
                    <a:pt x="15645" y="155033"/>
                  </a:lnTo>
                  <a:lnTo>
                    <a:pt x="3707" y="200866"/>
                  </a:lnTo>
                  <a:lnTo>
                    <a:pt x="-483" y="252186"/>
                  </a:lnTo>
                  <a:lnTo>
                    <a:pt x="2691" y="295949"/>
                  </a:lnTo>
                  <a:lnTo>
                    <a:pt x="11962" y="336740"/>
                  </a:lnTo>
                  <a:lnTo>
                    <a:pt x="27455" y="373976"/>
                  </a:lnTo>
                  <a:lnTo>
                    <a:pt x="49172" y="407084"/>
                  </a:lnTo>
                  <a:lnTo>
                    <a:pt x="76857" y="435468"/>
                  </a:lnTo>
                  <a:lnTo>
                    <a:pt x="110765" y="458556"/>
                  </a:lnTo>
                  <a:lnTo>
                    <a:pt x="150515" y="475764"/>
                  </a:lnTo>
                  <a:lnTo>
                    <a:pt x="196361" y="486508"/>
                  </a:lnTo>
                  <a:lnTo>
                    <a:pt x="248049" y="490229"/>
                  </a:lnTo>
                  <a:lnTo>
                    <a:pt x="288688" y="488311"/>
                  </a:lnTo>
                  <a:lnTo>
                    <a:pt x="323231" y="483358"/>
                  </a:lnTo>
                  <a:lnTo>
                    <a:pt x="350662" y="476551"/>
                  </a:lnTo>
                  <a:lnTo>
                    <a:pt x="369966" y="469084"/>
                  </a:lnTo>
                  <a:lnTo>
                    <a:pt x="353710" y="385291"/>
                  </a:lnTo>
                  <a:lnTo>
                    <a:pt x="335423" y="391273"/>
                  </a:lnTo>
                  <a:lnTo>
                    <a:pt x="313198" y="396187"/>
                  </a:lnTo>
                  <a:lnTo>
                    <a:pt x="288942" y="399527"/>
                  </a:lnTo>
                  <a:lnTo>
                    <a:pt x="264304" y="400747"/>
                  </a:lnTo>
                  <a:lnTo>
                    <a:pt x="211728" y="393762"/>
                  </a:lnTo>
                  <a:lnTo>
                    <a:pt x="169438" y="373595"/>
                  </a:lnTo>
                  <a:lnTo>
                    <a:pt x="138197" y="341426"/>
                  </a:lnTo>
                  <a:lnTo>
                    <a:pt x="118893" y="298451"/>
                  </a:lnTo>
                  <a:lnTo>
                    <a:pt x="112162" y="245823"/>
                  </a:lnTo>
                  <a:lnTo>
                    <a:pt x="119782" y="188929"/>
                  </a:lnTo>
                  <a:lnTo>
                    <a:pt x="140990" y="144912"/>
                  </a:lnTo>
                  <a:lnTo>
                    <a:pt x="173502" y="113632"/>
                  </a:lnTo>
                  <a:lnTo>
                    <a:pt x="215157" y="94964"/>
                  </a:lnTo>
                  <a:lnTo>
                    <a:pt x="263669" y="88766"/>
                  </a:lnTo>
                  <a:lnTo>
                    <a:pt x="290720" y="90227"/>
                  </a:lnTo>
                  <a:lnTo>
                    <a:pt x="314722" y="94138"/>
                  </a:lnTo>
                  <a:lnTo>
                    <a:pt x="335804" y="99764"/>
                  </a:lnTo>
                  <a:lnTo>
                    <a:pt x="353710" y="106368"/>
                  </a:lnTo>
                  <a:lnTo>
                    <a:pt x="375554" y="21179"/>
                  </a:lnTo>
                  <a:lnTo>
                    <a:pt x="357139" y="13698"/>
                  </a:lnTo>
                  <a:lnTo>
                    <a:pt x="330851" y="6891"/>
                  </a:lnTo>
                  <a:lnTo>
                    <a:pt x="297704" y="1939"/>
                  </a:lnTo>
                  <a:lnTo>
                    <a:pt x="258716" y="2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6">
              <a:extLst>
                <a:ext uri="{FF2B5EF4-FFF2-40B4-BE49-F238E27FC236}">
                  <a16:creationId xmlns:a16="http://schemas.microsoft.com/office/drawing/2014/main" id="{E6B74917-03C5-1021-D379-004ADA199115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9464035" y="10355319"/>
              <a:ext cx="112771" cy="111247"/>
            </a:xfrm>
            <a:prstGeom prst="rect">
              <a:avLst/>
            </a:prstGeom>
          </p:spPr>
        </p:pic>
      </p:grpSp>
      <p:sp>
        <p:nvSpPr>
          <p:cNvPr id="9" name="object 3">
            <a:extLst>
              <a:ext uri="{FF2B5EF4-FFF2-40B4-BE49-F238E27FC236}">
                <a16:creationId xmlns:a16="http://schemas.microsoft.com/office/drawing/2014/main" id="{D37C3219-D79C-6220-6221-09DEE63F122C}"/>
              </a:ext>
            </a:extLst>
          </p:cNvPr>
          <p:cNvSpPr txBox="1"/>
          <p:nvPr/>
        </p:nvSpPr>
        <p:spPr>
          <a:xfrm>
            <a:off x="428" y="502565"/>
            <a:ext cx="6370555" cy="720000"/>
          </a:xfrm>
          <a:prstGeom prst="rect">
            <a:avLst/>
          </a:prstGeom>
          <a:solidFill>
            <a:srgbClr val="FFC000"/>
          </a:solidFill>
        </p:spPr>
        <p:txBody>
          <a:bodyPr vert="horz" wrap="square" lIns="0" tIns="111669" rIns="0" bIns="0" rtlCol="0">
            <a:spAutoFit/>
          </a:bodyPr>
          <a:lstStyle/>
          <a:p>
            <a:pPr marR="140548" lvl="1">
              <a:spcBef>
                <a:spcPts val="879"/>
              </a:spcBef>
            </a:pPr>
            <a:r>
              <a:rPr lang="es-ES" sz="2911" b="1" spc="-6" dirty="0">
                <a:latin typeface="Arial"/>
                <a:cs typeface="Arial"/>
              </a:rPr>
              <a:t>¿Qué es JWT y para qué sirve?</a:t>
            </a:r>
            <a:endParaRPr sz="2911" b="1" spc="-6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2936117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819A67-2DBD-1874-C513-D8C369E168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>
            <a:extLst>
              <a:ext uri="{FF2B5EF4-FFF2-40B4-BE49-F238E27FC236}">
                <a16:creationId xmlns:a16="http://schemas.microsoft.com/office/drawing/2014/main" id="{8455ACDB-4D49-19EE-3FD1-894508AA6BF9}"/>
              </a:ext>
            </a:extLst>
          </p:cNvPr>
          <p:cNvSpPr/>
          <p:nvPr/>
        </p:nvSpPr>
        <p:spPr>
          <a:xfrm>
            <a:off x="9338693" y="6180589"/>
            <a:ext cx="1618615" cy="525780"/>
          </a:xfrm>
          <a:custGeom>
            <a:avLst/>
            <a:gdLst/>
            <a:ahLst/>
            <a:cxnLst/>
            <a:rect l="l" t="t" r="r" b="b"/>
            <a:pathLst>
              <a:path w="1618615" h="525779">
                <a:moveTo>
                  <a:pt x="452996" y="248158"/>
                </a:moveTo>
                <a:lnTo>
                  <a:pt x="449186" y="196608"/>
                </a:lnTo>
                <a:lnTo>
                  <a:pt x="437883" y="151485"/>
                </a:lnTo>
                <a:lnTo>
                  <a:pt x="419849" y="112661"/>
                </a:lnTo>
                <a:lnTo>
                  <a:pt x="395846" y="79959"/>
                </a:lnTo>
                <a:lnTo>
                  <a:pt x="366382" y="53276"/>
                </a:lnTo>
                <a:lnTo>
                  <a:pt x="330695" y="31584"/>
                </a:lnTo>
                <a:lnTo>
                  <a:pt x="330695" y="251955"/>
                </a:lnTo>
                <a:lnTo>
                  <a:pt x="325107" y="307860"/>
                </a:lnTo>
                <a:lnTo>
                  <a:pt x="308851" y="353148"/>
                </a:lnTo>
                <a:lnTo>
                  <a:pt x="282816" y="387997"/>
                </a:lnTo>
                <a:lnTo>
                  <a:pt x="248145" y="412572"/>
                </a:lnTo>
                <a:lnTo>
                  <a:pt x="205473" y="427037"/>
                </a:lnTo>
                <a:lnTo>
                  <a:pt x="155816" y="431584"/>
                </a:lnTo>
                <a:lnTo>
                  <a:pt x="146786" y="431584"/>
                </a:lnTo>
                <a:lnTo>
                  <a:pt x="134226" y="431292"/>
                </a:lnTo>
                <a:lnTo>
                  <a:pt x="124079" y="430606"/>
                </a:lnTo>
                <a:lnTo>
                  <a:pt x="115570" y="429272"/>
                </a:lnTo>
                <a:lnTo>
                  <a:pt x="115570" y="93611"/>
                </a:lnTo>
                <a:lnTo>
                  <a:pt x="124333" y="91935"/>
                </a:lnTo>
                <a:lnTo>
                  <a:pt x="136004" y="90449"/>
                </a:lnTo>
                <a:lnTo>
                  <a:pt x="150609" y="89420"/>
                </a:lnTo>
                <a:lnTo>
                  <a:pt x="168008" y="89027"/>
                </a:lnTo>
                <a:lnTo>
                  <a:pt x="214871" y="93433"/>
                </a:lnTo>
                <a:lnTo>
                  <a:pt x="254749" y="106743"/>
                </a:lnTo>
                <a:lnTo>
                  <a:pt x="287007" y="129095"/>
                </a:lnTo>
                <a:lnTo>
                  <a:pt x="310756" y="160655"/>
                </a:lnTo>
                <a:lnTo>
                  <a:pt x="325615" y="201561"/>
                </a:lnTo>
                <a:lnTo>
                  <a:pt x="330695" y="251955"/>
                </a:lnTo>
                <a:lnTo>
                  <a:pt x="330695" y="31584"/>
                </a:lnTo>
                <a:lnTo>
                  <a:pt x="326758" y="29210"/>
                </a:lnTo>
                <a:lnTo>
                  <a:pt x="279641" y="12649"/>
                </a:lnTo>
                <a:lnTo>
                  <a:pt x="223253" y="3073"/>
                </a:lnTo>
                <a:lnTo>
                  <a:pt x="155816" y="0"/>
                </a:lnTo>
                <a:lnTo>
                  <a:pt x="113030" y="711"/>
                </a:lnTo>
                <a:lnTo>
                  <a:pt x="72263" y="2857"/>
                </a:lnTo>
                <a:lnTo>
                  <a:pt x="34163" y="6413"/>
                </a:lnTo>
                <a:lnTo>
                  <a:pt x="0" y="11430"/>
                </a:lnTo>
                <a:lnTo>
                  <a:pt x="0" y="514540"/>
                </a:lnTo>
                <a:lnTo>
                  <a:pt x="24003" y="517334"/>
                </a:lnTo>
                <a:lnTo>
                  <a:pt x="53721" y="519760"/>
                </a:lnTo>
                <a:lnTo>
                  <a:pt x="89535" y="521487"/>
                </a:lnTo>
                <a:lnTo>
                  <a:pt x="131432" y="522147"/>
                </a:lnTo>
                <a:lnTo>
                  <a:pt x="189471" y="519569"/>
                </a:lnTo>
                <a:lnTo>
                  <a:pt x="242811" y="511771"/>
                </a:lnTo>
                <a:lnTo>
                  <a:pt x="290817" y="498627"/>
                </a:lnTo>
                <a:lnTo>
                  <a:pt x="332854" y="480072"/>
                </a:lnTo>
                <a:lnTo>
                  <a:pt x="368668" y="455942"/>
                </a:lnTo>
                <a:lnTo>
                  <a:pt x="396100" y="427685"/>
                </a:lnTo>
                <a:lnTo>
                  <a:pt x="419341" y="392976"/>
                </a:lnTo>
                <a:lnTo>
                  <a:pt x="437375" y="351650"/>
                </a:lnTo>
                <a:lnTo>
                  <a:pt x="448932" y="303453"/>
                </a:lnTo>
                <a:lnTo>
                  <a:pt x="452996" y="248158"/>
                </a:lnTo>
                <a:close/>
              </a:path>
              <a:path w="1618615" h="525779">
                <a:moveTo>
                  <a:pt x="849858" y="516801"/>
                </a:moveTo>
                <a:lnTo>
                  <a:pt x="848715" y="491820"/>
                </a:lnTo>
                <a:lnTo>
                  <a:pt x="847699" y="463626"/>
                </a:lnTo>
                <a:lnTo>
                  <a:pt x="847064" y="432142"/>
                </a:lnTo>
                <a:lnTo>
                  <a:pt x="846810" y="397306"/>
                </a:lnTo>
                <a:lnTo>
                  <a:pt x="846810" y="144627"/>
                </a:lnTo>
                <a:lnTo>
                  <a:pt x="731240" y="144627"/>
                </a:lnTo>
                <a:lnTo>
                  <a:pt x="731240" y="366115"/>
                </a:lnTo>
                <a:lnTo>
                  <a:pt x="730986" y="373253"/>
                </a:lnTo>
                <a:lnTo>
                  <a:pt x="707237" y="418261"/>
                </a:lnTo>
                <a:lnTo>
                  <a:pt x="668883" y="431584"/>
                </a:lnTo>
                <a:lnTo>
                  <a:pt x="642467" y="425615"/>
                </a:lnTo>
                <a:lnTo>
                  <a:pt x="624319" y="408457"/>
                </a:lnTo>
                <a:lnTo>
                  <a:pt x="613778" y="381165"/>
                </a:lnTo>
                <a:lnTo>
                  <a:pt x="610349" y="344817"/>
                </a:lnTo>
                <a:lnTo>
                  <a:pt x="610349" y="144627"/>
                </a:lnTo>
                <a:lnTo>
                  <a:pt x="494906" y="144627"/>
                </a:lnTo>
                <a:lnTo>
                  <a:pt x="494906" y="363054"/>
                </a:lnTo>
                <a:lnTo>
                  <a:pt x="501129" y="424053"/>
                </a:lnTo>
                <a:lnTo>
                  <a:pt x="519036" y="469773"/>
                </a:lnTo>
                <a:lnTo>
                  <a:pt x="546722" y="501230"/>
                </a:lnTo>
                <a:lnTo>
                  <a:pt x="582790" y="519366"/>
                </a:lnTo>
                <a:lnTo>
                  <a:pt x="625589" y="525195"/>
                </a:lnTo>
                <a:lnTo>
                  <a:pt x="669899" y="518883"/>
                </a:lnTo>
                <a:lnTo>
                  <a:pt x="703427" y="503313"/>
                </a:lnTo>
                <a:lnTo>
                  <a:pt x="727049" y="483450"/>
                </a:lnTo>
                <a:lnTo>
                  <a:pt x="741908" y="464299"/>
                </a:lnTo>
                <a:lnTo>
                  <a:pt x="744194" y="464299"/>
                </a:lnTo>
                <a:lnTo>
                  <a:pt x="749528" y="516801"/>
                </a:lnTo>
                <a:lnTo>
                  <a:pt x="849858" y="516801"/>
                </a:lnTo>
                <a:close/>
              </a:path>
              <a:path w="1618615" h="525779">
                <a:moveTo>
                  <a:pt x="1277581" y="327279"/>
                </a:moveTo>
                <a:lnTo>
                  <a:pt x="1273136" y="281241"/>
                </a:lnTo>
                <a:lnTo>
                  <a:pt x="1259928" y="240157"/>
                </a:lnTo>
                <a:lnTo>
                  <a:pt x="1247355" y="219214"/>
                </a:lnTo>
                <a:lnTo>
                  <a:pt x="1238846" y="204800"/>
                </a:lnTo>
                <a:lnTo>
                  <a:pt x="1210411" y="175971"/>
                </a:lnTo>
                <a:lnTo>
                  <a:pt x="1175346" y="154406"/>
                </a:lnTo>
                <a:lnTo>
                  <a:pt x="1157566" y="148501"/>
                </a:lnTo>
                <a:lnTo>
                  <a:pt x="1157490" y="329628"/>
                </a:lnTo>
                <a:lnTo>
                  <a:pt x="1157490" y="331101"/>
                </a:lnTo>
                <a:lnTo>
                  <a:pt x="1152474" y="375132"/>
                </a:lnTo>
                <a:lnTo>
                  <a:pt x="1137754" y="411391"/>
                </a:lnTo>
                <a:lnTo>
                  <a:pt x="1083792" y="442214"/>
                </a:lnTo>
                <a:lnTo>
                  <a:pt x="1083030" y="442214"/>
                </a:lnTo>
                <a:lnTo>
                  <a:pt x="1050772" y="433730"/>
                </a:lnTo>
                <a:lnTo>
                  <a:pt x="1027150" y="410349"/>
                </a:lnTo>
                <a:lnTo>
                  <a:pt x="1012672" y="375132"/>
                </a:lnTo>
                <a:lnTo>
                  <a:pt x="1007719" y="331101"/>
                </a:lnTo>
                <a:lnTo>
                  <a:pt x="1011910" y="290182"/>
                </a:lnTo>
                <a:lnTo>
                  <a:pt x="1025245" y="254330"/>
                </a:lnTo>
                <a:lnTo>
                  <a:pt x="1048867" y="228892"/>
                </a:lnTo>
                <a:lnTo>
                  <a:pt x="1083792" y="219214"/>
                </a:lnTo>
                <a:lnTo>
                  <a:pt x="1117447" y="228892"/>
                </a:lnTo>
                <a:lnTo>
                  <a:pt x="1140333" y="254330"/>
                </a:lnTo>
                <a:lnTo>
                  <a:pt x="1153375" y="289864"/>
                </a:lnTo>
                <a:lnTo>
                  <a:pt x="1157490" y="329628"/>
                </a:lnTo>
                <a:lnTo>
                  <a:pt x="1157490" y="148488"/>
                </a:lnTo>
                <a:lnTo>
                  <a:pt x="1134465" y="140893"/>
                </a:lnTo>
                <a:lnTo>
                  <a:pt x="1088364" y="136232"/>
                </a:lnTo>
                <a:lnTo>
                  <a:pt x="1038796" y="140893"/>
                </a:lnTo>
                <a:lnTo>
                  <a:pt x="1039266" y="140893"/>
                </a:lnTo>
                <a:lnTo>
                  <a:pt x="995883" y="154406"/>
                </a:lnTo>
                <a:lnTo>
                  <a:pt x="996073" y="154406"/>
                </a:lnTo>
                <a:lnTo>
                  <a:pt x="959586" y="175971"/>
                </a:lnTo>
                <a:lnTo>
                  <a:pt x="929741" y="205282"/>
                </a:lnTo>
                <a:lnTo>
                  <a:pt x="907643" y="241693"/>
                </a:lnTo>
                <a:lnTo>
                  <a:pt x="893927" y="284568"/>
                </a:lnTo>
                <a:lnTo>
                  <a:pt x="889228" y="333362"/>
                </a:lnTo>
                <a:lnTo>
                  <a:pt x="894080" y="380911"/>
                </a:lnTo>
                <a:lnTo>
                  <a:pt x="908278" y="423976"/>
                </a:lnTo>
                <a:lnTo>
                  <a:pt x="930630" y="459346"/>
                </a:lnTo>
                <a:lnTo>
                  <a:pt x="960221" y="487565"/>
                </a:lnTo>
                <a:lnTo>
                  <a:pt x="995781" y="508203"/>
                </a:lnTo>
                <a:lnTo>
                  <a:pt x="1036675" y="520877"/>
                </a:lnTo>
                <a:lnTo>
                  <a:pt x="1081506" y="525195"/>
                </a:lnTo>
                <a:lnTo>
                  <a:pt x="1082268" y="525195"/>
                </a:lnTo>
                <a:lnTo>
                  <a:pt x="1124178" y="521335"/>
                </a:lnTo>
                <a:lnTo>
                  <a:pt x="1164170" y="509651"/>
                </a:lnTo>
                <a:lnTo>
                  <a:pt x="1200619" y="489953"/>
                </a:lnTo>
                <a:lnTo>
                  <a:pt x="1231861" y="462064"/>
                </a:lnTo>
                <a:lnTo>
                  <a:pt x="1256245" y="425754"/>
                </a:lnTo>
                <a:lnTo>
                  <a:pt x="1271993" y="380911"/>
                </a:lnTo>
                <a:lnTo>
                  <a:pt x="1277581" y="327279"/>
                </a:lnTo>
                <a:close/>
              </a:path>
              <a:path w="1618615" h="525779">
                <a:moveTo>
                  <a:pt x="1618195" y="150710"/>
                </a:moveTo>
                <a:lnTo>
                  <a:pt x="1598510" y="144602"/>
                </a:lnTo>
                <a:lnTo>
                  <a:pt x="1576412" y="140030"/>
                </a:lnTo>
                <a:lnTo>
                  <a:pt x="1553298" y="137198"/>
                </a:lnTo>
                <a:lnTo>
                  <a:pt x="1530057" y="136220"/>
                </a:lnTo>
                <a:lnTo>
                  <a:pt x="1474685" y="141465"/>
                </a:lnTo>
                <a:lnTo>
                  <a:pt x="1427441" y="156425"/>
                </a:lnTo>
                <a:lnTo>
                  <a:pt x="1388198" y="179844"/>
                </a:lnTo>
                <a:lnTo>
                  <a:pt x="1357464" y="210553"/>
                </a:lnTo>
                <a:lnTo>
                  <a:pt x="1335239" y="247307"/>
                </a:lnTo>
                <a:lnTo>
                  <a:pt x="1321777" y="288912"/>
                </a:lnTo>
                <a:lnTo>
                  <a:pt x="1317205" y="334149"/>
                </a:lnTo>
                <a:lnTo>
                  <a:pt x="1321777" y="381635"/>
                </a:lnTo>
                <a:lnTo>
                  <a:pt x="1335239" y="423278"/>
                </a:lnTo>
                <a:lnTo>
                  <a:pt x="1356956" y="458546"/>
                </a:lnTo>
                <a:lnTo>
                  <a:pt x="1386166" y="486918"/>
                </a:lnTo>
                <a:lnTo>
                  <a:pt x="1422615" y="507822"/>
                </a:lnTo>
                <a:lnTo>
                  <a:pt x="1465414" y="520763"/>
                </a:lnTo>
                <a:lnTo>
                  <a:pt x="1514055" y="525195"/>
                </a:lnTo>
                <a:lnTo>
                  <a:pt x="1545932" y="523862"/>
                </a:lnTo>
                <a:lnTo>
                  <a:pt x="1598891" y="514616"/>
                </a:lnTo>
                <a:lnTo>
                  <a:pt x="1603844" y="422427"/>
                </a:lnTo>
                <a:lnTo>
                  <a:pt x="1590001" y="427558"/>
                </a:lnTo>
                <a:lnTo>
                  <a:pt x="1574507" y="431380"/>
                </a:lnTo>
                <a:lnTo>
                  <a:pt x="1557108" y="433781"/>
                </a:lnTo>
                <a:lnTo>
                  <a:pt x="1537677" y="434606"/>
                </a:lnTo>
                <a:lnTo>
                  <a:pt x="1498053" y="427837"/>
                </a:lnTo>
                <a:lnTo>
                  <a:pt x="1465668" y="407784"/>
                </a:lnTo>
                <a:lnTo>
                  <a:pt x="1443824" y="374891"/>
                </a:lnTo>
                <a:lnTo>
                  <a:pt x="1435823" y="329590"/>
                </a:lnTo>
                <a:lnTo>
                  <a:pt x="1442427" y="287604"/>
                </a:lnTo>
                <a:lnTo>
                  <a:pt x="1462493" y="254609"/>
                </a:lnTo>
                <a:lnTo>
                  <a:pt x="1494116" y="233032"/>
                </a:lnTo>
                <a:lnTo>
                  <a:pt x="1535391" y="225298"/>
                </a:lnTo>
                <a:lnTo>
                  <a:pt x="1556346" y="226225"/>
                </a:lnTo>
                <a:lnTo>
                  <a:pt x="1573999" y="228727"/>
                </a:lnTo>
                <a:lnTo>
                  <a:pt x="1588477" y="232371"/>
                </a:lnTo>
                <a:lnTo>
                  <a:pt x="1600034" y="236715"/>
                </a:lnTo>
                <a:lnTo>
                  <a:pt x="1618195" y="150710"/>
                </a:lnTo>
                <a:close/>
              </a:path>
            </a:pathLst>
          </a:custGeom>
          <a:solidFill>
            <a:srgbClr val="FDB6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3">
            <a:extLst>
              <a:ext uri="{FF2B5EF4-FFF2-40B4-BE49-F238E27FC236}">
                <a16:creationId xmlns:a16="http://schemas.microsoft.com/office/drawing/2014/main" id="{6518AE32-EF0F-4F99-210B-F705C02C5791}"/>
              </a:ext>
            </a:extLst>
          </p:cNvPr>
          <p:cNvSpPr/>
          <p:nvPr/>
        </p:nvSpPr>
        <p:spPr>
          <a:xfrm>
            <a:off x="11068865" y="6224760"/>
            <a:ext cx="388620" cy="483234"/>
          </a:xfrm>
          <a:custGeom>
            <a:avLst/>
            <a:gdLst/>
            <a:ahLst/>
            <a:cxnLst/>
            <a:rect l="l" t="t" r="r" b="b"/>
            <a:pathLst>
              <a:path w="388619" h="483234">
                <a:moveTo>
                  <a:pt x="387756" y="21"/>
                </a:moveTo>
                <a:lnTo>
                  <a:pt x="280571" y="21"/>
                </a:lnTo>
                <a:lnTo>
                  <a:pt x="280571" y="273635"/>
                </a:lnTo>
                <a:lnTo>
                  <a:pt x="274856" y="328320"/>
                </a:lnTo>
                <a:lnTo>
                  <a:pt x="258093" y="366813"/>
                </a:lnTo>
                <a:lnTo>
                  <a:pt x="230661" y="389558"/>
                </a:lnTo>
                <a:lnTo>
                  <a:pt x="193324" y="397038"/>
                </a:lnTo>
                <a:lnTo>
                  <a:pt x="156622" y="389266"/>
                </a:lnTo>
                <a:lnTo>
                  <a:pt x="129699" y="366013"/>
                </a:lnTo>
                <a:lnTo>
                  <a:pt x="113062" y="327431"/>
                </a:lnTo>
                <a:lnTo>
                  <a:pt x="107347" y="273635"/>
                </a:lnTo>
                <a:lnTo>
                  <a:pt x="107347" y="21"/>
                </a:lnTo>
                <a:lnTo>
                  <a:pt x="-472" y="21"/>
                </a:lnTo>
                <a:lnTo>
                  <a:pt x="-472" y="265190"/>
                </a:lnTo>
                <a:lnTo>
                  <a:pt x="3718" y="325006"/>
                </a:lnTo>
                <a:lnTo>
                  <a:pt x="16291" y="374699"/>
                </a:lnTo>
                <a:lnTo>
                  <a:pt x="36737" y="414614"/>
                </a:lnTo>
                <a:lnTo>
                  <a:pt x="64550" y="445081"/>
                </a:lnTo>
                <a:lnTo>
                  <a:pt x="99728" y="466429"/>
                </a:lnTo>
                <a:lnTo>
                  <a:pt x="141510" y="478989"/>
                </a:lnTo>
                <a:lnTo>
                  <a:pt x="189768" y="483104"/>
                </a:lnTo>
                <a:lnTo>
                  <a:pt x="239805" y="478799"/>
                </a:lnTo>
                <a:lnTo>
                  <a:pt x="283238" y="465832"/>
                </a:lnTo>
                <a:lnTo>
                  <a:pt x="319686" y="444065"/>
                </a:lnTo>
                <a:lnTo>
                  <a:pt x="348768" y="413383"/>
                </a:lnTo>
                <a:lnTo>
                  <a:pt x="370104" y="373658"/>
                </a:lnTo>
                <a:lnTo>
                  <a:pt x="383184" y="324764"/>
                </a:lnTo>
                <a:lnTo>
                  <a:pt x="387756" y="266587"/>
                </a:lnTo>
                <a:lnTo>
                  <a:pt x="387756" y="2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6" name="object 4">
            <a:extLst>
              <a:ext uri="{FF2B5EF4-FFF2-40B4-BE49-F238E27FC236}">
                <a16:creationId xmlns:a16="http://schemas.microsoft.com/office/drawing/2014/main" id="{013B0540-221B-8C66-9E7B-43EE0B8B648B}"/>
              </a:ext>
            </a:extLst>
          </p:cNvPr>
          <p:cNvGrpSpPr/>
          <p:nvPr/>
        </p:nvGrpSpPr>
        <p:grpSpPr>
          <a:xfrm>
            <a:off x="11510824" y="6110485"/>
            <a:ext cx="446405" cy="596900"/>
            <a:chOff x="19130771" y="10355319"/>
            <a:chExt cx="446405" cy="596900"/>
          </a:xfrm>
        </p:grpSpPr>
        <p:sp>
          <p:nvSpPr>
            <p:cNvPr id="7" name="object 5">
              <a:extLst>
                <a:ext uri="{FF2B5EF4-FFF2-40B4-BE49-F238E27FC236}">
                  <a16:creationId xmlns:a16="http://schemas.microsoft.com/office/drawing/2014/main" id="{778AB1DD-3EAD-EFB6-9E28-A0C91C62723F}"/>
                </a:ext>
              </a:extLst>
            </p:cNvPr>
            <p:cNvSpPr/>
            <p:nvPr/>
          </p:nvSpPr>
          <p:spPr>
            <a:xfrm>
              <a:off x="19130771" y="10461974"/>
              <a:ext cx="376555" cy="490220"/>
            </a:xfrm>
            <a:custGeom>
              <a:avLst/>
              <a:gdLst/>
              <a:ahLst/>
              <a:cxnLst/>
              <a:rect l="l" t="t" r="r" b="b"/>
              <a:pathLst>
                <a:path w="376555" h="490220">
                  <a:moveTo>
                    <a:pt x="258716" y="21"/>
                  </a:moveTo>
                  <a:lnTo>
                    <a:pt x="211982" y="3336"/>
                  </a:lnTo>
                  <a:lnTo>
                    <a:pt x="168041" y="13178"/>
                  </a:lnTo>
                  <a:lnTo>
                    <a:pt x="127656" y="29395"/>
                  </a:lnTo>
                  <a:lnTo>
                    <a:pt x="91462" y="51848"/>
                  </a:lnTo>
                  <a:lnTo>
                    <a:pt x="60347" y="80359"/>
                  </a:lnTo>
                  <a:lnTo>
                    <a:pt x="34821" y="114813"/>
                  </a:lnTo>
                  <a:lnTo>
                    <a:pt x="15645" y="155033"/>
                  </a:lnTo>
                  <a:lnTo>
                    <a:pt x="3707" y="200866"/>
                  </a:lnTo>
                  <a:lnTo>
                    <a:pt x="-483" y="252186"/>
                  </a:lnTo>
                  <a:lnTo>
                    <a:pt x="2691" y="295949"/>
                  </a:lnTo>
                  <a:lnTo>
                    <a:pt x="11962" y="336740"/>
                  </a:lnTo>
                  <a:lnTo>
                    <a:pt x="27455" y="373976"/>
                  </a:lnTo>
                  <a:lnTo>
                    <a:pt x="49172" y="407084"/>
                  </a:lnTo>
                  <a:lnTo>
                    <a:pt x="76857" y="435468"/>
                  </a:lnTo>
                  <a:lnTo>
                    <a:pt x="110765" y="458556"/>
                  </a:lnTo>
                  <a:lnTo>
                    <a:pt x="150515" y="475764"/>
                  </a:lnTo>
                  <a:lnTo>
                    <a:pt x="196361" y="486508"/>
                  </a:lnTo>
                  <a:lnTo>
                    <a:pt x="248049" y="490229"/>
                  </a:lnTo>
                  <a:lnTo>
                    <a:pt x="288688" y="488311"/>
                  </a:lnTo>
                  <a:lnTo>
                    <a:pt x="323231" y="483358"/>
                  </a:lnTo>
                  <a:lnTo>
                    <a:pt x="350662" y="476551"/>
                  </a:lnTo>
                  <a:lnTo>
                    <a:pt x="369966" y="469084"/>
                  </a:lnTo>
                  <a:lnTo>
                    <a:pt x="353710" y="385291"/>
                  </a:lnTo>
                  <a:lnTo>
                    <a:pt x="335423" y="391273"/>
                  </a:lnTo>
                  <a:lnTo>
                    <a:pt x="313198" y="396187"/>
                  </a:lnTo>
                  <a:lnTo>
                    <a:pt x="288942" y="399527"/>
                  </a:lnTo>
                  <a:lnTo>
                    <a:pt x="264304" y="400747"/>
                  </a:lnTo>
                  <a:lnTo>
                    <a:pt x="211728" y="393762"/>
                  </a:lnTo>
                  <a:lnTo>
                    <a:pt x="169438" y="373595"/>
                  </a:lnTo>
                  <a:lnTo>
                    <a:pt x="138197" y="341426"/>
                  </a:lnTo>
                  <a:lnTo>
                    <a:pt x="118893" y="298451"/>
                  </a:lnTo>
                  <a:lnTo>
                    <a:pt x="112162" y="245823"/>
                  </a:lnTo>
                  <a:lnTo>
                    <a:pt x="119782" y="188929"/>
                  </a:lnTo>
                  <a:lnTo>
                    <a:pt x="140990" y="144912"/>
                  </a:lnTo>
                  <a:lnTo>
                    <a:pt x="173502" y="113632"/>
                  </a:lnTo>
                  <a:lnTo>
                    <a:pt x="215157" y="94964"/>
                  </a:lnTo>
                  <a:lnTo>
                    <a:pt x="263669" y="88766"/>
                  </a:lnTo>
                  <a:lnTo>
                    <a:pt x="290720" y="90227"/>
                  </a:lnTo>
                  <a:lnTo>
                    <a:pt x="314722" y="94138"/>
                  </a:lnTo>
                  <a:lnTo>
                    <a:pt x="335804" y="99764"/>
                  </a:lnTo>
                  <a:lnTo>
                    <a:pt x="353710" y="106368"/>
                  </a:lnTo>
                  <a:lnTo>
                    <a:pt x="375554" y="21179"/>
                  </a:lnTo>
                  <a:lnTo>
                    <a:pt x="357139" y="13698"/>
                  </a:lnTo>
                  <a:lnTo>
                    <a:pt x="330851" y="6891"/>
                  </a:lnTo>
                  <a:lnTo>
                    <a:pt x="297704" y="1939"/>
                  </a:lnTo>
                  <a:lnTo>
                    <a:pt x="258716" y="2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6">
              <a:extLst>
                <a:ext uri="{FF2B5EF4-FFF2-40B4-BE49-F238E27FC236}">
                  <a16:creationId xmlns:a16="http://schemas.microsoft.com/office/drawing/2014/main" id="{3CC7F333-A906-79E4-B5F2-368987061024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9464035" y="10355319"/>
              <a:ext cx="112771" cy="111247"/>
            </a:xfrm>
            <a:prstGeom prst="rect">
              <a:avLst/>
            </a:prstGeom>
          </p:spPr>
        </p:pic>
      </p:grpSp>
      <p:sp>
        <p:nvSpPr>
          <p:cNvPr id="9" name="object 3">
            <a:extLst>
              <a:ext uri="{FF2B5EF4-FFF2-40B4-BE49-F238E27FC236}">
                <a16:creationId xmlns:a16="http://schemas.microsoft.com/office/drawing/2014/main" id="{A10F00E4-7F94-2396-1277-57755113D734}"/>
              </a:ext>
            </a:extLst>
          </p:cNvPr>
          <p:cNvSpPr txBox="1"/>
          <p:nvPr/>
        </p:nvSpPr>
        <p:spPr>
          <a:xfrm>
            <a:off x="428" y="502565"/>
            <a:ext cx="6370555" cy="720000"/>
          </a:xfrm>
          <a:prstGeom prst="rect">
            <a:avLst/>
          </a:prstGeom>
          <a:solidFill>
            <a:srgbClr val="FFC000"/>
          </a:solidFill>
        </p:spPr>
        <p:txBody>
          <a:bodyPr vert="horz" wrap="square" lIns="0" tIns="111669" rIns="0" bIns="0" rtlCol="0">
            <a:spAutoFit/>
          </a:bodyPr>
          <a:lstStyle/>
          <a:p>
            <a:pPr marR="140548" lvl="1">
              <a:spcBef>
                <a:spcPts val="879"/>
              </a:spcBef>
            </a:pPr>
            <a:r>
              <a:rPr lang="es-ES" sz="2911" b="1" spc="-6" dirty="0">
                <a:latin typeface="Arial"/>
                <a:cs typeface="Arial"/>
              </a:rPr>
              <a:t>¿Qué es JWT y para qué sirve?</a:t>
            </a:r>
            <a:endParaRPr sz="2911" b="1" spc="-6" dirty="0">
              <a:latin typeface="Arial"/>
              <a:cs typeface="Arial"/>
            </a:endParaRPr>
          </a:p>
        </p:txBody>
      </p:sp>
      <p:pic>
        <p:nvPicPr>
          <p:cNvPr id="1026" name="Picture 2" descr="What are JSON Web Tokens (JWTs)? - by Ashish Pratap Singh">
            <a:extLst>
              <a:ext uri="{FF2B5EF4-FFF2-40B4-BE49-F238E27FC236}">
                <a16:creationId xmlns:a16="http://schemas.microsoft.com/office/drawing/2014/main" id="{A7D5A65A-F554-FE85-A949-A6EE04B20375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81901" y="1332038"/>
            <a:ext cx="7525926" cy="53743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043638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E0BC239-7896-2EC6-488D-B73C79F18D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119108" cy="4351338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s-CL" b="1" dirty="0"/>
              <a:t>Un JWT tiene 3 partes:</a:t>
            </a:r>
          </a:p>
          <a:p>
            <a:pPr marL="0" indent="0">
              <a:buNone/>
            </a:pPr>
            <a:br>
              <a:rPr lang="es-CL" dirty="0"/>
            </a:br>
            <a:r>
              <a:rPr lang="es-CL" dirty="0" err="1"/>
              <a:t>Header.Payload.Signature</a:t>
            </a:r>
            <a:endParaRPr lang="es-CL" dirty="0"/>
          </a:p>
          <a:p>
            <a:pPr marL="0" indent="0">
              <a:buNone/>
            </a:pPr>
            <a:endParaRPr lang="es-CL" dirty="0"/>
          </a:p>
          <a:p>
            <a:r>
              <a:rPr lang="es-CL" dirty="0" err="1"/>
              <a:t>Header</a:t>
            </a:r>
            <a:r>
              <a:rPr lang="es-CL" dirty="0"/>
              <a:t>: Define el tipo de token y el algoritmo de firma</a:t>
            </a:r>
          </a:p>
          <a:p>
            <a:r>
              <a:rPr lang="es-CL" dirty="0" err="1"/>
              <a:t>Payload</a:t>
            </a:r>
            <a:r>
              <a:rPr lang="es-CL" dirty="0"/>
              <a:t>: Contiene </a:t>
            </a:r>
            <a:r>
              <a:rPr lang="es-CL" dirty="0" err="1"/>
              <a:t>claims</a:t>
            </a:r>
            <a:r>
              <a:rPr lang="es-CL" dirty="0"/>
              <a:t>, por ejemplo:</a:t>
            </a:r>
          </a:p>
          <a:p>
            <a:pPr lvl="1"/>
            <a:r>
              <a:rPr lang="es-CL" dirty="0"/>
              <a:t>sub: usuario</a:t>
            </a:r>
          </a:p>
          <a:p>
            <a:pPr lvl="1"/>
            <a:r>
              <a:rPr lang="es-CL" dirty="0"/>
              <a:t>role: rol</a:t>
            </a:r>
          </a:p>
          <a:p>
            <a:pPr lvl="1"/>
            <a:r>
              <a:rPr lang="es-CL" dirty="0" err="1"/>
              <a:t>exp</a:t>
            </a:r>
            <a:r>
              <a:rPr lang="es-CL" dirty="0"/>
              <a:t>: expiración</a:t>
            </a:r>
          </a:p>
          <a:p>
            <a:pPr lvl="1"/>
            <a:r>
              <a:rPr lang="es-CL" dirty="0" err="1"/>
              <a:t>iat</a:t>
            </a:r>
            <a:r>
              <a:rPr lang="es-CL" dirty="0"/>
              <a:t>: fecha de emisión</a:t>
            </a:r>
          </a:p>
          <a:p>
            <a:r>
              <a:rPr lang="es-CL" dirty="0" err="1"/>
              <a:t>Signature</a:t>
            </a:r>
            <a:r>
              <a:rPr lang="es-CL" dirty="0"/>
              <a:t>: Permite verificar que el token no fue alterado</a:t>
            </a:r>
          </a:p>
          <a:p>
            <a:pPr marL="0" indent="0">
              <a:buNone/>
            </a:pPr>
            <a:endParaRPr lang="es-CL" dirty="0"/>
          </a:p>
          <a:p>
            <a:pPr marL="0" indent="0">
              <a:buNone/>
            </a:pPr>
            <a:r>
              <a:rPr lang="es-CL" dirty="0"/>
              <a:t>Ejemplo visual:</a:t>
            </a:r>
            <a:br>
              <a:rPr lang="es-CL" dirty="0"/>
            </a:br>
            <a:r>
              <a:rPr lang="es-CL" dirty="0" err="1"/>
              <a:t>xxxxx.yyyyy.zzzzz</a:t>
            </a:r>
            <a:br>
              <a:rPr lang="es-CL" dirty="0"/>
            </a:br>
            <a:endParaRPr lang="es-ES_tradnl" dirty="0"/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94730FD9-9BDB-4FCC-278D-6BFEEF1BDBEB}"/>
              </a:ext>
            </a:extLst>
          </p:cNvPr>
          <p:cNvSpPr/>
          <p:nvPr/>
        </p:nvSpPr>
        <p:spPr>
          <a:xfrm>
            <a:off x="9338693" y="6180589"/>
            <a:ext cx="1618615" cy="525780"/>
          </a:xfrm>
          <a:custGeom>
            <a:avLst/>
            <a:gdLst/>
            <a:ahLst/>
            <a:cxnLst/>
            <a:rect l="l" t="t" r="r" b="b"/>
            <a:pathLst>
              <a:path w="1618615" h="525779">
                <a:moveTo>
                  <a:pt x="452996" y="248158"/>
                </a:moveTo>
                <a:lnTo>
                  <a:pt x="449186" y="196608"/>
                </a:lnTo>
                <a:lnTo>
                  <a:pt x="437883" y="151485"/>
                </a:lnTo>
                <a:lnTo>
                  <a:pt x="419849" y="112661"/>
                </a:lnTo>
                <a:lnTo>
                  <a:pt x="395846" y="79959"/>
                </a:lnTo>
                <a:lnTo>
                  <a:pt x="366382" y="53276"/>
                </a:lnTo>
                <a:lnTo>
                  <a:pt x="330695" y="31584"/>
                </a:lnTo>
                <a:lnTo>
                  <a:pt x="330695" y="251955"/>
                </a:lnTo>
                <a:lnTo>
                  <a:pt x="325107" y="307860"/>
                </a:lnTo>
                <a:lnTo>
                  <a:pt x="308851" y="353148"/>
                </a:lnTo>
                <a:lnTo>
                  <a:pt x="282816" y="387997"/>
                </a:lnTo>
                <a:lnTo>
                  <a:pt x="248145" y="412572"/>
                </a:lnTo>
                <a:lnTo>
                  <a:pt x="205473" y="427037"/>
                </a:lnTo>
                <a:lnTo>
                  <a:pt x="155816" y="431584"/>
                </a:lnTo>
                <a:lnTo>
                  <a:pt x="146786" y="431584"/>
                </a:lnTo>
                <a:lnTo>
                  <a:pt x="134226" y="431292"/>
                </a:lnTo>
                <a:lnTo>
                  <a:pt x="124079" y="430606"/>
                </a:lnTo>
                <a:lnTo>
                  <a:pt x="115570" y="429272"/>
                </a:lnTo>
                <a:lnTo>
                  <a:pt x="115570" y="93611"/>
                </a:lnTo>
                <a:lnTo>
                  <a:pt x="124333" y="91935"/>
                </a:lnTo>
                <a:lnTo>
                  <a:pt x="136004" y="90449"/>
                </a:lnTo>
                <a:lnTo>
                  <a:pt x="150609" y="89420"/>
                </a:lnTo>
                <a:lnTo>
                  <a:pt x="168008" y="89027"/>
                </a:lnTo>
                <a:lnTo>
                  <a:pt x="214871" y="93433"/>
                </a:lnTo>
                <a:lnTo>
                  <a:pt x="254749" y="106743"/>
                </a:lnTo>
                <a:lnTo>
                  <a:pt x="287007" y="129095"/>
                </a:lnTo>
                <a:lnTo>
                  <a:pt x="310756" y="160655"/>
                </a:lnTo>
                <a:lnTo>
                  <a:pt x="325615" y="201561"/>
                </a:lnTo>
                <a:lnTo>
                  <a:pt x="330695" y="251955"/>
                </a:lnTo>
                <a:lnTo>
                  <a:pt x="330695" y="31584"/>
                </a:lnTo>
                <a:lnTo>
                  <a:pt x="326758" y="29210"/>
                </a:lnTo>
                <a:lnTo>
                  <a:pt x="279641" y="12649"/>
                </a:lnTo>
                <a:lnTo>
                  <a:pt x="223253" y="3073"/>
                </a:lnTo>
                <a:lnTo>
                  <a:pt x="155816" y="0"/>
                </a:lnTo>
                <a:lnTo>
                  <a:pt x="113030" y="711"/>
                </a:lnTo>
                <a:lnTo>
                  <a:pt x="72263" y="2857"/>
                </a:lnTo>
                <a:lnTo>
                  <a:pt x="34163" y="6413"/>
                </a:lnTo>
                <a:lnTo>
                  <a:pt x="0" y="11430"/>
                </a:lnTo>
                <a:lnTo>
                  <a:pt x="0" y="514540"/>
                </a:lnTo>
                <a:lnTo>
                  <a:pt x="24003" y="517334"/>
                </a:lnTo>
                <a:lnTo>
                  <a:pt x="53721" y="519760"/>
                </a:lnTo>
                <a:lnTo>
                  <a:pt x="89535" y="521487"/>
                </a:lnTo>
                <a:lnTo>
                  <a:pt x="131432" y="522147"/>
                </a:lnTo>
                <a:lnTo>
                  <a:pt x="189471" y="519569"/>
                </a:lnTo>
                <a:lnTo>
                  <a:pt x="242811" y="511771"/>
                </a:lnTo>
                <a:lnTo>
                  <a:pt x="290817" y="498627"/>
                </a:lnTo>
                <a:lnTo>
                  <a:pt x="332854" y="480072"/>
                </a:lnTo>
                <a:lnTo>
                  <a:pt x="368668" y="455942"/>
                </a:lnTo>
                <a:lnTo>
                  <a:pt x="396100" y="427685"/>
                </a:lnTo>
                <a:lnTo>
                  <a:pt x="419341" y="392976"/>
                </a:lnTo>
                <a:lnTo>
                  <a:pt x="437375" y="351650"/>
                </a:lnTo>
                <a:lnTo>
                  <a:pt x="448932" y="303453"/>
                </a:lnTo>
                <a:lnTo>
                  <a:pt x="452996" y="248158"/>
                </a:lnTo>
                <a:close/>
              </a:path>
              <a:path w="1618615" h="525779">
                <a:moveTo>
                  <a:pt x="849858" y="516801"/>
                </a:moveTo>
                <a:lnTo>
                  <a:pt x="848715" y="491820"/>
                </a:lnTo>
                <a:lnTo>
                  <a:pt x="847699" y="463626"/>
                </a:lnTo>
                <a:lnTo>
                  <a:pt x="847064" y="432142"/>
                </a:lnTo>
                <a:lnTo>
                  <a:pt x="846810" y="397306"/>
                </a:lnTo>
                <a:lnTo>
                  <a:pt x="846810" y="144627"/>
                </a:lnTo>
                <a:lnTo>
                  <a:pt x="731240" y="144627"/>
                </a:lnTo>
                <a:lnTo>
                  <a:pt x="731240" y="366115"/>
                </a:lnTo>
                <a:lnTo>
                  <a:pt x="730986" y="373253"/>
                </a:lnTo>
                <a:lnTo>
                  <a:pt x="707237" y="418261"/>
                </a:lnTo>
                <a:lnTo>
                  <a:pt x="668883" y="431584"/>
                </a:lnTo>
                <a:lnTo>
                  <a:pt x="642467" y="425615"/>
                </a:lnTo>
                <a:lnTo>
                  <a:pt x="624319" y="408457"/>
                </a:lnTo>
                <a:lnTo>
                  <a:pt x="613778" y="381165"/>
                </a:lnTo>
                <a:lnTo>
                  <a:pt x="610349" y="344817"/>
                </a:lnTo>
                <a:lnTo>
                  <a:pt x="610349" y="144627"/>
                </a:lnTo>
                <a:lnTo>
                  <a:pt x="494906" y="144627"/>
                </a:lnTo>
                <a:lnTo>
                  <a:pt x="494906" y="363054"/>
                </a:lnTo>
                <a:lnTo>
                  <a:pt x="501129" y="424053"/>
                </a:lnTo>
                <a:lnTo>
                  <a:pt x="519036" y="469773"/>
                </a:lnTo>
                <a:lnTo>
                  <a:pt x="546722" y="501230"/>
                </a:lnTo>
                <a:lnTo>
                  <a:pt x="582790" y="519366"/>
                </a:lnTo>
                <a:lnTo>
                  <a:pt x="625589" y="525195"/>
                </a:lnTo>
                <a:lnTo>
                  <a:pt x="669899" y="518883"/>
                </a:lnTo>
                <a:lnTo>
                  <a:pt x="703427" y="503313"/>
                </a:lnTo>
                <a:lnTo>
                  <a:pt x="727049" y="483450"/>
                </a:lnTo>
                <a:lnTo>
                  <a:pt x="741908" y="464299"/>
                </a:lnTo>
                <a:lnTo>
                  <a:pt x="744194" y="464299"/>
                </a:lnTo>
                <a:lnTo>
                  <a:pt x="749528" y="516801"/>
                </a:lnTo>
                <a:lnTo>
                  <a:pt x="849858" y="516801"/>
                </a:lnTo>
                <a:close/>
              </a:path>
              <a:path w="1618615" h="525779">
                <a:moveTo>
                  <a:pt x="1277581" y="327279"/>
                </a:moveTo>
                <a:lnTo>
                  <a:pt x="1273136" y="281241"/>
                </a:lnTo>
                <a:lnTo>
                  <a:pt x="1259928" y="240157"/>
                </a:lnTo>
                <a:lnTo>
                  <a:pt x="1247355" y="219214"/>
                </a:lnTo>
                <a:lnTo>
                  <a:pt x="1238846" y="204800"/>
                </a:lnTo>
                <a:lnTo>
                  <a:pt x="1210411" y="175971"/>
                </a:lnTo>
                <a:lnTo>
                  <a:pt x="1175346" y="154406"/>
                </a:lnTo>
                <a:lnTo>
                  <a:pt x="1157566" y="148501"/>
                </a:lnTo>
                <a:lnTo>
                  <a:pt x="1157490" y="329628"/>
                </a:lnTo>
                <a:lnTo>
                  <a:pt x="1157490" y="331101"/>
                </a:lnTo>
                <a:lnTo>
                  <a:pt x="1152474" y="375132"/>
                </a:lnTo>
                <a:lnTo>
                  <a:pt x="1137754" y="411391"/>
                </a:lnTo>
                <a:lnTo>
                  <a:pt x="1083792" y="442214"/>
                </a:lnTo>
                <a:lnTo>
                  <a:pt x="1083030" y="442214"/>
                </a:lnTo>
                <a:lnTo>
                  <a:pt x="1050772" y="433730"/>
                </a:lnTo>
                <a:lnTo>
                  <a:pt x="1027150" y="410349"/>
                </a:lnTo>
                <a:lnTo>
                  <a:pt x="1012672" y="375132"/>
                </a:lnTo>
                <a:lnTo>
                  <a:pt x="1007719" y="331101"/>
                </a:lnTo>
                <a:lnTo>
                  <a:pt x="1011910" y="290182"/>
                </a:lnTo>
                <a:lnTo>
                  <a:pt x="1025245" y="254330"/>
                </a:lnTo>
                <a:lnTo>
                  <a:pt x="1048867" y="228892"/>
                </a:lnTo>
                <a:lnTo>
                  <a:pt x="1083792" y="219214"/>
                </a:lnTo>
                <a:lnTo>
                  <a:pt x="1117447" y="228892"/>
                </a:lnTo>
                <a:lnTo>
                  <a:pt x="1140333" y="254330"/>
                </a:lnTo>
                <a:lnTo>
                  <a:pt x="1153375" y="289864"/>
                </a:lnTo>
                <a:lnTo>
                  <a:pt x="1157490" y="329628"/>
                </a:lnTo>
                <a:lnTo>
                  <a:pt x="1157490" y="148488"/>
                </a:lnTo>
                <a:lnTo>
                  <a:pt x="1134465" y="140893"/>
                </a:lnTo>
                <a:lnTo>
                  <a:pt x="1088364" y="136232"/>
                </a:lnTo>
                <a:lnTo>
                  <a:pt x="1038796" y="140893"/>
                </a:lnTo>
                <a:lnTo>
                  <a:pt x="1039266" y="140893"/>
                </a:lnTo>
                <a:lnTo>
                  <a:pt x="995883" y="154406"/>
                </a:lnTo>
                <a:lnTo>
                  <a:pt x="996073" y="154406"/>
                </a:lnTo>
                <a:lnTo>
                  <a:pt x="959586" y="175971"/>
                </a:lnTo>
                <a:lnTo>
                  <a:pt x="929741" y="205282"/>
                </a:lnTo>
                <a:lnTo>
                  <a:pt x="907643" y="241693"/>
                </a:lnTo>
                <a:lnTo>
                  <a:pt x="893927" y="284568"/>
                </a:lnTo>
                <a:lnTo>
                  <a:pt x="889228" y="333362"/>
                </a:lnTo>
                <a:lnTo>
                  <a:pt x="894080" y="380911"/>
                </a:lnTo>
                <a:lnTo>
                  <a:pt x="908278" y="423976"/>
                </a:lnTo>
                <a:lnTo>
                  <a:pt x="930630" y="459346"/>
                </a:lnTo>
                <a:lnTo>
                  <a:pt x="960221" y="487565"/>
                </a:lnTo>
                <a:lnTo>
                  <a:pt x="995781" y="508203"/>
                </a:lnTo>
                <a:lnTo>
                  <a:pt x="1036675" y="520877"/>
                </a:lnTo>
                <a:lnTo>
                  <a:pt x="1081506" y="525195"/>
                </a:lnTo>
                <a:lnTo>
                  <a:pt x="1082268" y="525195"/>
                </a:lnTo>
                <a:lnTo>
                  <a:pt x="1124178" y="521335"/>
                </a:lnTo>
                <a:lnTo>
                  <a:pt x="1164170" y="509651"/>
                </a:lnTo>
                <a:lnTo>
                  <a:pt x="1200619" y="489953"/>
                </a:lnTo>
                <a:lnTo>
                  <a:pt x="1231861" y="462064"/>
                </a:lnTo>
                <a:lnTo>
                  <a:pt x="1256245" y="425754"/>
                </a:lnTo>
                <a:lnTo>
                  <a:pt x="1271993" y="380911"/>
                </a:lnTo>
                <a:lnTo>
                  <a:pt x="1277581" y="327279"/>
                </a:lnTo>
                <a:close/>
              </a:path>
              <a:path w="1618615" h="525779">
                <a:moveTo>
                  <a:pt x="1618195" y="150710"/>
                </a:moveTo>
                <a:lnTo>
                  <a:pt x="1598510" y="144602"/>
                </a:lnTo>
                <a:lnTo>
                  <a:pt x="1576412" y="140030"/>
                </a:lnTo>
                <a:lnTo>
                  <a:pt x="1553298" y="137198"/>
                </a:lnTo>
                <a:lnTo>
                  <a:pt x="1530057" y="136220"/>
                </a:lnTo>
                <a:lnTo>
                  <a:pt x="1474685" y="141465"/>
                </a:lnTo>
                <a:lnTo>
                  <a:pt x="1427441" y="156425"/>
                </a:lnTo>
                <a:lnTo>
                  <a:pt x="1388198" y="179844"/>
                </a:lnTo>
                <a:lnTo>
                  <a:pt x="1357464" y="210553"/>
                </a:lnTo>
                <a:lnTo>
                  <a:pt x="1335239" y="247307"/>
                </a:lnTo>
                <a:lnTo>
                  <a:pt x="1321777" y="288912"/>
                </a:lnTo>
                <a:lnTo>
                  <a:pt x="1317205" y="334149"/>
                </a:lnTo>
                <a:lnTo>
                  <a:pt x="1321777" y="381635"/>
                </a:lnTo>
                <a:lnTo>
                  <a:pt x="1335239" y="423278"/>
                </a:lnTo>
                <a:lnTo>
                  <a:pt x="1356956" y="458546"/>
                </a:lnTo>
                <a:lnTo>
                  <a:pt x="1386166" y="486918"/>
                </a:lnTo>
                <a:lnTo>
                  <a:pt x="1422615" y="507822"/>
                </a:lnTo>
                <a:lnTo>
                  <a:pt x="1465414" y="520763"/>
                </a:lnTo>
                <a:lnTo>
                  <a:pt x="1514055" y="525195"/>
                </a:lnTo>
                <a:lnTo>
                  <a:pt x="1545932" y="523862"/>
                </a:lnTo>
                <a:lnTo>
                  <a:pt x="1598891" y="514616"/>
                </a:lnTo>
                <a:lnTo>
                  <a:pt x="1603844" y="422427"/>
                </a:lnTo>
                <a:lnTo>
                  <a:pt x="1590001" y="427558"/>
                </a:lnTo>
                <a:lnTo>
                  <a:pt x="1574507" y="431380"/>
                </a:lnTo>
                <a:lnTo>
                  <a:pt x="1557108" y="433781"/>
                </a:lnTo>
                <a:lnTo>
                  <a:pt x="1537677" y="434606"/>
                </a:lnTo>
                <a:lnTo>
                  <a:pt x="1498053" y="427837"/>
                </a:lnTo>
                <a:lnTo>
                  <a:pt x="1465668" y="407784"/>
                </a:lnTo>
                <a:lnTo>
                  <a:pt x="1443824" y="374891"/>
                </a:lnTo>
                <a:lnTo>
                  <a:pt x="1435823" y="329590"/>
                </a:lnTo>
                <a:lnTo>
                  <a:pt x="1442427" y="287604"/>
                </a:lnTo>
                <a:lnTo>
                  <a:pt x="1462493" y="254609"/>
                </a:lnTo>
                <a:lnTo>
                  <a:pt x="1494116" y="233032"/>
                </a:lnTo>
                <a:lnTo>
                  <a:pt x="1535391" y="225298"/>
                </a:lnTo>
                <a:lnTo>
                  <a:pt x="1556346" y="226225"/>
                </a:lnTo>
                <a:lnTo>
                  <a:pt x="1573999" y="228727"/>
                </a:lnTo>
                <a:lnTo>
                  <a:pt x="1588477" y="232371"/>
                </a:lnTo>
                <a:lnTo>
                  <a:pt x="1600034" y="236715"/>
                </a:lnTo>
                <a:lnTo>
                  <a:pt x="1618195" y="150710"/>
                </a:lnTo>
                <a:close/>
              </a:path>
            </a:pathLst>
          </a:custGeom>
          <a:solidFill>
            <a:srgbClr val="FDB6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3">
            <a:extLst>
              <a:ext uri="{FF2B5EF4-FFF2-40B4-BE49-F238E27FC236}">
                <a16:creationId xmlns:a16="http://schemas.microsoft.com/office/drawing/2014/main" id="{59708056-EDB2-7BAD-D6B9-4BE2F51F1C99}"/>
              </a:ext>
            </a:extLst>
          </p:cNvPr>
          <p:cNvSpPr/>
          <p:nvPr/>
        </p:nvSpPr>
        <p:spPr>
          <a:xfrm>
            <a:off x="11068865" y="6224760"/>
            <a:ext cx="388620" cy="483234"/>
          </a:xfrm>
          <a:custGeom>
            <a:avLst/>
            <a:gdLst/>
            <a:ahLst/>
            <a:cxnLst/>
            <a:rect l="l" t="t" r="r" b="b"/>
            <a:pathLst>
              <a:path w="388619" h="483234">
                <a:moveTo>
                  <a:pt x="387756" y="21"/>
                </a:moveTo>
                <a:lnTo>
                  <a:pt x="280571" y="21"/>
                </a:lnTo>
                <a:lnTo>
                  <a:pt x="280571" y="273635"/>
                </a:lnTo>
                <a:lnTo>
                  <a:pt x="274856" y="328320"/>
                </a:lnTo>
                <a:lnTo>
                  <a:pt x="258093" y="366813"/>
                </a:lnTo>
                <a:lnTo>
                  <a:pt x="230661" y="389558"/>
                </a:lnTo>
                <a:lnTo>
                  <a:pt x="193324" y="397038"/>
                </a:lnTo>
                <a:lnTo>
                  <a:pt x="156622" y="389266"/>
                </a:lnTo>
                <a:lnTo>
                  <a:pt x="129699" y="366013"/>
                </a:lnTo>
                <a:lnTo>
                  <a:pt x="113062" y="327431"/>
                </a:lnTo>
                <a:lnTo>
                  <a:pt x="107347" y="273635"/>
                </a:lnTo>
                <a:lnTo>
                  <a:pt x="107347" y="21"/>
                </a:lnTo>
                <a:lnTo>
                  <a:pt x="-472" y="21"/>
                </a:lnTo>
                <a:lnTo>
                  <a:pt x="-472" y="265190"/>
                </a:lnTo>
                <a:lnTo>
                  <a:pt x="3718" y="325006"/>
                </a:lnTo>
                <a:lnTo>
                  <a:pt x="16291" y="374699"/>
                </a:lnTo>
                <a:lnTo>
                  <a:pt x="36737" y="414614"/>
                </a:lnTo>
                <a:lnTo>
                  <a:pt x="64550" y="445081"/>
                </a:lnTo>
                <a:lnTo>
                  <a:pt x="99728" y="466429"/>
                </a:lnTo>
                <a:lnTo>
                  <a:pt x="141510" y="478989"/>
                </a:lnTo>
                <a:lnTo>
                  <a:pt x="189768" y="483104"/>
                </a:lnTo>
                <a:lnTo>
                  <a:pt x="239805" y="478799"/>
                </a:lnTo>
                <a:lnTo>
                  <a:pt x="283238" y="465832"/>
                </a:lnTo>
                <a:lnTo>
                  <a:pt x="319686" y="444065"/>
                </a:lnTo>
                <a:lnTo>
                  <a:pt x="348768" y="413383"/>
                </a:lnTo>
                <a:lnTo>
                  <a:pt x="370104" y="373658"/>
                </a:lnTo>
                <a:lnTo>
                  <a:pt x="383184" y="324764"/>
                </a:lnTo>
                <a:lnTo>
                  <a:pt x="387756" y="266587"/>
                </a:lnTo>
                <a:lnTo>
                  <a:pt x="387756" y="2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6" name="object 4">
            <a:extLst>
              <a:ext uri="{FF2B5EF4-FFF2-40B4-BE49-F238E27FC236}">
                <a16:creationId xmlns:a16="http://schemas.microsoft.com/office/drawing/2014/main" id="{C473141F-E840-ADD7-9474-3CB78D4B6ACA}"/>
              </a:ext>
            </a:extLst>
          </p:cNvPr>
          <p:cNvGrpSpPr/>
          <p:nvPr/>
        </p:nvGrpSpPr>
        <p:grpSpPr>
          <a:xfrm>
            <a:off x="11510824" y="6110485"/>
            <a:ext cx="446405" cy="596900"/>
            <a:chOff x="19130771" y="10355319"/>
            <a:chExt cx="446405" cy="596900"/>
          </a:xfrm>
        </p:grpSpPr>
        <p:sp>
          <p:nvSpPr>
            <p:cNvPr id="7" name="object 5">
              <a:extLst>
                <a:ext uri="{FF2B5EF4-FFF2-40B4-BE49-F238E27FC236}">
                  <a16:creationId xmlns:a16="http://schemas.microsoft.com/office/drawing/2014/main" id="{D007CF33-3615-E5E9-EB9B-F55DA90B19CB}"/>
                </a:ext>
              </a:extLst>
            </p:cNvPr>
            <p:cNvSpPr/>
            <p:nvPr/>
          </p:nvSpPr>
          <p:spPr>
            <a:xfrm>
              <a:off x="19130771" y="10461974"/>
              <a:ext cx="376555" cy="490220"/>
            </a:xfrm>
            <a:custGeom>
              <a:avLst/>
              <a:gdLst/>
              <a:ahLst/>
              <a:cxnLst/>
              <a:rect l="l" t="t" r="r" b="b"/>
              <a:pathLst>
                <a:path w="376555" h="490220">
                  <a:moveTo>
                    <a:pt x="258716" y="21"/>
                  </a:moveTo>
                  <a:lnTo>
                    <a:pt x="211982" y="3336"/>
                  </a:lnTo>
                  <a:lnTo>
                    <a:pt x="168041" y="13178"/>
                  </a:lnTo>
                  <a:lnTo>
                    <a:pt x="127656" y="29395"/>
                  </a:lnTo>
                  <a:lnTo>
                    <a:pt x="91462" y="51848"/>
                  </a:lnTo>
                  <a:lnTo>
                    <a:pt x="60347" y="80359"/>
                  </a:lnTo>
                  <a:lnTo>
                    <a:pt x="34821" y="114813"/>
                  </a:lnTo>
                  <a:lnTo>
                    <a:pt x="15645" y="155033"/>
                  </a:lnTo>
                  <a:lnTo>
                    <a:pt x="3707" y="200866"/>
                  </a:lnTo>
                  <a:lnTo>
                    <a:pt x="-483" y="252186"/>
                  </a:lnTo>
                  <a:lnTo>
                    <a:pt x="2691" y="295949"/>
                  </a:lnTo>
                  <a:lnTo>
                    <a:pt x="11962" y="336740"/>
                  </a:lnTo>
                  <a:lnTo>
                    <a:pt x="27455" y="373976"/>
                  </a:lnTo>
                  <a:lnTo>
                    <a:pt x="49172" y="407084"/>
                  </a:lnTo>
                  <a:lnTo>
                    <a:pt x="76857" y="435468"/>
                  </a:lnTo>
                  <a:lnTo>
                    <a:pt x="110765" y="458556"/>
                  </a:lnTo>
                  <a:lnTo>
                    <a:pt x="150515" y="475764"/>
                  </a:lnTo>
                  <a:lnTo>
                    <a:pt x="196361" y="486508"/>
                  </a:lnTo>
                  <a:lnTo>
                    <a:pt x="248049" y="490229"/>
                  </a:lnTo>
                  <a:lnTo>
                    <a:pt x="288688" y="488311"/>
                  </a:lnTo>
                  <a:lnTo>
                    <a:pt x="323231" y="483358"/>
                  </a:lnTo>
                  <a:lnTo>
                    <a:pt x="350662" y="476551"/>
                  </a:lnTo>
                  <a:lnTo>
                    <a:pt x="369966" y="469084"/>
                  </a:lnTo>
                  <a:lnTo>
                    <a:pt x="353710" y="385291"/>
                  </a:lnTo>
                  <a:lnTo>
                    <a:pt x="335423" y="391273"/>
                  </a:lnTo>
                  <a:lnTo>
                    <a:pt x="313198" y="396187"/>
                  </a:lnTo>
                  <a:lnTo>
                    <a:pt x="288942" y="399527"/>
                  </a:lnTo>
                  <a:lnTo>
                    <a:pt x="264304" y="400747"/>
                  </a:lnTo>
                  <a:lnTo>
                    <a:pt x="211728" y="393762"/>
                  </a:lnTo>
                  <a:lnTo>
                    <a:pt x="169438" y="373595"/>
                  </a:lnTo>
                  <a:lnTo>
                    <a:pt x="138197" y="341426"/>
                  </a:lnTo>
                  <a:lnTo>
                    <a:pt x="118893" y="298451"/>
                  </a:lnTo>
                  <a:lnTo>
                    <a:pt x="112162" y="245823"/>
                  </a:lnTo>
                  <a:lnTo>
                    <a:pt x="119782" y="188929"/>
                  </a:lnTo>
                  <a:lnTo>
                    <a:pt x="140990" y="144912"/>
                  </a:lnTo>
                  <a:lnTo>
                    <a:pt x="173502" y="113632"/>
                  </a:lnTo>
                  <a:lnTo>
                    <a:pt x="215157" y="94964"/>
                  </a:lnTo>
                  <a:lnTo>
                    <a:pt x="263669" y="88766"/>
                  </a:lnTo>
                  <a:lnTo>
                    <a:pt x="290720" y="90227"/>
                  </a:lnTo>
                  <a:lnTo>
                    <a:pt x="314722" y="94138"/>
                  </a:lnTo>
                  <a:lnTo>
                    <a:pt x="335804" y="99764"/>
                  </a:lnTo>
                  <a:lnTo>
                    <a:pt x="353710" y="106368"/>
                  </a:lnTo>
                  <a:lnTo>
                    <a:pt x="375554" y="21179"/>
                  </a:lnTo>
                  <a:lnTo>
                    <a:pt x="357139" y="13698"/>
                  </a:lnTo>
                  <a:lnTo>
                    <a:pt x="330851" y="6891"/>
                  </a:lnTo>
                  <a:lnTo>
                    <a:pt x="297704" y="1939"/>
                  </a:lnTo>
                  <a:lnTo>
                    <a:pt x="258716" y="2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6">
              <a:extLst>
                <a:ext uri="{FF2B5EF4-FFF2-40B4-BE49-F238E27FC236}">
                  <a16:creationId xmlns:a16="http://schemas.microsoft.com/office/drawing/2014/main" id="{3E2DAF9D-D5B3-5C2D-43C2-1F9946ACDD4B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9464035" y="10355319"/>
              <a:ext cx="112771" cy="111247"/>
            </a:xfrm>
            <a:prstGeom prst="rect">
              <a:avLst/>
            </a:prstGeom>
          </p:spPr>
        </p:pic>
      </p:grpSp>
      <p:sp>
        <p:nvSpPr>
          <p:cNvPr id="13" name="object 3">
            <a:extLst>
              <a:ext uri="{FF2B5EF4-FFF2-40B4-BE49-F238E27FC236}">
                <a16:creationId xmlns:a16="http://schemas.microsoft.com/office/drawing/2014/main" id="{EAC6ECCB-AA53-422A-FC48-02522852CFAF}"/>
              </a:ext>
            </a:extLst>
          </p:cNvPr>
          <p:cNvSpPr txBox="1"/>
          <p:nvPr/>
        </p:nvSpPr>
        <p:spPr>
          <a:xfrm>
            <a:off x="428" y="502564"/>
            <a:ext cx="5454441" cy="720000"/>
          </a:xfrm>
          <a:prstGeom prst="rect">
            <a:avLst/>
          </a:prstGeom>
          <a:solidFill>
            <a:srgbClr val="FFC000"/>
          </a:solidFill>
        </p:spPr>
        <p:txBody>
          <a:bodyPr vert="horz" wrap="square" lIns="0" tIns="111669" rIns="0" bIns="0" rtlCol="0">
            <a:spAutoFit/>
          </a:bodyPr>
          <a:lstStyle/>
          <a:p>
            <a:pPr marR="140548" lvl="1">
              <a:spcBef>
                <a:spcPts val="879"/>
              </a:spcBef>
            </a:pPr>
            <a:r>
              <a:rPr lang="es-CL" sz="2911" b="1" spc="-6" dirty="0">
                <a:latin typeface="Arial"/>
                <a:cs typeface="Arial"/>
              </a:rPr>
              <a:t>Estructura de un JWT</a:t>
            </a:r>
            <a:endParaRPr sz="2911" b="1" spc="-6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2698990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C14F11-E917-4E71-0170-B86995328D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3">
            <a:extLst>
              <a:ext uri="{FF2B5EF4-FFF2-40B4-BE49-F238E27FC236}">
                <a16:creationId xmlns:a16="http://schemas.microsoft.com/office/drawing/2014/main" id="{6467D115-DB6B-DBC5-7FCE-EA6AA7C9AEAE}"/>
              </a:ext>
            </a:extLst>
          </p:cNvPr>
          <p:cNvSpPr/>
          <p:nvPr/>
        </p:nvSpPr>
        <p:spPr>
          <a:xfrm>
            <a:off x="11068865" y="6224760"/>
            <a:ext cx="388620" cy="483234"/>
          </a:xfrm>
          <a:custGeom>
            <a:avLst/>
            <a:gdLst/>
            <a:ahLst/>
            <a:cxnLst/>
            <a:rect l="l" t="t" r="r" b="b"/>
            <a:pathLst>
              <a:path w="388619" h="483234">
                <a:moveTo>
                  <a:pt x="387756" y="21"/>
                </a:moveTo>
                <a:lnTo>
                  <a:pt x="280571" y="21"/>
                </a:lnTo>
                <a:lnTo>
                  <a:pt x="280571" y="273635"/>
                </a:lnTo>
                <a:lnTo>
                  <a:pt x="274856" y="328320"/>
                </a:lnTo>
                <a:lnTo>
                  <a:pt x="258093" y="366813"/>
                </a:lnTo>
                <a:lnTo>
                  <a:pt x="230661" y="389558"/>
                </a:lnTo>
                <a:lnTo>
                  <a:pt x="193324" y="397038"/>
                </a:lnTo>
                <a:lnTo>
                  <a:pt x="156622" y="389266"/>
                </a:lnTo>
                <a:lnTo>
                  <a:pt x="129699" y="366013"/>
                </a:lnTo>
                <a:lnTo>
                  <a:pt x="113062" y="327431"/>
                </a:lnTo>
                <a:lnTo>
                  <a:pt x="107347" y="273635"/>
                </a:lnTo>
                <a:lnTo>
                  <a:pt x="107347" y="21"/>
                </a:lnTo>
                <a:lnTo>
                  <a:pt x="-472" y="21"/>
                </a:lnTo>
                <a:lnTo>
                  <a:pt x="-472" y="265190"/>
                </a:lnTo>
                <a:lnTo>
                  <a:pt x="3718" y="325006"/>
                </a:lnTo>
                <a:lnTo>
                  <a:pt x="16291" y="374699"/>
                </a:lnTo>
                <a:lnTo>
                  <a:pt x="36737" y="414614"/>
                </a:lnTo>
                <a:lnTo>
                  <a:pt x="64550" y="445081"/>
                </a:lnTo>
                <a:lnTo>
                  <a:pt x="99728" y="466429"/>
                </a:lnTo>
                <a:lnTo>
                  <a:pt x="141510" y="478989"/>
                </a:lnTo>
                <a:lnTo>
                  <a:pt x="189768" y="483104"/>
                </a:lnTo>
                <a:lnTo>
                  <a:pt x="239805" y="478799"/>
                </a:lnTo>
                <a:lnTo>
                  <a:pt x="283238" y="465832"/>
                </a:lnTo>
                <a:lnTo>
                  <a:pt x="319686" y="444065"/>
                </a:lnTo>
                <a:lnTo>
                  <a:pt x="348768" y="413383"/>
                </a:lnTo>
                <a:lnTo>
                  <a:pt x="370104" y="373658"/>
                </a:lnTo>
                <a:lnTo>
                  <a:pt x="383184" y="324764"/>
                </a:lnTo>
                <a:lnTo>
                  <a:pt x="387756" y="266587"/>
                </a:lnTo>
                <a:lnTo>
                  <a:pt x="387756" y="2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6" name="object 4">
            <a:extLst>
              <a:ext uri="{FF2B5EF4-FFF2-40B4-BE49-F238E27FC236}">
                <a16:creationId xmlns:a16="http://schemas.microsoft.com/office/drawing/2014/main" id="{16DCD837-5B88-6698-2A78-97D418913520}"/>
              </a:ext>
            </a:extLst>
          </p:cNvPr>
          <p:cNvGrpSpPr/>
          <p:nvPr/>
        </p:nvGrpSpPr>
        <p:grpSpPr>
          <a:xfrm>
            <a:off x="11510824" y="6110485"/>
            <a:ext cx="446405" cy="596900"/>
            <a:chOff x="19130771" y="10355319"/>
            <a:chExt cx="446405" cy="596900"/>
          </a:xfrm>
        </p:grpSpPr>
        <p:sp>
          <p:nvSpPr>
            <p:cNvPr id="7" name="object 5">
              <a:extLst>
                <a:ext uri="{FF2B5EF4-FFF2-40B4-BE49-F238E27FC236}">
                  <a16:creationId xmlns:a16="http://schemas.microsoft.com/office/drawing/2014/main" id="{06E7CF86-DEA4-D27A-9ADF-32A0571FAAC8}"/>
                </a:ext>
              </a:extLst>
            </p:cNvPr>
            <p:cNvSpPr/>
            <p:nvPr/>
          </p:nvSpPr>
          <p:spPr>
            <a:xfrm>
              <a:off x="19130771" y="10461974"/>
              <a:ext cx="376555" cy="490220"/>
            </a:xfrm>
            <a:custGeom>
              <a:avLst/>
              <a:gdLst/>
              <a:ahLst/>
              <a:cxnLst/>
              <a:rect l="l" t="t" r="r" b="b"/>
              <a:pathLst>
                <a:path w="376555" h="490220">
                  <a:moveTo>
                    <a:pt x="258716" y="21"/>
                  </a:moveTo>
                  <a:lnTo>
                    <a:pt x="211982" y="3336"/>
                  </a:lnTo>
                  <a:lnTo>
                    <a:pt x="168041" y="13178"/>
                  </a:lnTo>
                  <a:lnTo>
                    <a:pt x="127656" y="29395"/>
                  </a:lnTo>
                  <a:lnTo>
                    <a:pt x="91462" y="51848"/>
                  </a:lnTo>
                  <a:lnTo>
                    <a:pt x="60347" y="80359"/>
                  </a:lnTo>
                  <a:lnTo>
                    <a:pt x="34821" y="114813"/>
                  </a:lnTo>
                  <a:lnTo>
                    <a:pt x="15645" y="155033"/>
                  </a:lnTo>
                  <a:lnTo>
                    <a:pt x="3707" y="200866"/>
                  </a:lnTo>
                  <a:lnTo>
                    <a:pt x="-483" y="252186"/>
                  </a:lnTo>
                  <a:lnTo>
                    <a:pt x="2691" y="295949"/>
                  </a:lnTo>
                  <a:lnTo>
                    <a:pt x="11962" y="336740"/>
                  </a:lnTo>
                  <a:lnTo>
                    <a:pt x="27455" y="373976"/>
                  </a:lnTo>
                  <a:lnTo>
                    <a:pt x="49172" y="407084"/>
                  </a:lnTo>
                  <a:lnTo>
                    <a:pt x="76857" y="435468"/>
                  </a:lnTo>
                  <a:lnTo>
                    <a:pt x="110765" y="458556"/>
                  </a:lnTo>
                  <a:lnTo>
                    <a:pt x="150515" y="475764"/>
                  </a:lnTo>
                  <a:lnTo>
                    <a:pt x="196361" y="486508"/>
                  </a:lnTo>
                  <a:lnTo>
                    <a:pt x="248049" y="490229"/>
                  </a:lnTo>
                  <a:lnTo>
                    <a:pt x="288688" y="488311"/>
                  </a:lnTo>
                  <a:lnTo>
                    <a:pt x="323231" y="483358"/>
                  </a:lnTo>
                  <a:lnTo>
                    <a:pt x="350662" y="476551"/>
                  </a:lnTo>
                  <a:lnTo>
                    <a:pt x="369966" y="469084"/>
                  </a:lnTo>
                  <a:lnTo>
                    <a:pt x="353710" y="385291"/>
                  </a:lnTo>
                  <a:lnTo>
                    <a:pt x="335423" y="391273"/>
                  </a:lnTo>
                  <a:lnTo>
                    <a:pt x="313198" y="396187"/>
                  </a:lnTo>
                  <a:lnTo>
                    <a:pt x="288942" y="399527"/>
                  </a:lnTo>
                  <a:lnTo>
                    <a:pt x="264304" y="400747"/>
                  </a:lnTo>
                  <a:lnTo>
                    <a:pt x="211728" y="393762"/>
                  </a:lnTo>
                  <a:lnTo>
                    <a:pt x="169438" y="373595"/>
                  </a:lnTo>
                  <a:lnTo>
                    <a:pt x="138197" y="341426"/>
                  </a:lnTo>
                  <a:lnTo>
                    <a:pt x="118893" y="298451"/>
                  </a:lnTo>
                  <a:lnTo>
                    <a:pt x="112162" y="245823"/>
                  </a:lnTo>
                  <a:lnTo>
                    <a:pt x="119782" y="188929"/>
                  </a:lnTo>
                  <a:lnTo>
                    <a:pt x="140990" y="144912"/>
                  </a:lnTo>
                  <a:lnTo>
                    <a:pt x="173502" y="113632"/>
                  </a:lnTo>
                  <a:lnTo>
                    <a:pt x="215157" y="94964"/>
                  </a:lnTo>
                  <a:lnTo>
                    <a:pt x="263669" y="88766"/>
                  </a:lnTo>
                  <a:lnTo>
                    <a:pt x="290720" y="90227"/>
                  </a:lnTo>
                  <a:lnTo>
                    <a:pt x="314722" y="94138"/>
                  </a:lnTo>
                  <a:lnTo>
                    <a:pt x="335804" y="99764"/>
                  </a:lnTo>
                  <a:lnTo>
                    <a:pt x="353710" y="106368"/>
                  </a:lnTo>
                  <a:lnTo>
                    <a:pt x="375554" y="21179"/>
                  </a:lnTo>
                  <a:lnTo>
                    <a:pt x="357139" y="13698"/>
                  </a:lnTo>
                  <a:lnTo>
                    <a:pt x="330851" y="6891"/>
                  </a:lnTo>
                  <a:lnTo>
                    <a:pt x="297704" y="1939"/>
                  </a:lnTo>
                  <a:lnTo>
                    <a:pt x="258716" y="2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6">
              <a:extLst>
                <a:ext uri="{FF2B5EF4-FFF2-40B4-BE49-F238E27FC236}">
                  <a16:creationId xmlns:a16="http://schemas.microsoft.com/office/drawing/2014/main" id="{6D76AE0B-1277-F062-04D0-A6E2DD0248E6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9464035" y="10355319"/>
              <a:ext cx="112771" cy="111247"/>
            </a:xfrm>
            <a:prstGeom prst="rect">
              <a:avLst/>
            </a:prstGeom>
          </p:spPr>
        </p:pic>
      </p:grpSp>
      <p:sp>
        <p:nvSpPr>
          <p:cNvPr id="13" name="object 3">
            <a:extLst>
              <a:ext uri="{FF2B5EF4-FFF2-40B4-BE49-F238E27FC236}">
                <a16:creationId xmlns:a16="http://schemas.microsoft.com/office/drawing/2014/main" id="{D1B18466-9403-40D6-E498-5A24F0B6D0B8}"/>
              </a:ext>
            </a:extLst>
          </p:cNvPr>
          <p:cNvSpPr txBox="1"/>
          <p:nvPr/>
        </p:nvSpPr>
        <p:spPr>
          <a:xfrm>
            <a:off x="428" y="502564"/>
            <a:ext cx="5454441" cy="720000"/>
          </a:xfrm>
          <a:prstGeom prst="rect">
            <a:avLst/>
          </a:prstGeom>
          <a:solidFill>
            <a:srgbClr val="FFC000"/>
          </a:solidFill>
        </p:spPr>
        <p:txBody>
          <a:bodyPr vert="horz" wrap="square" lIns="0" tIns="111669" rIns="0" bIns="0" rtlCol="0">
            <a:spAutoFit/>
          </a:bodyPr>
          <a:lstStyle/>
          <a:p>
            <a:pPr marR="140548" lvl="1">
              <a:spcBef>
                <a:spcPts val="879"/>
              </a:spcBef>
            </a:pPr>
            <a:r>
              <a:rPr lang="es-CL" sz="2911" b="1" spc="-6" dirty="0">
                <a:latin typeface="Arial"/>
                <a:cs typeface="Arial"/>
              </a:rPr>
              <a:t>Estructura de un JWT</a:t>
            </a:r>
            <a:endParaRPr sz="2911" b="1" spc="-6" dirty="0">
              <a:latin typeface="Arial"/>
              <a:cs typeface="Arial"/>
            </a:endParaRPr>
          </a:p>
        </p:txBody>
      </p:sp>
      <p:pic>
        <p:nvPicPr>
          <p:cNvPr id="2050" name="Picture 2" descr="JWT (JSON Web Token). JWT is an open standard (RFC 7519) that… | by  Talha1010 | Medium">
            <a:extLst>
              <a:ext uri="{FF2B5EF4-FFF2-40B4-BE49-F238E27FC236}">
                <a16:creationId xmlns:a16="http://schemas.microsoft.com/office/drawing/2014/main" id="{28A9C490-D210-3C91-715D-74CFA2F613EB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9277" y="1364973"/>
            <a:ext cx="10174085" cy="53413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object 2">
            <a:extLst>
              <a:ext uri="{FF2B5EF4-FFF2-40B4-BE49-F238E27FC236}">
                <a16:creationId xmlns:a16="http://schemas.microsoft.com/office/drawing/2014/main" id="{0ED91B26-1BE0-0598-F258-0970262BB78C}"/>
              </a:ext>
            </a:extLst>
          </p:cNvPr>
          <p:cNvSpPr/>
          <p:nvPr/>
        </p:nvSpPr>
        <p:spPr>
          <a:xfrm>
            <a:off x="9338693" y="6180589"/>
            <a:ext cx="1618615" cy="525780"/>
          </a:xfrm>
          <a:custGeom>
            <a:avLst/>
            <a:gdLst/>
            <a:ahLst/>
            <a:cxnLst/>
            <a:rect l="l" t="t" r="r" b="b"/>
            <a:pathLst>
              <a:path w="1618615" h="525779">
                <a:moveTo>
                  <a:pt x="452996" y="248158"/>
                </a:moveTo>
                <a:lnTo>
                  <a:pt x="449186" y="196608"/>
                </a:lnTo>
                <a:lnTo>
                  <a:pt x="437883" y="151485"/>
                </a:lnTo>
                <a:lnTo>
                  <a:pt x="419849" y="112661"/>
                </a:lnTo>
                <a:lnTo>
                  <a:pt x="395846" y="79959"/>
                </a:lnTo>
                <a:lnTo>
                  <a:pt x="366382" y="53276"/>
                </a:lnTo>
                <a:lnTo>
                  <a:pt x="330695" y="31584"/>
                </a:lnTo>
                <a:lnTo>
                  <a:pt x="330695" y="251955"/>
                </a:lnTo>
                <a:lnTo>
                  <a:pt x="325107" y="307860"/>
                </a:lnTo>
                <a:lnTo>
                  <a:pt x="308851" y="353148"/>
                </a:lnTo>
                <a:lnTo>
                  <a:pt x="282816" y="387997"/>
                </a:lnTo>
                <a:lnTo>
                  <a:pt x="248145" y="412572"/>
                </a:lnTo>
                <a:lnTo>
                  <a:pt x="205473" y="427037"/>
                </a:lnTo>
                <a:lnTo>
                  <a:pt x="155816" y="431584"/>
                </a:lnTo>
                <a:lnTo>
                  <a:pt x="146786" y="431584"/>
                </a:lnTo>
                <a:lnTo>
                  <a:pt x="134226" y="431292"/>
                </a:lnTo>
                <a:lnTo>
                  <a:pt x="124079" y="430606"/>
                </a:lnTo>
                <a:lnTo>
                  <a:pt x="115570" y="429272"/>
                </a:lnTo>
                <a:lnTo>
                  <a:pt x="115570" y="93611"/>
                </a:lnTo>
                <a:lnTo>
                  <a:pt x="124333" y="91935"/>
                </a:lnTo>
                <a:lnTo>
                  <a:pt x="136004" y="90449"/>
                </a:lnTo>
                <a:lnTo>
                  <a:pt x="150609" y="89420"/>
                </a:lnTo>
                <a:lnTo>
                  <a:pt x="168008" y="89027"/>
                </a:lnTo>
                <a:lnTo>
                  <a:pt x="214871" y="93433"/>
                </a:lnTo>
                <a:lnTo>
                  <a:pt x="254749" y="106743"/>
                </a:lnTo>
                <a:lnTo>
                  <a:pt x="287007" y="129095"/>
                </a:lnTo>
                <a:lnTo>
                  <a:pt x="310756" y="160655"/>
                </a:lnTo>
                <a:lnTo>
                  <a:pt x="325615" y="201561"/>
                </a:lnTo>
                <a:lnTo>
                  <a:pt x="330695" y="251955"/>
                </a:lnTo>
                <a:lnTo>
                  <a:pt x="330695" y="31584"/>
                </a:lnTo>
                <a:lnTo>
                  <a:pt x="326758" y="29210"/>
                </a:lnTo>
                <a:lnTo>
                  <a:pt x="279641" y="12649"/>
                </a:lnTo>
                <a:lnTo>
                  <a:pt x="223253" y="3073"/>
                </a:lnTo>
                <a:lnTo>
                  <a:pt x="155816" y="0"/>
                </a:lnTo>
                <a:lnTo>
                  <a:pt x="113030" y="711"/>
                </a:lnTo>
                <a:lnTo>
                  <a:pt x="72263" y="2857"/>
                </a:lnTo>
                <a:lnTo>
                  <a:pt x="34163" y="6413"/>
                </a:lnTo>
                <a:lnTo>
                  <a:pt x="0" y="11430"/>
                </a:lnTo>
                <a:lnTo>
                  <a:pt x="0" y="514540"/>
                </a:lnTo>
                <a:lnTo>
                  <a:pt x="24003" y="517334"/>
                </a:lnTo>
                <a:lnTo>
                  <a:pt x="53721" y="519760"/>
                </a:lnTo>
                <a:lnTo>
                  <a:pt x="89535" y="521487"/>
                </a:lnTo>
                <a:lnTo>
                  <a:pt x="131432" y="522147"/>
                </a:lnTo>
                <a:lnTo>
                  <a:pt x="189471" y="519569"/>
                </a:lnTo>
                <a:lnTo>
                  <a:pt x="242811" y="511771"/>
                </a:lnTo>
                <a:lnTo>
                  <a:pt x="290817" y="498627"/>
                </a:lnTo>
                <a:lnTo>
                  <a:pt x="332854" y="480072"/>
                </a:lnTo>
                <a:lnTo>
                  <a:pt x="368668" y="455942"/>
                </a:lnTo>
                <a:lnTo>
                  <a:pt x="396100" y="427685"/>
                </a:lnTo>
                <a:lnTo>
                  <a:pt x="419341" y="392976"/>
                </a:lnTo>
                <a:lnTo>
                  <a:pt x="437375" y="351650"/>
                </a:lnTo>
                <a:lnTo>
                  <a:pt x="448932" y="303453"/>
                </a:lnTo>
                <a:lnTo>
                  <a:pt x="452996" y="248158"/>
                </a:lnTo>
                <a:close/>
              </a:path>
              <a:path w="1618615" h="525779">
                <a:moveTo>
                  <a:pt x="849858" y="516801"/>
                </a:moveTo>
                <a:lnTo>
                  <a:pt x="848715" y="491820"/>
                </a:lnTo>
                <a:lnTo>
                  <a:pt x="847699" y="463626"/>
                </a:lnTo>
                <a:lnTo>
                  <a:pt x="847064" y="432142"/>
                </a:lnTo>
                <a:lnTo>
                  <a:pt x="846810" y="397306"/>
                </a:lnTo>
                <a:lnTo>
                  <a:pt x="846810" y="144627"/>
                </a:lnTo>
                <a:lnTo>
                  <a:pt x="731240" y="144627"/>
                </a:lnTo>
                <a:lnTo>
                  <a:pt x="731240" y="366115"/>
                </a:lnTo>
                <a:lnTo>
                  <a:pt x="730986" y="373253"/>
                </a:lnTo>
                <a:lnTo>
                  <a:pt x="707237" y="418261"/>
                </a:lnTo>
                <a:lnTo>
                  <a:pt x="668883" y="431584"/>
                </a:lnTo>
                <a:lnTo>
                  <a:pt x="642467" y="425615"/>
                </a:lnTo>
                <a:lnTo>
                  <a:pt x="624319" y="408457"/>
                </a:lnTo>
                <a:lnTo>
                  <a:pt x="613778" y="381165"/>
                </a:lnTo>
                <a:lnTo>
                  <a:pt x="610349" y="344817"/>
                </a:lnTo>
                <a:lnTo>
                  <a:pt x="610349" y="144627"/>
                </a:lnTo>
                <a:lnTo>
                  <a:pt x="494906" y="144627"/>
                </a:lnTo>
                <a:lnTo>
                  <a:pt x="494906" y="363054"/>
                </a:lnTo>
                <a:lnTo>
                  <a:pt x="501129" y="424053"/>
                </a:lnTo>
                <a:lnTo>
                  <a:pt x="519036" y="469773"/>
                </a:lnTo>
                <a:lnTo>
                  <a:pt x="546722" y="501230"/>
                </a:lnTo>
                <a:lnTo>
                  <a:pt x="582790" y="519366"/>
                </a:lnTo>
                <a:lnTo>
                  <a:pt x="625589" y="525195"/>
                </a:lnTo>
                <a:lnTo>
                  <a:pt x="669899" y="518883"/>
                </a:lnTo>
                <a:lnTo>
                  <a:pt x="703427" y="503313"/>
                </a:lnTo>
                <a:lnTo>
                  <a:pt x="727049" y="483450"/>
                </a:lnTo>
                <a:lnTo>
                  <a:pt x="741908" y="464299"/>
                </a:lnTo>
                <a:lnTo>
                  <a:pt x="744194" y="464299"/>
                </a:lnTo>
                <a:lnTo>
                  <a:pt x="749528" y="516801"/>
                </a:lnTo>
                <a:lnTo>
                  <a:pt x="849858" y="516801"/>
                </a:lnTo>
                <a:close/>
              </a:path>
              <a:path w="1618615" h="525779">
                <a:moveTo>
                  <a:pt x="1277581" y="327279"/>
                </a:moveTo>
                <a:lnTo>
                  <a:pt x="1273136" y="281241"/>
                </a:lnTo>
                <a:lnTo>
                  <a:pt x="1259928" y="240157"/>
                </a:lnTo>
                <a:lnTo>
                  <a:pt x="1247355" y="219214"/>
                </a:lnTo>
                <a:lnTo>
                  <a:pt x="1238846" y="204800"/>
                </a:lnTo>
                <a:lnTo>
                  <a:pt x="1210411" y="175971"/>
                </a:lnTo>
                <a:lnTo>
                  <a:pt x="1175346" y="154406"/>
                </a:lnTo>
                <a:lnTo>
                  <a:pt x="1157566" y="148501"/>
                </a:lnTo>
                <a:lnTo>
                  <a:pt x="1157490" y="329628"/>
                </a:lnTo>
                <a:lnTo>
                  <a:pt x="1157490" y="331101"/>
                </a:lnTo>
                <a:lnTo>
                  <a:pt x="1152474" y="375132"/>
                </a:lnTo>
                <a:lnTo>
                  <a:pt x="1137754" y="411391"/>
                </a:lnTo>
                <a:lnTo>
                  <a:pt x="1083792" y="442214"/>
                </a:lnTo>
                <a:lnTo>
                  <a:pt x="1083030" y="442214"/>
                </a:lnTo>
                <a:lnTo>
                  <a:pt x="1050772" y="433730"/>
                </a:lnTo>
                <a:lnTo>
                  <a:pt x="1027150" y="410349"/>
                </a:lnTo>
                <a:lnTo>
                  <a:pt x="1012672" y="375132"/>
                </a:lnTo>
                <a:lnTo>
                  <a:pt x="1007719" y="331101"/>
                </a:lnTo>
                <a:lnTo>
                  <a:pt x="1011910" y="290182"/>
                </a:lnTo>
                <a:lnTo>
                  <a:pt x="1025245" y="254330"/>
                </a:lnTo>
                <a:lnTo>
                  <a:pt x="1048867" y="228892"/>
                </a:lnTo>
                <a:lnTo>
                  <a:pt x="1083792" y="219214"/>
                </a:lnTo>
                <a:lnTo>
                  <a:pt x="1117447" y="228892"/>
                </a:lnTo>
                <a:lnTo>
                  <a:pt x="1140333" y="254330"/>
                </a:lnTo>
                <a:lnTo>
                  <a:pt x="1153375" y="289864"/>
                </a:lnTo>
                <a:lnTo>
                  <a:pt x="1157490" y="329628"/>
                </a:lnTo>
                <a:lnTo>
                  <a:pt x="1157490" y="148488"/>
                </a:lnTo>
                <a:lnTo>
                  <a:pt x="1134465" y="140893"/>
                </a:lnTo>
                <a:lnTo>
                  <a:pt x="1088364" y="136232"/>
                </a:lnTo>
                <a:lnTo>
                  <a:pt x="1038796" y="140893"/>
                </a:lnTo>
                <a:lnTo>
                  <a:pt x="1039266" y="140893"/>
                </a:lnTo>
                <a:lnTo>
                  <a:pt x="995883" y="154406"/>
                </a:lnTo>
                <a:lnTo>
                  <a:pt x="996073" y="154406"/>
                </a:lnTo>
                <a:lnTo>
                  <a:pt x="959586" y="175971"/>
                </a:lnTo>
                <a:lnTo>
                  <a:pt x="929741" y="205282"/>
                </a:lnTo>
                <a:lnTo>
                  <a:pt x="907643" y="241693"/>
                </a:lnTo>
                <a:lnTo>
                  <a:pt x="893927" y="284568"/>
                </a:lnTo>
                <a:lnTo>
                  <a:pt x="889228" y="333362"/>
                </a:lnTo>
                <a:lnTo>
                  <a:pt x="894080" y="380911"/>
                </a:lnTo>
                <a:lnTo>
                  <a:pt x="908278" y="423976"/>
                </a:lnTo>
                <a:lnTo>
                  <a:pt x="930630" y="459346"/>
                </a:lnTo>
                <a:lnTo>
                  <a:pt x="960221" y="487565"/>
                </a:lnTo>
                <a:lnTo>
                  <a:pt x="995781" y="508203"/>
                </a:lnTo>
                <a:lnTo>
                  <a:pt x="1036675" y="520877"/>
                </a:lnTo>
                <a:lnTo>
                  <a:pt x="1081506" y="525195"/>
                </a:lnTo>
                <a:lnTo>
                  <a:pt x="1082268" y="525195"/>
                </a:lnTo>
                <a:lnTo>
                  <a:pt x="1124178" y="521335"/>
                </a:lnTo>
                <a:lnTo>
                  <a:pt x="1164170" y="509651"/>
                </a:lnTo>
                <a:lnTo>
                  <a:pt x="1200619" y="489953"/>
                </a:lnTo>
                <a:lnTo>
                  <a:pt x="1231861" y="462064"/>
                </a:lnTo>
                <a:lnTo>
                  <a:pt x="1256245" y="425754"/>
                </a:lnTo>
                <a:lnTo>
                  <a:pt x="1271993" y="380911"/>
                </a:lnTo>
                <a:lnTo>
                  <a:pt x="1277581" y="327279"/>
                </a:lnTo>
                <a:close/>
              </a:path>
              <a:path w="1618615" h="525779">
                <a:moveTo>
                  <a:pt x="1618195" y="150710"/>
                </a:moveTo>
                <a:lnTo>
                  <a:pt x="1598510" y="144602"/>
                </a:lnTo>
                <a:lnTo>
                  <a:pt x="1576412" y="140030"/>
                </a:lnTo>
                <a:lnTo>
                  <a:pt x="1553298" y="137198"/>
                </a:lnTo>
                <a:lnTo>
                  <a:pt x="1530057" y="136220"/>
                </a:lnTo>
                <a:lnTo>
                  <a:pt x="1474685" y="141465"/>
                </a:lnTo>
                <a:lnTo>
                  <a:pt x="1427441" y="156425"/>
                </a:lnTo>
                <a:lnTo>
                  <a:pt x="1388198" y="179844"/>
                </a:lnTo>
                <a:lnTo>
                  <a:pt x="1357464" y="210553"/>
                </a:lnTo>
                <a:lnTo>
                  <a:pt x="1335239" y="247307"/>
                </a:lnTo>
                <a:lnTo>
                  <a:pt x="1321777" y="288912"/>
                </a:lnTo>
                <a:lnTo>
                  <a:pt x="1317205" y="334149"/>
                </a:lnTo>
                <a:lnTo>
                  <a:pt x="1321777" y="381635"/>
                </a:lnTo>
                <a:lnTo>
                  <a:pt x="1335239" y="423278"/>
                </a:lnTo>
                <a:lnTo>
                  <a:pt x="1356956" y="458546"/>
                </a:lnTo>
                <a:lnTo>
                  <a:pt x="1386166" y="486918"/>
                </a:lnTo>
                <a:lnTo>
                  <a:pt x="1422615" y="507822"/>
                </a:lnTo>
                <a:lnTo>
                  <a:pt x="1465414" y="520763"/>
                </a:lnTo>
                <a:lnTo>
                  <a:pt x="1514055" y="525195"/>
                </a:lnTo>
                <a:lnTo>
                  <a:pt x="1545932" y="523862"/>
                </a:lnTo>
                <a:lnTo>
                  <a:pt x="1598891" y="514616"/>
                </a:lnTo>
                <a:lnTo>
                  <a:pt x="1603844" y="422427"/>
                </a:lnTo>
                <a:lnTo>
                  <a:pt x="1590001" y="427558"/>
                </a:lnTo>
                <a:lnTo>
                  <a:pt x="1574507" y="431380"/>
                </a:lnTo>
                <a:lnTo>
                  <a:pt x="1557108" y="433781"/>
                </a:lnTo>
                <a:lnTo>
                  <a:pt x="1537677" y="434606"/>
                </a:lnTo>
                <a:lnTo>
                  <a:pt x="1498053" y="427837"/>
                </a:lnTo>
                <a:lnTo>
                  <a:pt x="1465668" y="407784"/>
                </a:lnTo>
                <a:lnTo>
                  <a:pt x="1443824" y="374891"/>
                </a:lnTo>
                <a:lnTo>
                  <a:pt x="1435823" y="329590"/>
                </a:lnTo>
                <a:lnTo>
                  <a:pt x="1442427" y="287604"/>
                </a:lnTo>
                <a:lnTo>
                  <a:pt x="1462493" y="254609"/>
                </a:lnTo>
                <a:lnTo>
                  <a:pt x="1494116" y="233032"/>
                </a:lnTo>
                <a:lnTo>
                  <a:pt x="1535391" y="225298"/>
                </a:lnTo>
                <a:lnTo>
                  <a:pt x="1556346" y="226225"/>
                </a:lnTo>
                <a:lnTo>
                  <a:pt x="1573999" y="228727"/>
                </a:lnTo>
                <a:lnTo>
                  <a:pt x="1588477" y="232371"/>
                </a:lnTo>
                <a:lnTo>
                  <a:pt x="1600034" y="236715"/>
                </a:lnTo>
                <a:lnTo>
                  <a:pt x="1618195" y="150710"/>
                </a:lnTo>
                <a:close/>
              </a:path>
            </a:pathLst>
          </a:custGeom>
          <a:solidFill>
            <a:srgbClr val="FDB61F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1695784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2">
            <a:extLst>
              <a:ext uri="{FF2B5EF4-FFF2-40B4-BE49-F238E27FC236}">
                <a16:creationId xmlns:a16="http://schemas.microsoft.com/office/drawing/2014/main" id="{E94D6716-75F6-8DE3-8E67-98956581AB98}"/>
              </a:ext>
            </a:extLst>
          </p:cNvPr>
          <p:cNvSpPr/>
          <p:nvPr/>
        </p:nvSpPr>
        <p:spPr>
          <a:xfrm>
            <a:off x="9338693" y="6180589"/>
            <a:ext cx="1618615" cy="525780"/>
          </a:xfrm>
          <a:custGeom>
            <a:avLst/>
            <a:gdLst/>
            <a:ahLst/>
            <a:cxnLst/>
            <a:rect l="l" t="t" r="r" b="b"/>
            <a:pathLst>
              <a:path w="1618615" h="525779">
                <a:moveTo>
                  <a:pt x="452996" y="248158"/>
                </a:moveTo>
                <a:lnTo>
                  <a:pt x="449186" y="196608"/>
                </a:lnTo>
                <a:lnTo>
                  <a:pt x="437883" y="151485"/>
                </a:lnTo>
                <a:lnTo>
                  <a:pt x="419849" y="112661"/>
                </a:lnTo>
                <a:lnTo>
                  <a:pt x="395846" y="79959"/>
                </a:lnTo>
                <a:lnTo>
                  <a:pt x="366382" y="53276"/>
                </a:lnTo>
                <a:lnTo>
                  <a:pt x="330695" y="31584"/>
                </a:lnTo>
                <a:lnTo>
                  <a:pt x="330695" y="251955"/>
                </a:lnTo>
                <a:lnTo>
                  <a:pt x="325107" y="307860"/>
                </a:lnTo>
                <a:lnTo>
                  <a:pt x="308851" y="353148"/>
                </a:lnTo>
                <a:lnTo>
                  <a:pt x="282816" y="387997"/>
                </a:lnTo>
                <a:lnTo>
                  <a:pt x="248145" y="412572"/>
                </a:lnTo>
                <a:lnTo>
                  <a:pt x="205473" y="427037"/>
                </a:lnTo>
                <a:lnTo>
                  <a:pt x="155816" y="431584"/>
                </a:lnTo>
                <a:lnTo>
                  <a:pt x="146786" y="431584"/>
                </a:lnTo>
                <a:lnTo>
                  <a:pt x="134226" y="431292"/>
                </a:lnTo>
                <a:lnTo>
                  <a:pt x="124079" y="430606"/>
                </a:lnTo>
                <a:lnTo>
                  <a:pt x="115570" y="429272"/>
                </a:lnTo>
                <a:lnTo>
                  <a:pt x="115570" y="93611"/>
                </a:lnTo>
                <a:lnTo>
                  <a:pt x="124333" y="91935"/>
                </a:lnTo>
                <a:lnTo>
                  <a:pt x="136004" y="90449"/>
                </a:lnTo>
                <a:lnTo>
                  <a:pt x="150609" y="89420"/>
                </a:lnTo>
                <a:lnTo>
                  <a:pt x="168008" y="89027"/>
                </a:lnTo>
                <a:lnTo>
                  <a:pt x="214871" y="93433"/>
                </a:lnTo>
                <a:lnTo>
                  <a:pt x="254749" y="106743"/>
                </a:lnTo>
                <a:lnTo>
                  <a:pt x="287007" y="129095"/>
                </a:lnTo>
                <a:lnTo>
                  <a:pt x="310756" y="160655"/>
                </a:lnTo>
                <a:lnTo>
                  <a:pt x="325615" y="201561"/>
                </a:lnTo>
                <a:lnTo>
                  <a:pt x="330695" y="251955"/>
                </a:lnTo>
                <a:lnTo>
                  <a:pt x="330695" y="31584"/>
                </a:lnTo>
                <a:lnTo>
                  <a:pt x="326758" y="29210"/>
                </a:lnTo>
                <a:lnTo>
                  <a:pt x="279641" y="12649"/>
                </a:lnTo>
                <a:lnTo>
                  <a:pt x="223253" y="3073"/>
                </a:lnTo>
                <a:lnTo>
                  <a:pt x="155816" y="0"/>
                </a:lnTo>
                <a:lnTo>
                  <a:pt x="113030" y="711"/>
                </a:lnTo>
                <a:lnTo>
                  <a:pt x="72263" y="2857"/>
                </a:lnTo>
                <a:lnTo>
                  <a:pt x="34163" y="6413"/>
                </a:lnTo>
                <a:lnTo>
                  <a:pt x="0" y="11430"/>
                </a:lnTo>
                <a:lnTo>
                  <a:pt x="0" y="514540"/>
                </a:lnTo>
                <a:lnTo>
                  <a:pt x="24003" y="517334"/>
                </a:lnTo>
                <a:lnTo>
                  <a:pt x="53721" y="519760"/>
                </a:lnTo>
                <a:lnTo>
                  <a:pt x="89535" y="521487"/>
                </a:lnTo>
                <a:lnTo>
                  <a:pt x="131432" y="522147"/>
                </a:lnTo>
                <a:lnTo>
                  <a:pt x="189471" y="519569"/>
                </a:lnTo>
                <a:lnTo>
                  <a:pt x="242811" y="511771"/>
                </a:lnTo>
                <a:lnTo>
                  <a:pt x="290817" y="498627"/>
                </a:lnTo>
                <a:lnTo>
                  <a:pt x="332854" y="480072"/>
                </a:lnTo>
                <a:lnTo>
                  <a:pt x="368668" y="455942"/>
                </a:lnTo>
                <a:lnTo>
                  <a:pt x="396100" y="427685"/>
                </a:lnTo>
                <a:lnTo>
                  <a:pt x="419341" y="392976"/>
                </a:lnTo>
                <a:lnTo>
                  <a:pt x="437375" y="351650"/>
                </a:lnTo>
                <a:lnTo>
                  <a:pt x="448932" y="303453"/>
                </a:lnTo>
                <a:lnTo>
                  <a:pt x="452996" y="248158"/>
                </a:lnTo>
                <a:close/>
              </a:path>
              <a:path w="1618615" h="525779">
                <a:moveTo>
                  <a:pt x="849858" y="516801"/>
                </a:moveTo>
                <a:lnTo>
                  <a:pt x="848715" y="491820"/>
                </a:lnTo>
                <a:lnTo>
                  <a:pt x="847699" y="463626"/>
                </a:lnTo>
                <a:lnTo>
                  <a:pt x="847064" y="432142"/>
                </a:lnTo>
                <a:lnTo>
                  <a:pt x="846810" y="397306"/>
                </a:lnTo>
                <a:lnTo>
                  <a:pt x="846810" y="144627"/>
                </a:lnTo>
                <a:lnTo>
                  <a:pt x="731240" y="144627"/>
                </a:lnTo>
                <a:lnTo>
                  <a:pt x="731240" y="366115"/>
                </a:lnTo>
                <a:lnTo>
                  <a:pt x="730986" y="373253"/>
                </a:lnTo>
                <a:lnTo>
                  <a:pt x="707237" y="418261"/>
                </a:lnTo>
                <a:lnTo>
                  <a:pt x="668883" y="431584"/>
                </a:lnTo>
                <a:lnTo>
                  <a:pt x="642467" y="425615"/>
                </a:lnTo>
                <a:lnTo>
                  <a:pt x="624319" y="408457"/>
                </a:lnTo>
                <a:lnTo>
                  <a:pt x="613778" y="381165"/>
                </a:lnTo>
                <a:lnTo>
                  <a:pt x="610349" y="344817"/>
                </a:lnTo>
                <a:lnTo>
                  <a:pt x="610349" y="144627"/>
                </a:lnTo>
                <a:lnTo>
                  <a:pt x="494906" y="144627"/>
                </a:lnTo>
                <a:lnTo>
                  <a:pt x="494906" y="363054"/>
                </a:lnTo>
                <a:lnTo>
                  <a:pt x="501129" y="424053"/>
                </a:lnTo>
                <a:lnTo>
                  <a:pt x="519036" y="469773"/>
                </a:lnTo>
                <a:lnTo>
                  <a:pt x="546722" y="501230"/>
                </a:lnTo>
                <a:lnTo>
                  <a:pt x="582790" y="519366"/>
                </a:lnTo>
                <a:lnTo>
                  <a:pt x="625589" y="525195"/>
                </a:lnTo>
                <a:lnTo>
                  <a:pt x="669899" y="518883"/>
                </a:lnTo>
                <a:lnTo>
                  <a:pt x="703427" y="503313"/>
                </a:lnTo>
                <a:lnTo>
                  <a:pt x="727049" y="483450"/>
                </a:lnTo>
                <a:lnTo>
                  <a:pt x="741908" y="464299"/>
                </a:lnTo>
                <a:lnTo>
                  <a:pt x="744194" y="464299"/>
                </a:lnTo>
                <a:lnTo>
                  <a:pt x="749528" y="516801"/>
                </a:lnTo>
                <a:lnTo>
                  <a:pt x="849858" y="516801"/>
                </a:lnTo>
                <a:close/>
              </a:path>
              <a:path w="1618615" h="525779">
                <a:moveTo>
                  <a:pt x="1277581" y="327279"/>
                </a:moveTo>
                <a:lnTo>
                  <a:pt x="1273136" y="281241"/>
                </a:lnTo>
                <a:lnTo>
                  <a:pt x="1259928" y="240157"/>
                </a:lnTo>
                <a:lnTo>
                  <a:pt x="1247355" y="219214"/>
                </a:lnTo>
                <a:lnTo>
                  <a:pt x="1238846" y="204800"/>
                </a:lnTo>
                <a:lnTo>
                  <a:pt x="1210411" y="175971"/>
                </a:lnTo>
                <a:lnTo>
                  <a:pt x="1175346" y="154406"/>
                </a:lnTo>
                <a:lnTo>
                  <a:pt x="1157566" y="148501"/>
                </a:lnTo>
                <a:lnTo>
                  <a:pt x="1157490" y="329628"/>
                </a:lnTo>
                <a:lnTo>
                  <a:pt x="1157490" y="331101"/>
                </a:lnTo>
                <a:lnTo>
                  <a:pt x="1152474" y="375132"/>
                </a:lnTo>
                <a:lnTo>
                  <a:pt x="1137754" y="411391"/>
                </a:lnTo>
                <a:lnTo>
                  <a:pt x="1083792" y="442214"/>
                </a:lnTo>
                <a:lnTo>
                  <a:pt x="1083030" y="442214"/>
                </a:lnTo>
                <a:lnTo>
                  <a:pt x="1050772" y="433730"/>
                </a:lnTo>
                <a:lnTo>
                  <a:pt x="1027150" y="410349"/>
                </a:lnTo>
                <a:lnTo>
                  <a:pt x="1012672" y="375132"/>
                </a:lnTo>
                <a:lnTo>
                  <a:pt x="1007719" y="331101"/>
                </a:lnTo>
                <a:lnTo>
                  <a:pt x="1011910" y="290182"/>
                </a:lnTo>
                <a:lnTo>
                  <a:pt x="1025245" y="254330"/>
                </a:lnTo>
                <a:lnTo>
                  <a:pt x="1048867" y="228892"/>
                </a:lnTo>
                <a:lnTo>
                  <a:pt x="1083792" y="219214"/>
                </a:lnTo>
                <a:lnTo>
                  <a:pt x="1117447" y="228892"/>
                </a:lnTo>
                <a:lnTo>
                  <a:pt x="1140333" y="254330"/>
                </a:lnTo>
                <a:lnTo>
                  <a:pt x="1153375" y="289864"/>
                </a:lnTo>
                <a:lnTo>
                  <a:pt x="1157490" y="329628"/>
                </a:lnTo>
                <a:lnTo>
                  <a:pt x="1157490" y="148488"/>
                </a:lnTo>
                <a:lnTo>
                  <a:pt x="1134465" y="140893"/>
                </a:lnTo>
                <a:lnTo>
                  <a:pt x="1088364" y="136232"/>
                </a:lnTo>
                <a:lnTo>
                  <a:pt x="1038796" y="140893"/>
                </a:lnTo>
                <a:lnTo>
                  <a:pt x="1039266" y="140893"/>
                </a:lnTo>
                <a:lnTo>
                  <a:pt x="995883" y="154406"/>
                </a:lnTo>
                <a:lnTo>
                  <a:pt x="996073" y="154406"/>
                </a:lnTo>
                <a:lnTo>
                  <a:pt x="959586" y="175971"/>
                </a:lnTo>
                <a:lnTo>
                  <a:pt x="929741" y="205282"/>
                </a:lnTo>
                <a:lnTo>
                  <a:pt x="907643" y="241693"/>
                </a:lnTo>
                <a:lnTo>
                  <a:pt x="893927" y="284568"/>
                </a:lnTo>
                <a:lnTo>
                  <a:pt x="889228" y="333362"/>
                </a:lnTo>
                <a:lnTo>
                  <a:pt x="894080" y="380911"/>
                </a:lnTo>
                <a:lnTo>
                  <a:pt x="908278" y="423976"/>
                </a:lnTo>
                <a:lnTo>
                  <a:pt x="930630" y="459346"/>
                </a:lnTo>
                <a:lnTo>
                  <a:pt x="960221" y="487565"/>
                </a:lnTo>
                <a:lnTo>
                  <a:pt x="995781" y="508203"/>
                </a:lnTo>
                <a:lnTo>
                  <a:pt x="1036675" y="520877"/>
                </a:lnTo>
                <a:lnTo>
                  <a:pt x="1081506" y="525195"/>
                </a:lnTo>
                <a:lnTo>
                  <a:pt x="1082268" y="525195"/>
                </a:lnTo>
                <a:lnTo>
                  <a:pt x="1124178" y="521335"/>
                </a:lnTo>
                <a:lnTo>
                  <a:pt x="1164170" y="509651"/>
                </a:lnTo>
                <a:lnTo>
                  <a:pt x="1200619" y="489953"/>
                </a:lnTo>
                <a:lnTo>
                  <a:pt x="1231861" y="462064"/>
                </a:lnTo>
                <a:lnTo>
                  <a:pt x="1256245" y="425754"/>
                </a:lnTo>
                <a:lnTo>
                  <a:pt x="1271993" y="380911"/>
                </a:lnTo>
                <a:lnTo>
                  <a:pt x="1277581" y="327279"/>
                </a:lnTo>
                <a:close/>
              </a:path>
              <a:path w="1618615" h="525779">
                <a:moveTo>
                  <a:pt x="1618195" y="150710"/>
                </a:moveTo>
                <a:lnTo>
                  <a:pt x="1598510" y="144602"/>
                </a:lnTo>
                <a:lnTo>
                  <a:pt x="1576412" y="140030"/>
                </a:lnTo>
                <a:lnTo>
                  <a:pt x="1553298" y="137198"/>
                </a:lnTo>
                <a:lnTo>
                  <a:pt x="1530057" y="136220"/>
                </a:lnTo>
                <a:lnTo>
                  <a:pt x="1474685" y="141465"/>
                </a:lnTo>
                <a:lnTo>
                  <a:pt x="1427441" y="156425"/>
                </a:lnTo>
                <a:lnTo>
                  <a:pt x="1388198" y="179844"/>
                </a:lnTo>
                <a:lnTo>
                  <a:pt x="1357464" y="210553"/>
                </a:lnTo>
                <a:lnTo>
                  <a:pt x="1335239" y="247307"/>
                </a:lnTo>
                <a:lnTo>
                  <a:pt x="1321777" y="288912"/>
                </a:lnTo>
                <a:lnTo>
                  <a:pt x="1317205" y="334149"/>
                </a:lnTo>
                <a:lnTo>
                  <a:pt x="1321777" y="381635"/>
                </a:lnTo>
                <a:lnTo>
                  <a:pt x="1335239" y="423278"/>
                </a:lnTo>
                <a:lnTo>
                  <a:pt x="1356956" y="458546"/>
                </a:lnTo>
                <a:lnTo>
                  <a:pt x="1386166" y="486918"/>
                </a:lnTo>
                <a:lnTo>
                  <a:pt x="1422615" y="507822"/>
                </a:lnTo>
                <a:lnTo>
                  <a:pt x="1465414" y="520763"/>
                </a:lnTo>
                <a:lnTo>
                  <a:pt x="1514055" y="525195"/>
                </a:lnTo>
                <a:lnTo>
                  <a:pt x="1545932" y="523862"/>
                </a:lnTo>
                <a:lnTo>
                  <a:pt x="1598891" y="514616"/>
                </a:lnTo>
                <a:lnTo>
                  <a:pt x="1603844" y="422427"/>
                </a:lnTo>
                <a:lnTo>
                  <a:pt x="1590001" y="427558"/>
                </a:lnTo>
                <a:lnTo>
                  <a:pt x="1574507" y="431380"/>
                </a:lnTo>
                <a:lnTo>
                  <a:pt x="1557108" y="433781"/>
                </a:lnTo>
                <a:lnTo>
                  <a:pt x="1537677" y="434606"/>
                </a:lnTo>
                <a:lnTo>
                  <a:pt x="1498053" y="427837"/>
                </a:lnTo>
                <a:lnTo>
                  <a:pt x="1465668" y="407784"/>
                </a:lnTo>
                <a:lnTo>
                  <a:pt x="1443824" y="374891"/>
                </a:lnTo>
                <a:lnTo>
                  <a:pt x="1435823" y="329590"/>
                </a:lnTo>
                <a:lnTo>
                  <a:pt x="1442427" y="287604"/>
                </a:lnTo>
                <a:lnTo>
                  <a:pt x="1462493" y="254609"/>
                </a:lnTo>
                <a:lnTo>
                  <a:pt x="1494116" y="233032"/>
                </a:lnTo>
                <a:lnTo>
                  <a:pt x="1535391" y="225298"/>
                </a:lnTo>
                <a:lnTo>
                  <a:pt x="1556346" y="226225"/>
                </a:lnTo>
                <a:lnTo>
                  <a:pt x="1573999" y="228727"/>
                </a:lnTo>
                <a:lnTo>
                  <a:pt x="1588477" y="232371"/>
                </a:lnTo>
                <a:lnTo>
                  <a:pt x="1600034" y="236715"/>
                </a:lnTo>
                <a:lnTo>
                  <a:pt x="1618195" y="150710"/>
                </a:lnTo>
                <a:close/>
              </a:path>
            </a:pathLst>
          </a:custGeom>
          <a:solidFill>
            <a:srgbClr val="FDB6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3">
            <a:extLst>
              <a:ext uri="{FF2B5EF4-FFF2-40B4-BE49-F238E27FC236}">
                <a16:creationId xmlns:a16="http://schemas.microsoft.com/office/drawing/2014/main" id="{119A67A0-96F1-2793-61E7-AB284414B362}"/>
              </a:ext>
            </a:extLst>
          </p:cNvPr>
          <p:cNvSpPr/>
          <p:nvPr/>
        </p:nvSpPr>
        <p:spPr>
          <a:xfrm>
            <a:off x="11068865" y="6224760"/>
            <a:ext cx="388620" cy="483234"/>
          </a:xfrm>
          <a:custGeom>
            <a:avLst/>
            <a:gdLst/>
            <a:ahLst/>
            <a:cxnLst/>
            <a:rect l="l" t="t" r="r" b="b"/>
            <a:pathLst>
              <a:path w="388619" h="483234">
                <a:moveTo>
                  <a:pt x="387756" y="21"/>
                </a:moveTo>
                <a:lnTo>
                  <a:pt x="280571" y="21"/>
                </a:lnTo>
                <a:lnTo>
                  <a:pt x="280571" y="273635"/>
                </a:lnTo>
                <a:lnTo>
                  <a:pt x="274856" y="328320"/>
                </a:lnTo>
                <a:lnTo>
                  <a:pt x="258093" y="366813"/>
                </a:lnTo>
                <a:lnTo>
                  <a:pt x="230661" y="389558"/>
                </a:lnTo>
                <a:lnTo>
                  <a:pt x="193324" y="397038"/>
                </a:lnTo>
                <a:lnTo>
                  <a:pt x="156622" y="389266"/>
                </a:lnTo>
                <a:lnTo>
                  <a:pt x="129699" y="366013"/>
                </a:lnTo>
                <a:lnTo>
                  <a:pt x="113062" y="327431"/>
                </a:lnTo>
                <a:lnTo>
                  <a:pt x="107347" y="273635"/>
                </a:lnTo>
                <a:lnTo>
                  <a:pt x="107347" y="21"/>
                </a:lnTo>
                <a:lnTo>
                  <a:pt x="-472" y="21"/>
                </a:lnTo>
                <a:lnTo>
                  <a:pt x="-472" y="265190"/>
                </a:lnTo>
                <a:lnTo>
                  <a:pt x="3718" y="325006"/>
                </a:lnTo>
                <a:lnTo>
                  <a:pt x="16291" y="374699"/>
                </a:lnTo>
                <a:lnTo>
                  <a:pt x="36737" y="414614"/>
                </a:lnTo>
                <a:lnTo>
                  <a:pt x="64550" y="445081"/>
                </a:lnTo>
                <a:lnTo>
                  <a:pt x="99728" y="466429"/>
                </a:lnTo>
                <a:lnTo>
                  <a:pt x="141510" y="478989"/>
                </a:lnTo>
                <a:lnTo>
                  <a:pt x="189768" y="483104"/>
                </a:lnTo>
                <a:lnTo>
                  <a:pt x="239805" y="478799"/>
                </a:lnTo>
                <a:lnTo>
                  <a:pt x="283238" y="465832"/>
                </a:lnTo>
                <a:lnTo>
                  <a:pt x="319686" y="444065"/>
                </a:lnTo>
                <a:lnTo>
                  <a:pt x="348768" y="413383"/>
                </a:lnTo>
                <a:lnTo>
                  <a:pt x="370104" y="373658"/>
                </a:lnTo>
                <a:lnTo>
                  <a:pt x="383184" y="324764"/>
                </a:lnTo>
                <a:lnTo>
                  <a:pt x="387756" y="266587"/>
                </a:lnTo>
                <a:lnTo>
                  <a:pt x="387756" y="2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7" name="object 4">
            <a:extLst>
              <a:ext uri="{FF2B5EF4-FFF2-40B4-BE49-F238E27FC236}">
                <a16:creationId xmlns:a16="http://schemas.microsoft.com/office/drawing/2014/main" id="{80D83E8B-9ED2-A8B2-0AF0-B782BBB20F15}"/>
              </a:ext>
            </a:extLst>
          </p:cNvPr>
          <p:cNvGrpSpPr/>
          <p:nvPr/>
        </p:nvGrpSpPr>
        <p:grpSpPr>
          <a:xfrm>
            <a:off x="11510824" y="6110485"/>
            <a:ext cx="446405" cy="596900"/>
            <a:chOff x="19130771" y="10355319"/>
            <a:chExt cx="446405" cy="596900"/>
          </a:xfrm>
        </p:grpSpPr>
        <p:sp>
          <p:nvSpPr>
            <p:cNvPr id="8" name="object 5">
              <a:extLst>
                <a:ext uri="{FF2B5EF4-FFF2-40B4-BE49-F238E27FC236}">
                  <a16:creationId xmlns:a16="http://schemas.microsoft.com/office/drawing/2014/main" id="{2901CAD2-12CF-0D18-F6AD-F6A631A46A90}"/>
                </a:ext>
              </a:extLst>
            </p:cNvPr>
            <p:cNvSpPr/>
            <p:nvPr/>
          </p:nvSpPr>
          <p:spPr>
            <a:xfrm>
              <a:off x="19130771" y="10461974"/>
              <a:ext cx="376555" cy="490220"/>
            </a:xfrm>
            <a:custGeom>
              <a:avLst/>
              <a:gdLst/>
              <a:ahLst/>
              <a:cxnLst/>
              <a:rect l="l" t="t" r="r" b="b"/>
              <a:pathLst>
                <a:path w="376555" h="490220">
                  <a:moveTo>
                    <a:pt x="258716" y="21"/>
                  </a:moveTo>
                  <a:lnTo>
                    <a:pt x="211982" y="3336"/>
                  </a:lnTo>
                  <a:lnTo>
                    <a:pt x="168041" y="13178"/>
                  </a:lnTo>
                  <a:lnTo>
                    <a:pt x="127656" y="29395"/>
                  </a:lnTo>
                  <a:lnTo>
                    <a:pt x="91462" y="51848"/>
                  </a:lnTo>
                  <a:lnTo>
                    <a:pt x="60347" y="80359"/>
                  </a:lnTo>
                  <a:lnTo>
                    <a:pt x="34821" y="114813"/>
                  </a:lnTo>
                  <a:lnTo>
                    <a:pt x="15645" y="155033"/>
                  </a:lnTo>
                  <a:lnTo>
                    <a:pt x="3707" y="200866"/>
                  </a:lnTo>
                  <a:lnTo>
                    <a:pt x="-483" y="252186"/>
                  </a:lnTo>
                  <a:lnTo>
                    <a:pt x="2691" y="295949"/>
                  </a:lnTo>
                  <a:lnTo>
                    <a:pt x="11962" y="336740"/>
                  </a:lnTo>
                  <a:lnTo>
                    <a:pt x="27455" y="373976"/>
                  </a:lnTo>
                  <a:lnTo>
                    <a:pt x="49172" y="407084"/>
                  </a:lnTo>
                  <a:lnTo>
                    <a:pt x="76857" y="435468"/>
                  </a:lnTo>
                  <a:lnTo>
                    <a:pt x="110765" y="458556"/>
                  </a:lnTo>
                  <a:lnTo>
                    <a:pt x="150515" y="475764"/>
                  </a:lnTo>
                  <a:lnTo>
                    <a:pt x="196361" y="486508"/>
                  </a:lnTo>
                  <a:lnTo>
                    <a:pt x="248049" y="490229"/>
                  </a:lnTo>
                  <a:lnTo>
                    <a:pt x="288688" y="488311"/>
                  </a:lnTo>
                  <a:lnTo>
                    <a:pt x="323231" y="483358"/>
                  </a:lnTo>
                  <a:lnTo>
                    <a:pt x="350662" y="476551"/>
                  </a:lnTo>
                  <a:lnTo>
                    <a:pt x="369966" y="469084"/>
                  </a:lnTo>
                  <a:lnTo>
                    <a:pt x="353710" y="385291"/>
                  </a:lnTo>
                  <a:lnTo>
                    <a:pt x="335423" y="391273"/>
                  </a:lnTo>
                  <a:lnTo>
                    <a:pt x="313198" y="396187"/>
                  </a:lnTo>
                  <a:lnTo>
                    <a:pt x="288942" y="399527"/>
                  </a:lnTo>
                  <a:lnTo>
                    <a:pt x="264304" y="400747"/>
                  </a:lnTo>
                  <a:lnTo>
                    <a:pt x="211728" y="393762"/>
                  </a:lnTo>
                  <a:lnTo>
                    <a:pt x="169438" y="373595"/>
                  </a:lnTo>
                  <a:lnTo>
                    <a:pt x="138197" y="341426"/>
                  </a:lnTo>
                  <a:lnTo>
                    <a:pt x="118893" y="298451"/>
                  </a:lnTo>
                  <a:lnTo>
                    <a:pt x="112162" y="245823"/>
                  </a:lnTo>
                  <a:lnTo>
                    <a:pt x="119782" y="188929"/>
                  </a:lnTo>
                  <a:lnTo>
                    <a:pt x="140990" y="144912"/>
                  </a:lnTo>
                  <a:lnTo>
                    <a:pt x="173502" y="113632"/>
                  </a:lnTo>
                  <a:lnTo>
                    <a:pt x="215157" y="94964"/>
                  </a:lnTo>
                  <a:lnTo>
                    <a:pt x="263669" y="88766"/>
                  </a:lnTo>
                  <a:lnTo>
                    <a:pt x="290720" y="90227"/>
                  </a:lnTo>
                  <a:lnTo>
                    <a:pt x="314722" y="94138"/>
                  </a:lnTo>
                  <a:lnTo>
                    <a:pt x="335804" y="99764"/>
                  </a:lnTo>
                  <a:lnTo>
                    <a:pt x="353710" y="106368"/>
                  </a:lnTo>
                  <a:lnTo>
                    <a:pt x="375554" y="21179"/>
                  </a:lnTo>
                  <a:lnTo>
                    <a:pt x="357139" y="13698"/>
                  </a:lnTo>
                  <a:lnTo>
                    <a:pt x="330851" y="6891"/>
                  </a:lnTo>
                  <a:lnTo>
                    <a:pt x="297704" y="1939"/>
                  </a:lnTo>
                  <a:lnTo>
                    <a:pt x="258716" y="2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6">
              <a:extLst>
                <a:ext uri="{FF2B5EF4-FFF2-40B4-BE49-F238E27FC236}">
                  <a16:creationId xmlns:a16="http://schemas.microsoft.com/office/drawing/2014/main" id="{81648FE3-8A71-F802-07BD-F893ECC349E8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9464035" y="10355319"/>
              <a:ext cx="112771" cy="111247"/>
            </a:xfrm>
            <a:prstGeom prst="rect">
              <a:avLst/>
            </a:prstGeom>
          </p:spPr>
        </p:pic>
      </p:grpSp>
      <p:sp>
        <p:nvSpPr>
          <p:cNvPr id="15" name="object 3">
            <a:extLst>
              <a:ext uri="{FF2B5EF4-FFF2-40B4-BE49-F238E27FC236}">
                <a16:creationId xmlns:a16="http://schemas.microsoft.com/office/drawing/2014/main" id="{ED0DFC1E-E033-B2E3-D482-D331CA719F21}"/>
              </a:ext>
            </a:extLst>
          </p:cNvPr>
          <p:cNvSpPr txBox="1"/>
          <p:nvPr/>
        </p:nvSpPr>
        <p:spPr>
          <a:xfrm>
            <a:off x="428" y="502562"/>
            <a:ext cx="4704094" cy="720000"/>
          </a:xfrm>
          <a:prstGeom prst="rect">
            <a:avLst/>
          </a:prstGeom>
          <a:solidFill>
            <a:srgbClr val="FFC000"/>
          </a:solidFill>
        </p:spPr>
        <p:txBody>
          <a:bodyPr vert="horz" wrap="square" lIns="0" tIns="111669" rIns="0" bIns="0" rtlCol="0">
            <a:spAutoFit/>
          </a:bodyPr>
          <a:lstStyle/>
          <a:p>
            <a:pPr marR="140548" lvl="1">
              <a:spcBef>
                <a:spcPts val="879"/>
              </a:spcBef>
            </a:pPr>
            <a:r>
              <a:rPr lang="es-CL" sz="2911" b="1" spc="-6" dirty="0">
                <a:latin typeface="Arial"/>
                <a:cs typeface="Arial"/>
              </a:rPr>
              <a:t>Flujo básico de uso</a:t>
            </a:r>
            <a:r>
              <a:rPr lang="es-ES" sz="2911" b="1" spc="-6" dirty="0">
                <a:latin typeface="Arial"/>
                <a:cs typeface="Arial"/>
              </a:rPr>
              <a:t>s</a:t>
            </a:r>
            <a:endParaRPr sz="2911" b="1" spc="-6" dirty="0">
              <a:latin typeface="Arial"/>
              <a:cs typeface="Arial"/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451EB38-6E13-66CE-730C-20763F7FE7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s-CL" dirty="0"/>
              <a:t>Flujo de autenticación con JWT:</a:t>
            </a:r>
          </a:p>
          <a:p>
            <a:pPr marL="514350" indent="-514350">
              <a:buAutoNum type="arabicPeriod"/>
            </a:pPr>
            <a:r>
              <a:rPr lang="es-CL" dirty="0"/>
              <a:t>El usuario envía credenciales</a:t>
            </a:r>
          </a:p>
          <a:p>
            <a:pPr marL="514350" indent="-514350">
              <a:buAutoNum type="arabicPeriod"/>
            </a:pPr>
            <a:r>
              <a:rPr lang="es-CL" dirty="0"/>
              <a:t>El servidor valida usuario y contraseña</a:t>
            </a:r>
          </a:p>
          <a:p>
            <a:pPr marL="514350" indent="-514350">
              <a:buAutoNum type="arabicPeriod"/>
            </a:pPr>
            <a:r>
              <a:rPr lang="es-CL" dirty="0"/>
              <a:t>El servidor genera un JWT</a:t>
            </a:r>
          </a:p>
          <a:p>
            <a:pPr marL="514350" indent="-514350">
              <a:buAutoNum type="arabicPeriod"/>
            </a:pPr>
            <a:r>
              <a:rPr lang="es-CL" dirty="0"/>
              <a:t>El cliente guarda el token</a:t>
            </a:r>
          </a:p>
          <a:p>
            <a:pPr marL="514350" indent="-514350">
              <a:buAutoNum type="arabicPeriod"/>
            </a:pPr>
            <a:r>
              <a:rPr lang="es-CL" dirty="0"/>
              <a:t>El cliente envía el token en cada petición</a:t>
            </a:r>
          </a:p>
          <a:p>
            <a:pPr marL="514350" indent="-514350">
              <a:buAutoNum type="arabicPeriod"/>
            </a:pPr>
            <a:r>
              <a:rPr lang="es-CL" dirty="0"/>
              <a:t>El servidor valida firma y expiración</a:t>
            </a:r>
          </a:p>
          <a:p>
            <a:pPr marL="514350" indent="-514350">
              <a:buAutoNum type="arabicPeriod"/>
            </a:pPr>
            <a:r>
              <a:rPr lang="es-CL" dirty="0"/>
              <a:t>Si es válido, permite acceso</a:t>
            </a:r>
          </a:p>
          <a:p>
            <a:pPr marL="514350" indent="-514350">
              <a:buAutoNum type="arabicPeriod"/>
            </a:pPr>
            <a:endParaRPr lang="es-CL" dirty="0"/>
          </a:p>
          <a:p>
            <a:pPr marL="0" indent="0">
              <a:buNone/>
            </a:pPr>
            <a:r>
              <a:rPr lang="es-CL" dirty="0"/>
              <a:t>Encabezado HTTP típico:</a:t>
            </a:r>
            <a:br>
              <a:rPr lang="es-CL" dirty="0"/>
            </a:br>
            <a:r>
              <a:rPr lang="es-CL" dirty="0" err="1"/>
              <a:t>Authorization</a:t>
            </a:r>
            <a:r>
              <a:rPr lang="es-CL" dirty="0"/>
              <a:t>: </a:t>
            </a:r>
            <a:r>
              <a:rPr lang="es-CL" dirty="0" err="1"/>
              <a:t>Bearer</a:t>
            </a:r>
            <a:r>
              <a:rPr lang="es-CL" dirty="0"/>
              <a:t> token</a:t>
            </a:r>
          </a:p>
          <a:p>
            <a:pPr marL="0" indent="0">
              <a:buNone/>
            </a:pP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919083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98E167-9E22-6571-1C4F-770454E88C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2">
            <a:extLst>
              <a:ext uri="{FF2B5EF4-FFF2-40B4-BE49-F238E27FC236}">
                <a16:creationId xmlns:a16="http://schemas.microsoft.com/office/drawing/2014/main" id="{C6AF220B-322A-707E-55E1-916EC12D9F12}"/>
              </a:ext>
            </a:extLst>
          </p:cNvPr>
          <p:cNvSpPr/>
          <p:nvPr/>
        </p:nvSpPr>
        <p:spPr>
          <a:xfrm>
            <a:off x="9338693" y="6180589"/>
            <a:ext cx="1618615" cy="525780"/>
          </a:xfrm>
          <a:custGeom>
            <a:avLst/>
            <a:gdLst/>
            <a:ahLst/>
            <a:cxnLst/>
            <a:rect l="l" t="t" r="r" b="b"/>
            <a:pathLst>
              <a:path w="1618615" h="525779">
                <a:moveTo>
                  <a:pt x="452996" y="248158"/>
                </a:moveTo>
                <a:lnTo>
                  <a:pt x="449186" y="196608"/>
                </a:lnTo>
                <a:lnTo>
                  <a:pt x="437883" y="151485"/>
                </a:lnTo>
                <a:lnTo>
                  <a:pt x="419849" y="112661"/>
                </a:lnTo>
                <a:lnTo>
                  <a:pt x="395846" y="79959"/>
                </a:lnTo>
                <a:lnTo>
                  <a:pt x="366382" y="53276"/>
                </a:lnTo>
                <a:lnTo>
                  <a:pt x="330695" y="31584"/>
                </a:lnTo>
                <a:lnTo>
                  <a:pt x="330695" y="251955"/>
                </a:lnTo>
                <a:lnTo>
                  <a:pt x="325107" y="307860"/>
                </a:lnTo>
                <a:lnTo>
                  <a:pt x="308851" y="353148"/>
                </a:lnTo>
                <a:lnTo>
                  <a:pt x="282816" y="387997"/>
                </a:lnTo>
                <a:lnTo>
                  <a:pt x="248145" y="412572"/>
                </a:lnTo>
                <a:lnTo>
                  <a:pt x="205473" y="427037"/>
                </a:lnTo>
                <a:lnTo>
                  <a:pt x="155816" y="431584"/>
                </a:lnTo>
                <a:lnTo>
                  <a:pt x="146786" y="431584"/>
                </a:lnTo>
                <a:lnTo>
                  <a:pt x="134226" y="431292"/>
                </a:lnTo>
                <a:lnTo>
                  <a:pt x="124079" y="430606"/>
                </a:lnTo>
                <a:lnTo>
                  <a:pt x="115570" y="429272"/>
                </a:lnTo>
                <a:lnTo>
                  <a:pt x="115570" y="93611"/>
                </a:lnTo>
                <a:lnTo>
                  <a:pt x="124333" y="91935"/>
                </a:lnTo>
                <a:lnTo>
                  <a:pt x="136004" y="90449"/>
                </a:lnTo>
                <a:lnTo>
                  <a:pt x="150609" y="89420"/>
                </a:lnTo>
                <a:lnTo>
                  <a:pt x="168008" y="89027"/>
                </a:lnTo>
                <a:lnTo>
                  <a:pt x="214871" y="93433"/>
                </a:lnTo>
                <a:lnTo>
                  <a:pt x="254749" y="106743"/>
                </a:lnTo>
                <a:lnTo>
                  <a:pt x="287007" y="129095"/>
                </a:lnTo>
                <a:lnTo>
                  <a:pt x="310756" y="160655"/>
                </a:lnTo>
                <a:lnTo>
                  <a:pt x="325615" y="201561"/>
                </a:lnTo>
                <a:lnTo>
                  <a:pt x="330695" y="251955"/>
                </a:lnTo>
                <a:lnTo>
                  <a:pt x="330695" y="31584"/>
                </a:lnTo>
                <a:lnTo>
                  <a:pt x="326758" y="29210"/>
                </a:lnTo>
                <a:lnTo>
                  <a:pt x="279641" y="12649"/>
                </a:lnTo>
                <a:lnTo>
                  <a:pt x="223253" y="3073"/>
                </a:lnTo>
                <a:lnTo>
                  <a:pt x="155816" y="0"/>
                </a:lnTo>
                <a:lnTo>
                  <a:pt x="113030" y="711"/>
                </a:lnTo>
                <a:lnTo>
                  <a:pt x="72263" y="2857"/>
                </a:lnTo>
                <a:lnTo>
                  <a:pt x="34163" y="6413"/>
                </a:lnTo>
                <a:lnTo>
                  <a:pt x="0" y="11430"/>
                </a:lnTo>
                <a:lnTo>
                  <a:pt x="0" y="514540"/>
                </a:lnTo>
                <a:lnTo>
                  <a:pt x="24003" y="517334"/>
                </a:lnTo>
                <a:lnTo>
                  <a:pt x="53721" y="519760"/>
                </a:lnTo>
                <a:lnTo>
                  <a:pt x="89535" y="521487"/>
                </a:lnTo>
                <a:lnTo>
                  <a:pt x="131432" y="522147"/>
                </a:lnTo>
                <a:lnTo>
                  <a:pt x="189471" y="519569"/>
                </a:lnTo>
                <a:lnTo>
                  <a:pt x="242811" y="511771"/>
                </a:lnTo>
                <a:lnTo>
                  <a:pt x="290817" y="498627"/>
                </a:lnTo>
                <a:lnTo>
                  <a:pt x="332854" y="480072"/>
                </a:lnTo>
                <a:lnTo>
                  <a:pt x="368668" y="455942"/>
                </a:lnTo>
                <a:lnTo>
                  <a:pt x="396100" y="427685"/>
                </a:lnTo>
                <a:lnTo>
                  <a:pt x="419341" y="392976"/>
                </a:lnTo>
                <a:lnTo>
                  <a:pt x="437375" y="351650"/>
                </a:lnTo>
                <a:lnTo>
                  <a:pt x="448932" y="303453"/>
                </a:lnTo>
                <a:lnTo>
                  <a:pt x="452996" y="248158"/>
                </a:lnTo>
                <a:close/>
              </a:path>
              <a:path w="1618615" h="525779">
                <a:moveTo>
                  <a:pt x="849858" y="516801"/>
                </a:moveTo>
                <a:lnTo>
                  <a:pt x="848715" y="491820"/>
                </a:lnTo>
                <a:lnTo>
                  <a:pt x="847699" y="463626"/>
                </a:lnTo>
                <a:lnTo>
                  <a:pt x="847064" y="432142"/>
                </a:lnTo>
                <a:lnTo>
                  <a:pt x="846810" y="397306"/>
                </a:lnTo>
                <a:lnTo>
                  <a:pt x="846810" y="144627"/>
                </a:lnTo>
                <a:lnTo>
                  <a:pt x="731240" y="144627"/>
                </a:lnTo>
                <a:lnTo>
                  <a:pt x="731240" y="366115"/>
                </a:lnTo>
                <a:lnTo>
                  <a:pt x="730986" y="373253"/>
                </a:lnTo>
                <a:lnTo>
                  <a:pt x="707237" y="418261"/>
                </a:lnTo>
                <a:lnTo>
                  <a:pt x="668883" y="431584"/>
                </a:lnTo>
                <a:lnTo>
                  <a:pt x="642467" y="425615"/>
                </a:lnTo>
                <a:lnTo>
                  <a:pt x="624319" y="408457"/>
                </a:lnTo>
                <a:lnTo>
                  <a:pt x="613778" y="381165"/>
                </a:lnTo>
                <a:lnTo>
                  <a:pt x="610349" y="344817"/>
                </a:lnTo>
                <a:lnTo>
                  <a:pt x="610349" y="144627"/>
                </a:lnTo>
                <a:lnTo>
                  <a:pt x="494906" y="144627"/>
                </a:lnTo>
                <a:lnTo>
                  <a:pt x="494906" y="363054"/>
                </a:lnTo>
                <a:lnTo>
                  <a:pt x="501129" y="424053"/>
                </a:lnTo>
                <a:lnTo>
                  <a:pt x="519036" y="469773"/>
                </a:lnTo>
                <a:lnTo>
                  <a:pt x="546722" y="501230"/>
                </a:lnTo>
                <a:lnTo>
                  <a:pt x="582790" y="519366"/>
                </a:lnTo>
                <a:lnTo>
                  <a:pt x="625589" y="525195"/>
                </a:lnTo>
                <a:lnTo>
                  <a:pt x="669899" y="518883"/>
                </a:lnTo>
                <a:lnTo>
                  <a:pt x="703427" y="503313"/>
                </a:lnTo>
                <a:lnTo>
                  <a:pt x="727049" y="483450"/>
                </a:lnTo>
                <a:lnTo>
                  <a:pt x="741908" y="464299"/>
                </a:lnTo>
                <a:lnTo>
                  <a:pt x="744194" y="464299"/>
                </a:lnTo>
                <a:lnTo>
                  <a:pt x="749528" y="516801"/>
                </a:lnTo>
                <a:lnTo>
                  <a:pt x="849858" y="516801"/>
                </a:lnTo>
                <a:close/>
              </a:path>
              <a:path w="1618615" h="525779">
                <a:moveTo>
                  <a:pt x="1277581" y="327279"/>
                </a:moveTo>
                <a:lnTo>
                  <a:pt x="1273136" y="281241"/>
                </a:lnTo>
                <a:lnTo>
                  <a:pt x="1259928" y="240157"/>
                </a:lnTo>
                <a:lnTo>
                  <a:pt x="1247355" y="219214"/>
                </a:lnTo>
                <a:lnTo>
                  <a:pt x="1238846" y="204800"/>
                </a:lnTo>
                <a:lnTo>
                  <a:pt x="1210411" y="175971"/>
                </a:lnTo>
                <a:lnTo>
                  <a:pt x="1175346" y="154406"/>
                </a:lnTo>
                <a:lnTo>
                  <a:pt x="1157566" y="148501"/>
                </a:lnTo>
                <a:lnTo>
                  <a:pt x="1157490" y="329628"/>
                </a:lnTo>
                <a:lnTo>
                  <a:pt x="1157490" y="331101"/>
                </a:lnTo>
                <a:lnTo>
                  <a:pt x="1152474" y="375132"/>
                </a:lnTo>
                <a:lnTo>
                  <a:pt x="1137754" y="411391"/>
                </a:lnTo>
                <a:lnTo>
                  <a:pt x="1083792" y="442214"/>
                </a:lnTo>
                <a:lnTo>
                  <a:pt x="1083030" y="442214"/>
                </a:lnTo>
                <a:lnTo>
                  <a:pt x="1050772" y="433730"/>
                </a:lnTo>
                <a:lnTo>
                  <a:pt x="1027150" y="410349"/>
                </a:lnTo>
                <a:lnTo>
                  <a:pt x="1012672" y="375132"/>
                </a:lnTo>
                <a:lnTo>
                  <a:pt x="1007719" y="331101"/>
                </a:lnTo>
                <a:lnTo>
                  <a:pt x="1011910" y="290182"/>
                </a:lnTo>
                <a:lnTo>
                  <a:pt x="1025245" y="254330"/>
                </a:lnTo>
                <a:lnTo>
                  <a:pt x="1048867" y="228892"/>
                </a:lnTo>
                <a:lnTo>
                  <a:pt x="1083792" y="219214"/>
                </a:lnTo>
                <a:lnTo>
                  <a:pt x="1117447" y="228892"/>
                </a:lnTo>
                <a:lnTo>
                  <a:pt x="1140333" y="254330"/>
                </a:lnTo>
                <a:lnTo>
                  <a:pt x="1153375" y="289864"/>
                </a:lnTo>
                <a:lnTo>
                  <a:pt x="1157490" y="329628"/>
                </a:lnTo>
                <a:lnTo>
                  <a:pt x="1157490" y="148488"/>
                </a:lnTo>
                <a:lnTo>
                  <a:pt x="1134465" y="140893"/>
                </a:lnTo>
                <a:lnTo>
                  <a:pt x="1088364" y="136232"/>
                </a:lnTo>
                <a:lnTo>
                  <a:pt x="1038796" y="140893"/>
                </a:lnTo>
                <a:lnTo>
                  <a:pt x="1039266" y="140893"/>
                </a:lnTo>
                <a:lnTo>
                  <a:pt x="995883" y="154406"/>
                </a:lnTo>
                <a:lnTo>
                  <a:pt x="996073" y="154406"/>
                </a:lnTo>
                <a:lnTo>
                  <a:pt x="959586" y="175971"/>
                </a:lnTo>
                <a:lnTo>
                  <a:pt x="929741" y="205282"/>
                </a:lnTo>
                <a:lnTo>
                  <a:pt x="907643" y="241693"/>
                </a:lnTo>
                <a:lnTo>
                  <a:pt x="893927" y="284568"/>
                </a:lnTo>
                <a:lnTo>
                  <a:pt x="889228" y="333362"/>
                </a:lnTo>
                <a:lnTo>
                  <a:pt x="894080" y="380911"/>
                </a:lnTo>
                <a:lnTo>
                  <a:pt x="908278" y="423976"/>
                </a:lnTo>
                <a:lnTo>
                  <a:pt x="930630" y="459346"/>
                </a:lnTo>
                <a:lnTo>
                  <a:pt x="960221" y="487565"/>
                </a:lnTo>
                <a:lnTo>
                  <a:pt x="995781" y="508203"/>
                </a:lnTo>
                <a:lnTo>
                  <a:pt x="1036675" y="520877"/>
                </a:lnTo>
                <a:lnTo>
                  <a:pt x="1081506" y="525195"/>
                </a:lnTo>
                <a:lnTo>
                  <a:pt x="1082268" y="525195"/>
                </a:lnTo>
                <a:lnTo>
                  <a:pt x="1124178" y="521335"/>
                </a:lnTo>
                <a:lnTo>
                  <a:pt x="1164170" y="509651"/>
                </a:lnTo>
                <a:lnTo>
                  <a:pt x="1200619" y="489953"/>
                </a:lnTo>
                <a:lnTo>
                  <a:pt x="1231861" y="462064"/>
                </a:lnTo>
                <a:lnTo>
                  <a:pt x="1256245" y="425754"/>
                </a:lnTo>
                <a:lnTo>
                  <a:pt x="1271993" y="380911"/>
                </a:lnTo>
                <a:lnTo>
                  <a:pt x="1277581" y="327279"/>
                </a:lnTo>
                <a:close/>
              </a:path>
              <a:path w="1618615" h="525779">
                <a:moveTo>
                  <a:pt x="1618195" y="150710"/>
                </a:moveTo>
                <a:lnTo>
                  <a:pt x="1598510" y="144602"/>
                </a:lnTo>
                <a:lnTo>
                  <a:pt x="1576412" y="140030"/>
                </a:lnTo>
                <a:lnTo>
                  <a:pt x="1553298" y="137198"/>
                </a:lnTo>
                <a:lnTo>
                  <a:pt x="1530057" y="136220"/>
                </a:lnTo>
                <a:lnTo>
                  <a:pt x="1474685" y="141465"/>
                </a:lnTo>
                <a:lnTo>
                  <a:pt x="1427441" y="156425"/>
                </a:lnTo>
                <a:lnTo>
                  <a:pt x="1388198" y="179844"/>
                </a:lnTo>
                <a:lnTo>
                  <a:pt x="1357464" y="210553"/>
                </a:lnTo>
                <a:lnTo>
                  <a:pt x="1335239" y="247307"/>
                </a:lnTo>
                <a:lnTo>
                  <a:pt x="1321777" y="288912"/>
                </a:lnTo>
                <a:lnTo>
                  <a:pt x="1317205" y="334149"/>
                </a:lnTo>
                <a:lnTo>
                  <a:pt x="1321777" y="381635"/>
                </a:lnTo>
                <a:lnTo>
                  <a:pt x="1335239" y="423278"/>
                </a:lnTo>
                <a:lnTo>
                  <a:pt x="1356956" y="458546"/>
                </a:lnTo>
                <a:lnTo>
                  <a:pt x="1386166" y="486918"/>
                </a:lnTo>
                <a:lnTo>
                  <a:pt x="1422615" y="507822"/>
                </a:lnTo>
                <a:lnTo>
                  <a:pt x="1465414" y="520763"/>
                </a:lnTo>
                <a:lnTo>
                  <a:pt x="1514055" y="525195"/>
                </a:lnTo>
                <a:lnTo>
                  <a:pt x="1545932" y="523862"/>
                </a:lnTo>
                <a:lnTo>
                  <a:pt x="1598891" y="514616"/>
                </a:lnTo>
                <a:lnTo>
                  <a:pt x="1603844" y="422427"/>
                </a:lnTo>
                <a:lnTo>
                  <a:pt x="1590001" y="427558"/>
                </a:lnTo>
                <a:lnTo>
                  <a:pt x="1574507" y="431380"/>
                </a:lnTo>
                <a:lnTo>
                  <a:pt x="1557108" y="433781"/>
                </a:lnTo>
                <a:lnTo>
                  <a:pt x="1537677" y="434606"/>
                </a:lnTo>
                <a:lnTo>
                  <a:pt x="1498053" y="427837"/>
                </a:lnTo>
                <a:lnTo>
                  <a:pt x="1465668" y="407784"/>
                </a:lnTo>
                <a:lnTo>
                  <a:pt x="1443824" y="374891"/>
                </a:lnTo>
                <a:lnTo>
                  <a:pt x="1435823" y="329590"/>
                </a:lnTo>
                <a:lnTo>
                  <a:pt x="1442427" y="287604"/>
                </a:lnTo>
                <a:lnTo>
                  <a:pt x="1462493" y="254609"/>
                </a:lnTo>
                <a:lnTo>
                  <a:pt x="1494116" y="233032"/>
                </a:lnTo>
                <a:lnTo>
                  <a:pt x="1535391" y="225298"/>
                </a:lnTo>
                <a:lnTo>
                  <a:pt x="1556346" y="226225"/>
                </a:lnTo>
                <a:lnTo>
                  <a:pt x="1573999" y="228727"/>
                </a:lnTo>
                <a:lnTo>
                  <a:pt x="1588477" y="232371"/>
                </a:lnTo>
                <a:lnTo>
                  <a:pt x="1600034" y="236715"/>
                </a:lnTo>
                <a:lnTo>
                  <a:pt x="1618195" y="150710"/>
                </a:lnTo>
                <a:close/>
              </a:path>
            </a:pathLst>
          </a:custGeom>
          <a:solidFill>
            <a:srgbClr val="FDB6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3">
            <a:extLst>
              <a:ext uri="{FF2B5EF4-FFF2-40B4-BE49-F238E27FC236}">
                <a16:creationId xmlns:a16="http://schemas.microsoft.com/office/drawing/2014/main" id="{12740E11-FD20-7915-1EFB-FE2C33450944}"/>
              </a:ext>
            </a:extLst>
          </p:cNvPr>
          <p:cNvSpPr/>
          <p:nvPr/>
        </p:nvSpPr>
        <p:spPr>
          <a:xfrm>
            <a:off x="11068865" y="6224760"/>
            <a:ext cx="388620" cy="483234"/>
          </a:xfrm>
          <a:custGeom>
            <a:avLst/>
            <a:gdLst/>
            <a:ahLst/>
            <a:cxnLst/>
            <a:rect l="l" t="t" r="r" b="b"/>
            <a:pathLst>
              <a:path w="388619" h="483234">
                <a:moveTo>
                  <a:pt x="387756" y="21"/>
                </a:moveTo>
                <a:lnTo>
                  <a:pt x="280571" y="21"/>
                </a:lnTo>
                <a:lnTo>
                  <a:pt x="280571" y="273635"/>
                </a:lnTo>
                <a:lnTo>
                  <a:pt x="274856" y="328320"/>
                </a:lnTo>
                <a:lnTo>
                  <a:pt x="258093" y="366813"/>
                </a:lnTo>
                <a:lnTo>
                  <a:pt x="230661" y="389558"/>
                </a:lnTo>
                <a:lnTo>
                  <a:pt x="193324" y="397038"/>
                </a:lnTo>
                <a:lnTo>
                  <a:pt x="156622" y="389266"/>
                </a:lnTo>
                <a:lnTo>
                  <a:pt x="129699" y="366013"/>
                </a:lnTo>
                <a:lnTo>
                  <a:pt x="113062" y="327431"/>
                </a:lnTo>
                <a:lnTo>
                  <a:pt x="107347" y="273635"/>
                </a:lnTo>
                <a:lnTo>
                  <a:pt x="107347" y="21"/>
                </a:lnTo>
                <a:lnTo>
                  <a:pt x="-472" y="21"/>
                </a:lnTo>
                <a:lnTo>
                  <a:pt x="-472" y="265190"/>
                </a:lnTo>
                <a:lnTo>
                  <a:pt x="3718" y="325006"/>
                </a:lnTo>
                <a:lnTo>
                  <a:pt x="16291" y="374699"/>
                </a:lnTo>
                <a:lnTo>
                  <a:pt x="36737" y="414614"/>
                </a:lnTo>
                <a:lnTo>
                  <a:pt x="64550" y="445081"/>
                </a:lnTo>
                <a:lnTo>
                  <a:pt x="99728" y="466429"/>
                </a:lnTo>
                <a:lnTo>
                  <a:pt x="141510" y="478989"/>
                </a:lnTo>
                <a:lnTo>
                  <a:pt x="189768" y="483104"/>
                </a:lnTo>
                <a:lnTo>
                  <a:pt x="239805" y="478799"/>
                </a:lnTo>
                <a:lnTo>
                  <a:pt x="283238" y="465832"/>
                </a:lnTo>
                <a:lnTo>
                  <a:pt x="319686" y="444065"/>
                </a:lnTo>
                <a:lnTo>
                  <a:pt x="348768" y="413383"/>
                </a:lnTo>
                <a:lnTo>
                  <a:pt x="370104" y="373658"/>
                </a:lnTo>
                <a:lnTo>
                  <a:pt x="383184" y="324764"/>
                </a:lnTo>
                <a:lnTo>
                  <a:pt x="387756" y="266587"/>
                </a:lnTo>
                <a:lnTo>
                  <a:pt x="387756" y="2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7" name="object 4">
            <a:extLst>
              <a:ext uri="{FF2B5EF4-FFF2-40B4-BE49-F238E27FC236}">
                <a16:creationId xmlns:a16="http://schemas.microsoft.com/office/drawing/2014/main" id="{C4DF3B7E-7DA6-1452-A26F-616C98952757}"/>
              </a:ext>
            </a:extLst>
          </p:cNvPr>
          <p:cNvGrpSpPr/>
          <p:nvPr/>
        </p:nvGrpSpPr>
        <p:grpSpPr>
          <a:xfrm>
            <a:off x="11510824" y="6110485"/>
            <a:ext cx="446405" cy="596900"/>
            <a:chOff x="19130771" y="10355319"/>
            <a:chExt cx="446405" cy="596900"/>
          </a:xfrm>
        </p:grpSpPr>
        <p:sp>
          <p:nvSpPr>
            <p:cNvPr id="8" name="object 5">
              <a:extLst>
                <a:ext uri="{FF2B5EF4-FFF2-40B4-BE49-F238E27FC236}">
                  <a16:creationId xmlns:a16="http://schemas.microsoft.com/office/drawing/2014/main" id="{91E7B428-9EEE-E1AF-6204-17270345C0FC}"/>
                </a:ext>
              </a:extLst>
            </p:cNvPr>
            <p:cNvSpPr/>
            <p:nvPr/>
          </p:nvSpPr>
          <p:spPr>
            <a:xfrm>
              <a:off x="19130771" y="10461974"/>
              <a:ext cx="376555" cy="490220"/>
            </a:xfrm>
            <a:custGeom>
              <a:avLst/>
              <a:gdLst/>
              <a:ahLst/>
              <a:cxnLst/>
              <a:rect l="l" t="t" r="r" b="b"/>
              <a:pathLst>
                <a:path w="376555" h="490220">
                  <a:moveTo>
                    <a:pt x="258716" y="21"/>
                  </a:moveTo>
                  <a:lnTo>
                    <a:pt x="211982" y="3336"/>
                  </a:lnTo>
                  <a:lnTo>
                    <a:pt x="168041" y="13178"/>
                  </a:lnTo>
                  <a:lnTo>
                    <a:pt x="127656" y="29395"/>
                  </a:lnTo>
                  <a:lnTo>
                    <a:pt x="91462" y="51848"/>
                  </a:lnTo>
                  <a:lnTo>
                    <a:pt x="60347" y="80359"/>
                  </a:lnTo>
                  <a:lnTo>
                    <a:pt x="34821" y="114813"/>
                  </a:lnTo>
                  <a:lnTo>
                    <a:pt x="15645" y="155033"/>
                  </a:lnTo>
                  <a:lnTo>
                    <a:pt x="3707" y="200866"/>
                  </a:lnTo>
                  <a:lnTo>
                    <a:pt x="-483" y="252186"/>
                  </a:lnTo>
                  <a:lnTo>
                    <a:pt x="2691" y="295949"/>
                  </a:lnTo>
                  <a:lnTo>
                    <a:pt x="11962" y="336740"/>
                  </a:lnTo>
                  <a:lnTo>
                    <a:pt x="27455" y="373976"/>
                  </a:lnTo>
                  <a:lnTo>
                    <a:pt x="49172" y="407084"/>
                  </a:lnTo>
                  <a:lnTo>
                    <a:pt x="76857" y="435468"/>
                  </a:lnTo>
                  <a:lnTo>
                    <a:pt x="110765" y="458556"/>
                  </a:lnTo>
                  <a:lnTo>
                    <a:pt x="150515" y="475764"/>
                  </a:lnTo>
                  <a:lnTo>
                    <a:pt x="196361" y="486508"/>
                  </a:lnTo>
                  <a:lnTo>
                    <a:pt x="248049" y="490229"/>
                  </a:lnTo>
                  <a:lnTo>
                    <a:pt x="288688" y="488311"/>
                  </a:lnTo>
                  <a:lnTo>
                    <a:pt x="323231" y="483358"/>
                  </a:lnTo>
                  <a:lnTo>
                    <a:pt x="350662" y="476551"/>
                  </a:lnTo>
                  <a:lnTo>
                    <a:pt x="369966" y="469084"/>
                  </a:lnTo>
                  <a:lnTo>
                    <a:pt x="353710" y="385291"/>
                  </a:lnTo>
                  <a:lnTo>
                    <a:pt x="335423" y="391273"/>
                  </a:lnTo>
                  <a:lnTo>
                    <a:pt x="313198" y="396187"/>
                  </a:lnTo>
                  <a:lnTo>
                    <a:pt x="288942" y="399527"/>
                  </a:lnTo>
                  <a:lnTo>
                    <a:pt x="264304" y="400747"/>
                  </a:lnTo>
                  <a:lnTo>
                    <a:pt x="211728" y="393762"/>
                  </a:lnTo>
                  <a:lnTo>
                    <a:pt x="169438" y="373595"/>
                  </a:lnTo>
                  <a:lnTo>
                    <a:pt x="138197" y="341426"/>
                  </a:lnTo>
                  <a:lnTo>
                    <a:pt x="118893" y="298451"/>
                  </a:lnTo>
                  <a:lnTo>
                    <a:pt x="112162" y="245823"/>
                  </a:lnTo>
                  <a:lnTo>
                    <a:pt x="119782" y="188929"/>
                  </a:lnTo>
                  <a:lnTo>
                    <a:pt x="140990" y="144912"/>
                  </a:lnTo>
                  <a:lnTo>
                    <a:pt x="173502" y="113632"/>
                  </a:lnTo>
                  <a:lnTo>
                    <a:pt x="215157" y="94964"/>
                  </a:lnTo>
                  <a:lnTo>
                    <a:pt x="263669" y="88766"/>
                  </a:lnTo>
                  <a:lnTo>
                    <a:pt x="290720" y="90227"/>
                  </a:lnTo>
                  <a:lnTo>
                    <a:pt x="314722" y="94138"/>
                  </a:lnTo>
                  <a:lnTo>
                    <a:pt x="335804" y="99764"/>
                  </a:lnTo>
                  <a:lnTo>
                    <a:pt x="353710" y="106368"/>
                  </a:lnTo>
                  <a:lnTo>
                    <a:pt x="375554" y="21179"/>
                  </a:lnTo>
                  <a:lnTo>
                    <a:pt x="357139" y="13698"/>
                  </a:lnTo>
                  <a:lnTo>
                    <a:pt x="330851" y="6891"/>
                  </a:lnTo>
                  <a:lnTo>
                    <a:pt x="297704" y="1939"/>
                  </a:lnTo>
                  <a:lnTo>
                    <a:pt x="258716" y="2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6">
              <a:extLst>
                <a:ext uri="{FF2B5EF4-FFF2-40B4-BE49-F238E27FC236}">
                  <a16:creationId xmlns:a16="http://schemas.microsoft.com/office/drawing/2014/main" id="{8982224C-1FEE-134D-DF5F-73D2ABA456B8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9464035" y="10355319"/>
              <a:ext cx="112771" cy="111247"/>
            </a:xfrm>
            <a:prstGeom prst="rect">
              <a:avLst/>
            </a:prstGeom>
          </p:spPr>
        </p:pic>
      </p:grpSp>
      <p:sp>
        <p:nvSpPr>
          <p:cNvPr id="15" name="object 3">
            <a:extLst>
              <a:ext uri="{FF2B5EF4-FFF2-40B4-BE49-F238E27FC236}">
                <a16:creationId xmlns:a16="http://schemas.microsoft.com/office/drawing/2014/main" id="{4FFB9867-B771-C0AD-3C04-A665E0FBD8FC}"/>
              </a:ext>
            </a:extLst>
          </p:cNvPr>
          <p:cNvSpPr txBox="1"/>
          <p:nvPr/>
        </p:nvSpPr>
        <p:spPr>
          <a:xfrm>
            <a:off x="428" y="502561"/>
            <a:ext cx="1743386" cy="720000"/>
          </a:xfrm>
          <a:prstGeom prst="rect">
            <a:avLst/>
          </a:prstGeom>
          <a:solidFill>
            <a:srgbClr val="FFC000"/>
          </a:solidFill>
        </p:spPr>
        <p:txBody>
          <a:bodyPr vert="horz" wrap="square" lIns="0" tIns="111669" rIns="0" bIns="0" rtlCol="0">
            <a:spAutoFit/>
          </a:bodyPr>
          <a:lstStyle/>
          <a:p>
            <a:pPr marR="140548" lvl="1">
              <a:spcBef>
                <a:spcPts val="879"/>
              </a:spcBef>
            </a:pPr>
            <a:r>
              <a:rPr lang="es-CL" sz="2911" b="1" spc="-6" dirty="0">
                <a:latin typeface="Arial"/>
                <a:cs typeface="Arial"/>
              </a:rPr>
              <a:t>Uso</a:t>
            </a:r>
            <a:r>
              <a:rPr lang="es-ES" sz="2911" b="1" spc="-6" dirty="0">
                <a:latin typeface="Arial"/>
                <a:cs typeface="Arial"/>
              </a:rPr>
              <a:t>s</a:t>
            </a:r>
            <a:endParaRPr sz="2911" b="1" spc="-6" dirty="0">
              <a:latin typeface="Arial"/>
              <a:cs typeface="Arial"/>
            </a:endParaRPr>
          </a:p>
        </p:txBody>
      </p:sp>
      <p:pic>
        <p:nvPicPr>
          <p:cNvPr id="5122" name="Picture 2" descr="Sequence Diagram for JWT Authorization | Download Scientific Diagram">
            <a:extLst>
              <a:ext uri="{FF2B5EF4-FFF2-40B4-BE49-F238E27FC236}">
                <a16:creationId xmlns:a16="http://schemas.microsoft.com/office/drawing/2014/main" id="{E724CA5C-71F5-CFF5-6A18-FD2CAEFA2517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49214" y="-15066"/>
            <a:ext cx="6817637" cy="68730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444889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97C6B4A-1071-D25D-D37D-1F98761136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s-CL" dirty="0"/>
              <a:t>Ventajas en microservicios:</a:t>
            </a:r>
          </a:p>
          <a:p>
            <a:r>
              <a:rPr lang="es-CL" dirty="0"/>
              <a:t>No depende de sesión en memoria</a:t>
            </a:r>
          </a:p>
          <a:p>
            <a:r>
              <a:rPr lang="es-CL" dirty="0"/>
              <a:t>Facilita escalabilidad horizontal</a:t>
            </a:r>
          </a:p>
          <a:p>
            <a:r>
              <a:rPr lang="es-CL" dirty="0"/>
              <a:t>Reduce acoplamiento entre servicios</a:t>
            </a:r>
          </a:p>
          <a:p>
            <a:r>
              <a:rPr lang="es-CL" dirty="0"/>
              <a:t>Permite autenticación </a:t>
            </a:r>
            <a:r>
              <a:rPr lang="es-CL" dirty="0" err="1"/>
              <a:t>stateless</a:t>
            </a:r>
            <a:endParaRPr lang="es-CL" dirty="0"/>
          </a:p>
          <a:p>
            <a:r>
              <a:rPr lang="es-CL" dirty="0"/>
              <a:t>Es fácil de enviar entre servicios o </a:t>
            </a:r>
            <a:r>
              <a:rPr lang="es-CL" dirty="0" err="1"/>
              <a:t>gateways</a:t>
            </a:r>
            <a:endParaRPr lang="es-CL" dirty="0"/>
          </a:p>
          <a:p>
            <a:pPr marL="0" indent="0">
              <a:buNone/>
            </a:pPr>
            <a:endParaRPr lang="es-CL" dirty="0"/>
          </a:p>
          <a:p>
            <a:pPr marL="0" indent="0">
              <a:buNone/>
            </a:pPr>
            <a:r>
              <a:rPr lang="es-CL" dirty="0"/>
              <a:t>Pero atención:</a:t>
            </a:r>
          </a:p>
          <a:p>
            <a:r>
              <a:rPr lang="es-CL" dirty="0"/>
              <a:t>Revocar tokens no es trivial</a:t>
            </a:r>
          </a:p>
          <a:p>
            <a:r>
              <a:rPr lang="es-CL" dirty="0"/>
              <a:t>Un token mal diseñado expone riesgos</a:t>
            </a:r>
          </a:p>
          <a:p>
            <a:r>
              <a:rPr lang="es-CL" dirty="0"/>
              <a:t>No resuelve autorización por sí solo</a:t>
            </a:r>
          </a:p>
          <a:p>
            <a:pPr marL="0" indent="0">
              <a:buNone/>
            </a:pPr>
            <a:endParaRPr lang="es-ES_tradnl" dirty="0"/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25C89B55-0EE5-3D0F-BCB5-C0163B993782}"/>
              </a:ext>
            </a:extLst>
          </p:cNvPr>
          <p:cNvSpPr/>
          <p:nvPr/>
        </p:nvSpPr>
        <p:spPr>
          <a:xfrm>
            <a:off x="9338693" y="6180589"/>
            <a:ext cx="1618615" cy="525780"/>
          </a:xfrm>
          <a:custGeom>
            <a:avLst/>
            <a:gdLst/>
            <a:ahLst/>
            <a:cxnLst/>
            <a:rect l="l" t="t" r="r" b="b"/>
            <a:pathLst>
              <a:path w="1618615" h="525779">
                <a:moveTo>
                  <a:pt x="452996" y="248158"/>
                </a:moveTo>
                <a:lnTo>
                  <a:pt x="449186" y="196608"/>
                </a:lnTo>
                <a:lnTo>
                  <a:pt x="437883" y="151485"/>
                </a:lnTo>
                <a:lnTo>
                  <a:pt x="419849" y="112661"/>
                </a:lnTo>
                <a:lnTo>
                  <a:pt x="395846" y="79959"/>
                </a:lnTo>
                <a:lnTo>
                  <a:pt x="366382" y="53276"/>
                </a:lnTo>
                <a:lnTo>
                  <a:pt x="330695" y="31584"/>
                </a:lnTo>
                <a:lnTo>
                  <a:pt x="330695" y="251955"/>
                </a:lnTo>
                <a:lnTo>
                  <a:pt x="325107" y="307860"/>
                </a:lnTo>
                <a:lnTo>
                  <a:pt x="308851" y="353148"/>
                </a:lnTo>
                <a:lnTo>
                  <a:pt x="282816" y="387997"/>
                </a:lnTo>
                <a:lnTo>
                  <a:pt x="248145" y="412572"/>
                </a:lnTo>
                <a:lnTo>
                  <a:pt x="205473" y="427037"/>
                </a:lnTo>
                <a:lnTo>
                  <a:pt x="155816" y="431584"/>
                </a:lnTo>
                <a:lnTo>
                  <a:pt x="146786" y="431584"/>
                </a:lnTo>
                <a:lnTo>
                  <a:pt x="134226" y="431292"/>
                </a:lnTo>
                <a:lnTo>
                  <a:pt x="124079" y="430606"/>
                </a:lnTo>
                <a:lnTo>
                  <a:pt x="115570" y="429272"/>
                </a:lnTo>
                <a:lnTo>
                  <a:pt x="115570" y="93611"/>
                </a:lnTo>
                <a:lnTo>
                  <a:pt x="124333" y="91935"/>
                </a:lnTo>
                <a:lnTo>
                  <a:pt x="136004" y="90449"/>
                </a:lnTo>
                <a:lnTo>
                  <a:pt x="150609" y="89420"/>
                </a:lnTo>
                <a:lnTo>
                  <a:pt x="168008" y="89027"/>
                </a:lnTo>
                <a:lnTo>
                  <a:pt x="214871" y="93433"/>
                </a:lnTo>
                <a:lnTo>
                  <a:pt x="254749" y="106743"/>
                </a:lnTo>
                <a:lnTo>
                  <a:pt x="287007" y="129095"/>
                </a:lnTo>
                <a:lnTo>
                  <a:pt x="310756" y="160655"/>
                </a:lnTo>
                <a:lnTo>
                  <a:pt x="325615" y="201561"/>
                </a:lnTo>
                <a:lnTo>
                  <a:pt x="330695" y="251955"/>
                </a:lnTo>
                <a:lnTo>
                  <a:pt x="330695" y="31584"/>
                </a:lnTo>
                <a:lnTo>
                  <a:pt x="326758" y="29210"/>
                </a:lnTo>
                <a:lnTo>
                  <a:pt x="279641" y="12649"/>
                </a:lnTo>
                <a:lnTo>
                  <a:pt x="223253" y="3073"/>
                </a:lnTo>
                <a:lnTo>
                  <a:pt x="155816" y="0"/>
                </a:lnTo>
                <a:lnTo>
                  <a:pt x="113030" y="711"/>
                </a:lnTo>
                <a:lnTo>
                  <a:pt x="72263" y="2857"/>
                </a:lnTo>
                <a:lnTo>
                  <a:pt x="34163" y="6413"/>
                </a:lnTo>
                <a:lnTo>
                  <a:pt x="0" y="11430"/>
                </a:lnTo>
                <a:lnTo>
                  <a:pt x="0" y="514540"/>
                </a:lnTo>
                <a:lnTo>
                  <a:pt x="24003" y="517334"/>
                </a:lnTo>
                <a:lnTo>
                  <a:pt x="53721" y="519760"/>
                </a:lnTo>
                <a:lnTo>
                  <a:pt x="89535" y="521487"/>
                </a:lnTo>
                <a:lnTo>
                  <a:pt x="131432" y="522147"/>
                </a:lnTo>
                <a:lnTo>
                  <a:pt x="189471" y="519569"/>
                </a:lnTo>
                <a:lnTo>
                  <a:pt x="242811" y="511771"/>
                </a:lnTo>
                <a:lnTo>
                  <a:pt x="290817" y="498627"/>
                </a:lnTo>
                <a:lnTo>
                  <a:pt x="332854" y="480072"/>
                </a:lnTo>
                <a:lnTo>
                  <a:pt x="368668" y="455942"/>
                </a:lnTo>
                <a:lnTo>
                  <a:pt x="396100" y="427685"/>
                </a:lnTo>
                <a:lnTo>
                  <a:pt x="419341" y="392976"/>
                </a:lnTo>
                <a:lnTo>
                  <a:pt x="437375" y="351650"/>
                </a:lnTo>
                <a:lnTo>
                  <a:pt x="448932" y="303453"/>
                </a:lnTo>
                <a:lnTo>
                  <a:pt x="452996" y="248158"/>
                </a:lnTo>
                <a:close/>
              </a:path>
              <a:path w="1618615" h="525779">
                <a:moveTo>
                  <a:pt x="849858" y="516801"/>
                </a:moveTo>
                <a:lnTo>
                  <a:pt x="848715" y="491820"/>
                </a:lnTo>
                <a:lnTo>
                  <a:pt x="847699" y="463626"/>
                </a:lnTo>
                <a:lnTo>
                  <a:pt x="847064" y="432142"/>
                </a:lnTo>
                <a:lnTo>
                  <a:pt x="846810" y="397306"/>
                </a:lnTo>
                <a:lnTo>
                  <a:pt x="846810" y="144627"/>
                </a:lnTo>
                <a:lnTo>
                  <a:pt x="731240" y="144627"/>
                </a:lnTo>
                <a:lnTo>
                  <a:pt x="731240" y="366115"/>
                </a:lnTo>
                <a:lnTo>
                  <a:pt x="730986" y="373253"/>
                </a:lnTo>
                <a:lnTo>
                  <a:pt x="707237" y="418261"/>
                </a:lnTo>
                <a:lnTo>
                  <a:pt x="668883" y="431584"/>
                </a:lnTo>
                <a:lnTo>
                  <a:pt x="642467" y="425615"/>
                </a:lnTo>
                <a:lnTo>
                  <a:pt x="624319" y="408457"/>
                </a:lnTo>
                <a:lnTo>
                  <a:pt x="613778" y="381165"/>
                </a:lnTo>
                <a:lnTo>
                  <a:pt x="610349" y="344817"/>
                </a:lnTo>
                <a:lnTo>
                  <a:pt x="610349" y="144627"/>
                </a:lnTo>
                <a:lnTo>
                  <a:pt x="494906" y="144627"/>
                </a:lnTo>
                <a:lnTo>
                  <a:pt x="494906" y="363054"/>
                </a:lnTo>
                <a:lnTo>
                  <a:pt x="501129" y="424053"/>
                </a:lnTo>
                <a:lnTo>
                  <a:pt x="519036" y="469773"/>
                </a:lnTo>
                <a:lnTo>
                  <a:pt x="546722" y="501230"/>
                </a:lnTo>
                <a:lnTo>
                  <a:pt x="582790" y="519366"/>
                </a:lnTo>
                <a:lnTo>
                  <a:pt x="625589" y="525195"/>
                </a:lnTo>
                <a:lnTo>
                  <a:pt x="669899" y="518883"/>
                </a:lnTo>
                <a:lnTo>
                  <a:pt x="703427" y="503313"/>
                </a:lnTo>
                <a:lnTo>
                  <a:pt x="727049" y="483450"/>
                </a:lnTo>
                <a:lnTo>
                  <a:pt x="741908" y="464299"/>
                </a:lnTo>
                <a:lnTo>
                  <a:pt x="744194" y="464299"/>
                </a:lnTo>
                <a:lnTo>
                  <a:pt x="749528" y="516801"/>
                </a:lnTo>
                <a:lnTo>
                  <a:pt x="849858" y="516801"/>
                </a:lnTo>
                <a:close/>
              </a:path>
              <a:path w="1618615" h="525779">
                <a:moveTo>
                  <a:pt x="1277581" y="327279"/>
                </a:moveTo>
                <a:lnTo>
                  <a:pt x="1273136" y="281241"/>
                </a:lnTo>
                <a:lnTo>
                  <a:pt x="1259928" y="240157"/>
                </a:lnTo>
                <a:lnTo>
                  <a:pt x="1247355" y="219214"/>
                </a:lnTo>
                <a:lnTo>
                  <a:pt x="1238846" y="204800"/>
                </a:lnTo>
                <a:lnTo>
                  <a:pt x="1210411" y="175971"/>
                </a:lnTo>
                <a:lnTo>
                  <a:pt x="1175346" y="154406"/>
                </a:lnTo>
                <a:lnTo>
                  <a:pt x="1157566" y="148501"/>
                </a:lnTo>
                <a:lnTo>
                  <a:pt x="1157490" y="329628"/>
                </a:lnTo>
                <a:lnTo>
                  <a:pt x="1157490" y="331101"/>
                </a:lnTo>
                <a:lnTo>
                  <a:pt x="1152474" y="375132"/>
                </a:lnTo>
                <a:lnTo>
                  <a:pt x="1137754" y="411391"/>
                </a:lnTo>
                <a:lnTo>
                  <a:pt x="1083792" y="442214"/>
                </a:lnTo>
                <a:lnTo>
                  <a:pt x="1083030" y="442214"/>
                </a:lnTo>
                <a:lnTo>
                  <a:pt x="1050772" y="433730"/>
                </a:lnTo>
                <a:lnTo>
                  <a:pt x="1027150" y="410349"/>
                </a:lnTo>
                <a:lnTo>
                  <a:pt x="1012672" y="375132"/>
                </a:lnTo>
                <a:lnTo>
                  <a:pt x="1007719" y="331101"/>
                </a:lnTo>
                <a:lnTo>
                  <a:pt x="1011910" y="290182"/>
                </a:lnTo>
                <a:lnTo>
                  <a:pt x="1025245" y="254330"/>
                </a:lnTo>
                <a:lnTo>
                  <a:pt x="1048867" y="228892"/>
                </a:lnTo>
                <a:lnTo>
                  <a:pt x="1083792" y="219214"/>
                </a:lnTo>
                <a:lnTo>
                  <a:pt x="1117447" y="228892"/>
                </a:lnTo>
                <a:lnTo>
                  <a:pt x="1140333" y="254330"/>
                </a:lnTo>
                <a:lnTo>
                  <a:pt x="1153375" y="289864"/>
                </a:lnTo>
                <a:lnTo>
                  <a:pt x="1157490" y="329628"/>
                </a:lnTo>
                <a:lnTo>
                  <a:pt x="1157490" y="148488"/>
                </a:lnTo>
                <a:lnTo>
                  <a:pt x="1134465" y="140893"/>
                </a:lnTo>
                <a:lnTo>
                  <a:pt x="1088364" y="136232"/>
                </a:lnTo>
                <a:lnTo>
                  <a:pt x="1038796" y="140893"/>
                </a:lnTo>
                <a:lnTo>
                  <a:pt x="1039266" y="140893"/>
                </a:lnTo>
                <a:lnTo>
                  <a:pt x="995883" y="154406"/>
                </a:lnTo>
                <a:lnTo>
                  <a:pt x="996073" y="154406"/>
                </a:lnTo>
                <a:lnTo>
                  <a:pt x="959586" y="175971"/>
                </a:lnTo>
                <a:lnTo>
                  <a:pt x="929741" y="205282"/>
                </a:lnTo>
                <a:lnTo>
                  <a:pt x="907643" y="241693"/>
                </a:lnTo>
                <a:lnTo>
                  <a:pt x="893927" y="284568"/>
                </a:lnTo>
                <a:lnTo>
                  <a:pt x="889228" y="333362"/>
                </a:lnTo>
                <a:lnTo>
                  <a:pt x="894080" y="380911"/>
                </a:lnTo>
                <a:lnTo>
                  <a:pt x="908278" y="423976"/>
                </a:lnTo>
                <a:lnTo>
                  <a:pt x="930630" y="459346"/>
                </a:lnTo>
                <a:lnTo>
                  <a:pt x="960221" y="487565"/>
                </a:lnTo>
                <a:lnTo>
                  <a:pt x="995781" y="508203"/>
                </a:lnTo>
                <a:lnTo>
                  <a:pt x="1036675" y="520877"/>
                </a:lnTo>
                <a:lnTo>
                  <a:pt x="1081506" y="525195"/>
                </a:lnTo>
                <a:lnTo>
                  <a:pt x="1082268" y="525195"/>
                </a:lnTo>
                <a:lnTo>
                  <a:pt x="1124178" y="521335"/>
                </a:lnTo>
                <a:lnTo>
                  <a:pt x="1164170" y="509651"/>
                </a:lnTo>
                <a:lnTo>
                  <a:pt x="1200619" y="489953"/>
                </a:lnTo>
                <a:lnTo>
                  <a:pt x="1231861" y="462064"/>
                </a:lnTo>
                <a:lnTo>
                  <a:pt x="1256245" y="425754"/>
                </a:lnTo>
                <a:lnTo>
                  <a:pt x="1271993" y="380911"/>
                </a:lnTo>
                <a:lnTo>
                  <a:pt x="1277581" y="327279"/>
                </a:lnTo>
                <a:close/>
              </a:path>
              <a:path w="1618615" h="525779">
                <a:moveTo>
                  <a:pt x="1618195" y="150710"/>
                </a:moveTo>
                <a:lnTo>
                  <a:pt x="1598510" y="144602"/>
                </a:lnTo>
                <a:lnTo>
                  <a:pt x="1576412" y="140030"/>
                </a:lnTo>
                <a:lnTo>
                  <a:pt x="1553298" y="137198"/>
                </a:lnTo>
                <a:lnTo>
                  <a:pt x="1530057" y="136220"/>
                </a:lnTo>
                <a:lnTo>
                  <a:pt x="1474685" y="141465"/>
                </a:lnTo>
                <a:lnTo>
                  <a:pt x="1427441" y="156425"/>
                </a:lnTo>
                <a:lnTo>
                  <a:pt x="1388198" y="179844"/>
                </a:lnTo>
                <a:lnTo>
                  <a:pt x="1357464" y="210553"/>
                </a:lnTo>
                <a:lnTo>
                  <a:pt x="1335239" y="247307"/>
                </a:lnTo>
                <a:lnTo>
                  <a:pt x="1321777" y="288912"/>
                </a:lnTo>
                <a:lnTo>
                  <a:pt x="1317205" y="334149"/>
                </a:lnTo>
                <a:lnTo>
                  <a:pt x="1321777" y="381635"/>
                </a:lnTo>
                <a:lnTo>
                  <a:pt x="1335239" y="423278"/>
                </a:lnTo>
                <a:lnTo>
                  <a:pt x="1356956" y="458546"/>
                </a:lnTo>
                <a:lnTo>
                  <a:pt x="1386166" y="486918"/>
                </a:lnTo>
                <a:lnTo>
                  <a:pt x="1422615" y="507822"/>
                </a:lnTo>
                <a:lnTo>
                  <a:pt x="1465414" y="520763"/>
                </a:lnTo>
                <a:lnTo>
                  <a:pt x="1514055" y="525195"/>
                </a:lnTo>
                <a:lnTo>
                  <a:pt x="1545932" y="523862"/>
                </a:lnTo>
                <a:lnTo>
                  <a:pt x="1598891" y="514616"/>
                </a:lnTo>
                <a:lnTo>
                  <a:pt x="1603844" y="422427"/>
                </a:lnTo>
                <a:lnTo>
                  <a:pt x="1590001" y="427558"/>
                </a:lnTo>
                <a:lnTo>
                  <a:pt x="1574507" y="431380"/>
                </a:lnTo>
                <a:lnTo>
                  <a:pt x="1557108" y="433781"/>
                </a:lnTo>
                <a:lnTo>
                  <a:pt x="1537677" y="434606"/>
                </a:lnTo>
                <a:lnTo>
                  <a:pt x="1498053" y="427837"/>
                </a:lnTo>
                <a:lnTo>
                  <a:pt x="1465668" y="407784"/>
                </a:lnTo>
                <a:lnTo>
                  <a:pt x="1443824" y="374891"/>
                </a:lnTo>
                <a:lnTo>
                  <a:pt x="1435823" y="329590"/>
                </a:lnTo>
                <a:lnTo>
                  <a:pt x="1442427" y="287604"/>
                </a:lnTo>
                <a:lnTo>
                  <a:pt x="1462493" y="254609"/>
                </a:lnTo>
                <a:lnTo>
                  <a:pt x="1494116" y="233032"/>
                </a:lnTo>
                <a:lnTo>
                  <a:pt x="1535391" y="225298"/>
                </a:lnTo>
                <a:lnTo>
                  <a:pt x="1556346" y="226225"/>
                </a:lnTo>
                <a:lnTo>
                  <a:pt x="1573999" y="228727"/>
                </a:lnTo>
                <a:lnTo>
                  <a:pt x="1588477" y="232371"/>
                </a:lnTo>
                <a:lnTo>
                  <a:pt x="1600034" y="236715"/>
                </a:lnTo>
                <a:lnTo>
                  <a:pt x="1618195" y="150710"/>
                </a:lnTo>
                <a:close/>
              </a:path>
            </a:pathLst>
          </a:custGeom>
          <a:solidFill>
            <a:srgbClr val="FDB6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3">
            <a:extLst>
              <a:ext uri="{FF2B5EF4-FFF2-40B4-BE49-F238E27FC236}">
                <a16:creationId xmlns:a16="http://schemas.microsoft.com/office/drawing/2014/main" id="{238B1EA6-C5DB-F3D5-B7F1-86587F88B572}"/>
              </a:ext>
            </a:extLst>
          </p:cNvPr>
          <p:cNvSpPr/>
          <p:nvPr/>
        </p:nvSpPr>
        <p:spPr>
          <a:xfrm>
            <a:off x="11068865" y="6224760"/>
            <a:ext cx="388620" cy="483234"/>
          </a:xfrm>
          <a:custGeom>
            <a:avLst/>
            <a:gdLst/>
            <a:ahLst/>
            <a:cxnLst/>
            <a:rect l="l" t="t" r="r" b="b"/>
            <a:pathLst>
              <a:path w="388619" h="483234">
                <a:moveTo>
                  <a:pt x="387756" y="21"/>
                </a:moveTo>
                <a:lnTo>
                  <a:pt x="280571" y="21"/>
                </a:lnTo>
                <a:lnTo>
                  <a:pt x="280571" y="273635"/>
                </a:lnTo>
                <a:lnTo>
                  <a:pt x="274856" y="328320"/>
                </a:lnTo>
                <a:lnTo>
                  <a:pt x="258093" y="366813"/>
                </a:lnTo>
                <a:lnTo>
                  <a:pt x="230661" y="389558"/>
                </a:lnTo>
                <a:lnTo>
                  <a:pt x="193324" y="397038"/>
                </a:lnTo>
                <a:lnTo>
                  <a:pt x="156622" y="389266"/>
                </a:lnTo>
                <a:lnTo>
                  <a:pt x="129699" y="366013"/>
                </a:lnTo>
                <a:lnTo>
                  <a:pt x="113062" y="327431"/>
                </a:lnTo>
                <a:lnTo>
                  <a:pt x="107347" y="273635"/>
                </a:lnTo>
                <a:lnTo>
                  <a:pt x="107347" y="21"/>
                </a:lnTo>
                <a:lnTo>
                  <a:pt x="-472" y="21"/>
                </a:lnTo>
                <a:lnTo>
                  <a:pt x="-472" y="265190"/>
                </a:lnTo>
                <a:lnTo>
                  <a:pt x="3718" y="325006"/>
                </a:lnTo>
                <a:lnTo>
                  <a:pt x="16291" y="374699"/>
                </a:lnTo>
                <a:lnTo>
                  <a:pt x="36737" y="414614"/>
                </a:lnTo>
                <a:lnTo>
                  <a:pt x="64550" y="445081"/>
                </a:lnTo>
                <a:lnTo>
                  <a:pt x="99728" y="466429"/>
                </a:lnTo>
                <a:lnTo>
                  <a:pt x="141510" y="478989"/>
                </a:lnTo>
                <a:lnTo>
                  <a:pt x="189768" y="483104"/>
                </a:lnTo>
                <a:lnTo>
                  <a:pt x="239805" y="478799"/>
                </a:lnTo>
                <a:lnTo>
                  <a:pt x="283238" y="465832"/>
                </a:lnTo>
                <a:lnTo>
                  <a:pt x="319686" y="444065"/>
                </a:lnTo>
                <a:lnTo>
                  <a:pt x="348768" y="413383"/>
                </a:lnTo>
                <a:lnTo>
                  <a:pt x="370104" y="373658"/>
                </a:lnTo>
                <a:lnTo>
                  <a:pt x="383184" y="324764"/>
                </a:lnTo>
                <a:lnTo>
                  <a:pt x="387756" y="266587"/>
                </a:lnTo>
                <a:lnTo>
                  <a:pt x="387756" y="2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6" name="object 4">
            <a:extLst>
              <a:ext uri="{FF2B5EF4-FFF2-40B4-BE49-F238E27FC236}">
                <a16:creationId xmlns:a16="http://schemas.microsoft.com/office/drawing/2014/main" id="{812F782F-6B6A-F96B-03FE-EFFBEE698E16}"/>
              </a:ext>
            </a:extLst>
          </p:cNvPr>
          <p:cNvGrpSpPr/>
          <p:nvPr/>
        </p:nvGrpSpPr>
        <p:grpSpPr>
          <a:xfrm>
            <a:off x="11510824" y="6110485"/>
            <a:ext cx="446405" cy="596900"/>
            <a:chOff x="19130771" y="10355319"/>
            <a:chExt cx="446405" cy="596900"/>
          </a:xfrm>
        </p:grpSpPr>
        <p:sp>
          <p:nvSpPr>
            <p:cNvPr id="7" name="object 5">
              <a:extLst>
                <a:ext uri="{FF2B5EF4-FFF2-40B4-BE49-F238E27FC236}">
                  <a16:creationId xmlns:a16="http://schemas.microsoft.com/office/drawing/2014/main" id="{2A665591-FB8A-34CC-5625-F9589364EBF0}"/>
                </a:ext>
              </a:extLst>
            </p:cNvPr>
            <p:cNvSpPr/>
            <p:nvPr/>
          </p:nvSpPr>
          <p:spPr>
            <a:xfrm>
              <a:off x="19130771" y="10461974"/>
              <a:ext cx="376555" cy="490220"/>
            </a:xfrm>
            <a:custGeom>
              <a:avLst/>
              <a:gdLst/>
              <a:ahLst/>
              <a:cxnLst/>
              <a:rect l="l" t="t" r="r" b="b"/>
              <a:pathLst>
                <a:path w="376555" h="490220">
                  <a:moveTo>
                    <a:pt x="258716" y="21"/>
                  </a:moveTo>
                  <a:lnTo>
                    <a:pt x="211982" y="3336"/>
                  </a:lnTo>
                  <a:lnTo>
                    <a:pt x="168041" y="13178"/>
                  </a:lnTo>
                  <a:lnTo>
                    <a:pt x="127656" y="29395"/>
                  </a:lnTo>
                  <a:lnTo>
                    <a:pt x="91462" y="51848"/>
                  </a:lnTo>
                  <a:lnTo>
                    <a:pt x="60347" y="80359"/>
                  </a:lnTo>
                  <a:lnTo>
                    <a:pt x="34821" y="114813"/>
                  </a:lnTo>
                  <a:lnTo>
                    <a:pt x="15645" y="155033"/>
                  </a:lnTo>
                  <a:lnTo>
                    <a:pt x="3707" y="200866"/>
                  </a:lnTo>
                  <a:lnTo>
                    <a:pt x="-483" y="252186"/>
                  </a:lnTo>
                  <a:lnTo>
                    <a:pt x="2691" y="295949"/>
                  </a:lnTo>
                  <a:lnTo>
                    <a:pt x="11962" y="336740"/>
                  </a:lnTo>
                  <a:lnTo>
                    <a:pt x="27455" y="373976"/>
                  </a:lnTo>
                  <a:lnTo>
                    <a:pt x="49172" y="407084"/>
                  </a:lnTo>
                  <a:lnTo>
                    <a:pt x="76857" y="435468"/>
                  </a:lnTo>
                  <a:lnTo>
                    <a:pt x="110765" y="458556"/>
                  </a:lnTo>
                  <a:lnTo>
                    <a:pt x="150515" y="475764"/>
                  </a:lnTo>
                  <a:lnTo>
                    <a:pt x="196361" y="486508"/>
                  </a:lnTo>
                  <a:lnTo>
                    <a:pt x="248049" y="490229"/>
                  </a:lnTo>
                  <a:lnTo>
                    <a:pt x="288688" y="488311"/>
                  </a:lnTo>
                  <a:lnTo>
                    <a:pt x="323231" y="483358"/>
                  </a:lnTo>
                  <a:lnTo>
                    <a:pt x="350662" y="476551"/>
                  </a:lnTo>
                  <a:lnTo>
                    <a:pt x="369966" y="469084"/>
                  </a:lnTo>
                  <a:lnTo>
                    <a:pt x="353710" y="385291"/>
                  </a:lnTo>
                  <a:lnTo>
                    <a:pt x="335423" y="391273"/>
                  </a:lnTo>
                  <a:lnTo>
                    <a:pt x="313198" y="396187"/>
                  </a:lnTo>
                  <a:lnTo>
                    <a:pt x="288942" y="399527"/>
                  </a:lnTo>
                  <a:lnTo>
                    <a:pt x="264304" y="400747"/>
                  </a:lnTo>
                  <a:lnTo>
                    <a:pt x="211728" y="393762"/>
                  </a:lnTo>
                  <a:lnTo>
                    <a:pt x="169438" y="373595"/>
                  </a:lnTo>
                  <a:lnTo>
                    <a:pt x="138197" y="341426"/>
                  </a:lnTo>
                  <a:lnTo>
                    <a:pt x="118893" y="298451"/>
                  </a:lnTo>
                  <a:lnTo>
                    <a:pt x="112162" y="245823"/>
                  </a:lnTo>
                  <a:lnTo>
                    <a:pt x="119782" y="188929"/>
                  </a:lnTo>
                  <a:lnTo>
                    <a:pt x="140990" y="144912"/>
                  </a:lnTo>
                  <a:lnTo>
                    <a:pt x="173502" y="113632"/>
                  </a:lnTo>
                  <a:lnTo>
                    <a:pt x="215157" y="94964"/>
                  </a:lnTo>
                  <a:lnTo>
                    <a:pt x="263669" y="88766"/>
                  </a:lnTo>
                  <a:lnTo>
                    <a:pt x="290720" y="90227"/>
                  </a:lnTo>
                  <a:lnTo>
                    <a:pt x="314722" y="94138"/>
                  </a:lnTo>
                  <a:lnTo>
                    <a:pt x="335804" y="99764"/>
                  </a:lnTo>
                  <a:lnTo>
                    <a:pt x="353710" y="106368"/>
                  </a:lnTo>
                  <a:lnTo>
                    <a:pt x="375554" y="21179"/>
                  </a:lnTo>
                  <a:lnTo>
                    <a:pt x="357139" y="13698"/>
                  </a:lnTo>
                  <a:lnTo>
                    <a:pt x="330851" y="6891"/>
                  </a:lnTo>
                  <a:lnTo>
                    <a:pt x="297704" y="1939"/>
                  </a:lnTo>
                  <a:lnTo>
                    <a:pt x="258716" y="2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6">
              <a:extLst>
                <a:ext uri="{FF2B5EF4-FFF2-40B4-BE49-F238E27FC236}">
                  <a16:creationId xmlns:a16="http://schemas.microsoft.com/office/drawing/2014/main" id="{799EB20A-7CE7-655E-5787-F6C5C3808A37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9464035" y="10355319"/>
              <a:ext cx="112771" cy="111247"/>
            </a:xfrm>
            <a:prstGeom prst="rect">
              <a:avLst/>
            </a:prstGeom>
          </p:spPr>
        </p:pic>
      </p:grpSp>
      <p:sp>
        <p:nvSpPr>
          <p:cNvPr id="14" name="object 3">
            <a:extLst>
              <a:ext uri="{FF2B5EF4-FFF2-40B4-BE49-F238E27FC236}">
                <a16:creationId xmlns:a16="http://schemas.microsoft.com/office/drawing/2014/main" id="{6A36263E-B1C9-D18B-7E60-2B526BA42347}"/>
              </a:ext>
            </a:extLst>
          </p:cNvPr>
          <p:cNvSpPr txBox="1"/>
          <p:nvPr/>
        </p:nvSpPr>
        <p:spPr>
          <a:xfrm>
            <a:off x="428" y="502561"/>
            <a:ext cx="8268929" cy="720000"/>
          </a:xfrm>
          <a:prstGeom prst="rect">
            <a:avLst/>
          </a:prstGeom>
          <a:solidFill>
            <a:srgbClr val="FFC000"/>
          </a:solidFill>
        </p:spPr>
        <p:txBody>
          <a:bodyPr vert="horz" wrap="square" lIns="0" tIns="111669" rIns="0" bIns="0" rtlCol="0">
            <a:spAutoFit/>
          </a:bodyPr>
          <a:lstStyle/>
          <a:p>
            <a:pPr marR="140548" lvl="1">
              <a:spcBef>
                <a:spcPts val="879"/>
              </a:spcBef>
            </a:pPr>
            <a:r>
              <a:rPr lang="es-CL" sz="2911" b="1" spc="-6" dirty="0">
                <a:latin typeface="Arial"/>
                <a:cs typeface="Arial"/>
              </a:rPr>
              <a:t>¿Por qué se usa tanto en microservicios?</a:t>
            </a:r>
            <a:r>
              <a:rPr lang="es-ES" sz="2911" b="1" spc="-6" dirty="0">
                <a:latin typeface="Arial"/>
                <a:cs typeface="Arial"/>
              </a:rPr>
              <a:t> </a:t>
            </a:r>
            <a:endParaRPr sz="2911" b="1" spc="-6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2713546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199C0C-E594-A710-FBEE-48683B02E7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>
            <a:extLst>
              <a:ext uri="{FF2B5EF4-FFF2-40B4-BE49-F238E27FC236}">
                <a16:creationId xmlns:a16="http://schemas.microsoft.com/office/drawing/2014/main" id="{CDCA363C-4512-A55D-5997-69FDC88C8220}"/>
              </a:ext>
            </a:extLst>
          </p:cNvPr>
          <p:cNvSpPr/>
          <p:nvPr/>
        </p:nvSpPr>
        <p:spPr>
          <a:xfrm>
            <a:off x="9338693" y="6180589"/>
            <a:ext cx="1618615" cy="525780"/>
          </a:xfrm>
          <a:custGeom>
            <a:avLst/>
            <a:gdLst/>
            <a:ahLst/>
            <a:cxnLst/>
            <a:rect l="l" t="t" r="r" b="b"/>
            <a:pathLst>
              <a:path w="1618615" h="525779">
                <a:moveTo>
                  <a:pt x="452996" y="248158"/>
                </a:moveTo>
                <a:lnTo>
                  <a:pt x="449186" y="196608"/>
                </a:lnTo>
                <a:lnTo>
                  <a:pt x="437883" y="151485"/>
                </a:lnTo>
                <a:lnTo>
                  <a:pt x="419849" y="112661"/>
                </a:lnTo>
                <a:lnTo>
                  <a:pt x="395846" y="79959"/>
                </a:lnTo>
                <a:lnTo>
                  <a:pt x="366382" y="53276"/>
                </a:lnTo>
                <a:lnTo>
                  <a:pt x="330695" y="31584"/>
                </a:lnTo>
                <a:lnTo>
                  <a:pt x="330695" y="251955"/>
                </a:lnTo>
                <a:lnTo>
                  <a:pt x="325107" y="307860"/>
                </a:lnTo>
                <a:lnTo>
                  <a:pt x="308851" y="353148"/>
                </a:lnTo>
                <a:lnTo>
                  <a:pt x="282816" y="387997"/>
                </a:lnTo>
                <a:lnTo>
                  <a:pt x="248145" y="412572"/>
                </a:lnTo>
                <a:lnTo>
                  <a:pt x="205473" y="427037"/>
                </a:lnTo>
                <a:lnTo>
                  <a:pt x="155816" y="431584"/>
                </a:lnTo>
                <a:lnTo>
                  <a:pt x="146786" y="431584"/>
                </a:lnTo>
                <a:lnTo>
                  <a:pt x="134226" y="431292"/>
                </a:lnTo>
                <a:lnTo>
                  <a:pt x="124079" y="430606"/>
                </a:lnTo>
                <a:lnTo>
                  <a:pt x="115570" y="429272"/>
                </a:lnTo>
                <a:lnTo>
                  <a:pt x="115570" y="93611"/>
                </a:lnTo>
                <a:lnTo>
                  <a:pt x="124333" y="91935"/>
                </a:lnTo>
                <a:lnTo>
                  <a:pt x="136004" y="90449"/>
                </a:lnTo>
                <a:lnTo>
                  <a:pt x="150609" y="89420"/>
                </a:lnTo>
                <a:lnTo>
                  <a:pt x="168008" y="89027"/>
                </a:lnTo>
                <a:lnTo>
                  <a:pt x="214871" y="93433"/>
                </a:lnTo>
                <a:lnTo>
                  <a:pt x="254749" y="106743"/>
                </a:lnTo>
                <a:lnTo>
                  <a:pt x="287007" y="129095"/>
                </a:lnTo>
                <a:lnTo>
                  <a:pt x="310756" y="160655"/>
                </a:lnTo>
                <a:lnTo>
                  <a:pt x="325615" y="201561"/>
                </a:lnTo>
                <a:lnTo>
                  <a:pt x="330695" y="251955"/>
                </a:lnTo>
                <a:lnTo>
                  <a:pt x="330695" y="31584"/>
                </a:lnTo>
                <a:lnTo>
                  <a:pt x="326758" y="29210"/>
                </a:lnTo>
                <a:lnTo>
                  <a:pt x="279641" y="12649"/>
                </a:lnTo>
                <a:lnTo>
                  <a:pt x="223253" y="3073"/>
                </a:lnTo>
                <a:lnTo>
                  <a:pt x="155816" y="0"/>
                </a:lnTo>
                <a:lnTo>
                  <a:pt x="113030" y="711"/>
                </a:lnTo>
                <a:lnTo>
                  <a:pt x="72263" y="2857"/>
                </a:lnTo>
                <a:lnTo>
                  <a:pt x="34163" y="6413"/>
                </a:lnTo>
                <a:lnTo>
                  <a:pt x="0" y="11430"/>
                </a:lnTo>
                <a:lnTo>
                  <a:pt x="0" y="514540"/>
                </a:lnTo>
                <a:lnTo>
                  <a:pt x="24003" y="517334"/>
                </a:lnTo>
                <a:lnTo>
                  <a:pt x="53721" y="519760"/>
                </a:lnTo>
                <a:lnTo>
                  <a:pt x="89535" y="521487"/>
                </a:lnTo>
                <a:lnTo>
                  <a:pt x="131432" y="522147"/>
                </a:lnTo>
                <a:lnTo>
                  <a:pt x="189471" y="519569"/>
                </a:lnTo>
                <a:lnTo>
                  <a:pt x="242811" y="511771"/>
                </a:lnTo>
                <a:lnTo>
                  <a:pt x="290817" y="498627"/>
                </a:lnTo>
                <a:lnTo>
                  <a:pt x="332854" y="480072"/>
                </a:lnTo>
                <a:lnTo>
                  <a:pt x="368668" y="455942"/>
                </a:lnTo>
                <a:lnTo>
                  <a:pt x="396100" y="427685"/>
                </a:lnTo>
                <a:lnTo>
                  <a:pt x="419341" y="392976"/>
                </a:lnTo>
                <a:lnTo>
                  <a:pt x="437375" y="351650"/>
                </a:lnTo>
                <a:lnTo>
                  <a:pt x="448932" y="303453"/>
                </a:lnTo>
                <a:lnTo>
                  <a:pt x="452996" y="248158"/>
                </a:lnTo>
                <a:close/>
              </a:path>
              <a:path w="1618615" h="525779">
                <a:moveTo>
                  <a:pt x="849858" y="516801"/>
                </a:moveTo>
                <a:lnTo>
                  <a:pt x="848715" y="491820"/>
                </a:lnTo>
                <a:lnTo>
                  <a:pt x="847699" y="463626"/>
                </a:lnTo>
                <a:lnTo>
                  <a:pt x="847064" y="432142"/>
                </a:lnTo>
                <a:lnTo>
                  <a:pt x="846810" y="397306"/>
                </a:lnTo>
                <a:lnTo>
                  <a:pt x="846810" y="144627"/>
                </a:lnTo>
                <a:lnTo>
                  <a:pt x="731240" y="144627"/>
                </a:lnTo>
                <a:lnTo>
                  <a:pt x="731240" y="366115"/>
                </a:lnTo>
                <a:lnTo>
                  <a:pt x="730986" y="373253"/>
                </a:lnTo>
                <a:lnTo>
                  <a:pt x="707237" y="418261"/>
                </a:lnTo>
                <a:lnTo>
                  <a:pt x="668883" y="431584"/>
                </a:lnTo>
                <a:lnTo>
                  <a:pt x="642467" y="425615"/>
                </a:lnTo>
                <a:lnTo>
                  <a:pt x="624319" y="408457"/>
                </a:lnTo>
                <a:lnTo>
                  <a:pt x="613778" y="381165"/>
                </a:lnTo>
                <a:lnTo>
                  <a:pt x="610349" y="344817"/>
                </a:lnTo>
                <a:lnTo>
                  <a:pt x="610349" y="144627"/>
                </a:lnTo>
                <a:lnTo>
                  <a:pt x="494906" y="144627"/>
                </a:lnTo>
                <a:lnTo>
                  <a:pt x="494906" y="363054"/>
                </a:lnTo>
                <a:lnTo>
                  <a:pt x="501129" y="424053"/>
                </a:lnTo>
                <a:lnTo>
                  <a:pt x="519036" y="469773"/>
                </a:lnTo>
                <a:lnTo>
                  <a:pt x="546722" y="501230"/>
                </a:lnTo>
                <a:lnTo>
                  <a:pt x="582790" y="519366"/>
                </a:lnTo>
                <a:lnTo>
                  <a:pt x="625589" y="525195"/>
                </a:lnTo>
                <a:lnTo>
                  <a:pt x="669899" y="518883"/>
                </a:lnTo>
                <a:lnTo>
                  <a:pt x="703427" y="503313"/>
                </a:lnTo>
                <a:lnTo>
                  <a:pt x="727049" y="483450"/>
                </a:lnTo>
                <a:lnTo>
                  <a:pt x="741908" y="464299"/>
                </a:lnTo>
                <a:lnTo>
                  <a:pt x="744194" y="464299"/>
                </a:lnTo>
                <a:lnTo>
                  <a:pt x="749528" y="516801"/>
                </a:lnTo>
                <a:lnTo>
                  <a:pt x="849858" y="516801"/>
                </a:lnTo>
                <a:close/>
              </a:path>
              <a:path w="1618615" h="525779">
                <a:moveTo>
                  <a:pt x="1277581" y="327279"/>
                </a:moveTo>
                <a:lnTo>
                  <a:pt x="1273136" y="281241"/>
                </a:lnTo>
                <a:lnTo>
                  <a:pt x="1259928" y="240157"/>
                </a:lnTo>
                <a:lnTo>
                  <a:pt x="1247355" y="219214"/>
                </a:lnTo>
                <a:lnTo>
                  <a:pt x="1238846" y="204800"/>
                </a:lnTo>
                <a:lnTo>
                  <a:pt x="1210411" y="175971"/>
                </a:lnTo>
                <a:lnTo>
                  <a:pt x="1175346" y="154406"/>
                </a:lnTo>
                <a:lnTo>
                  <a:pt x="1157566" y="148501"/>
                </a:lnTo>
                <a:lnTo>
                  <a:pt x="1157490" y="329628"/>
                </a:lnTo>
                <a:lnTo>
                  <a:pt x="1157490" y="331101"/>
                </a:lnTo>
                <a:lnTo>
                  <a:pt x="1152474" y="375132"/>
                </a:lnTo>
                <a:lnTo>
                  <a:pt x="1137754" y="411391"/>
                </a:lnTo>
                <a:lnTo>
                  <a:pt x="1083792" y="442214"/>
                </a:lnTo>
                <a:lnTo>
                  <a:pt x="1083030" y="442214"/>
                </a:lnTo>
                <a:lnTo>
                  <a:pt x="1050772" y="433730"/>
                </a:lnTo>
                <a:lnTo>
                  <a:pt x="1027150" y="410349"/>
                </a:lnTo>
                <a:lnTo>
                  <a:pt x="1012672" y="375132"/>
                </a:lnTo>
                <a:lnTo>
                  <a:pt x="1007719" y="331101"/>
                </a:lnTo>
                <a:lnTo>
                  <a:pt x="1011910" y="290182"/>
                </a:lnTo>
                <a:lnTo>
                  <a:pt x="1025245" y="254330"/>
                </a:lnTo>
                <a:lnTo>
                  <a:pt x="1048867" y="228892"/>
                </a:lnTo>
                <a:lnTo>
                  <a:pt x="1083792" y="219214"/>
                </a:lnTo>
                <a:lnTo>
                  <a:pt x="1117447" y="228892"/>
                </a:lnTo>
                <a:lnTo>
                  <a:pt x="1140333" y="254330"/>
                </a:lnTo>
                <a:lnTo>
                  <a:pt x="1153375" y="289864"/>
                </a:lnTo>
                <a:lnTo>
                  <a:pt x="1157490" y="329628"/>
                </a:lnTo>
                <a:lnTo>
                  <a:pt x="1157490" y="148488"/>
                </a:lnTo>
                <a:lnTo>
                  <a:pt x="1134465" y="140893"/>
                </a:lnTo>
                <a:lnTo>
                  <a:pt x="1088364" y="136232"/>
                </a:lnTo>
                <a:lnTo>
                  <a:pt x="1038796" y="140893"/>
                </a:lnTo>
                <a:lnTo>
                  <a:pt x="1039266" y="140893"/>
                </a:lnTo>
                <a:lnTo>
                  <a:pt x="995883" y="154406"/>
                </a:lnTo>
                <a:lnTo>
                  <a:pt x="996073" y="154406"/>
                </a:lnTo>
                <a:lnTo>
                  <a:pt x="959586" y="175971"/>
                </a:lnTo>
                <a:lnTo>
                  <a:pt x="929741" y="205282"/>
                </a:lnTo>
                <a:lnTo>
                  <a:pt x="907643" y="241693"/>
                </a:lnTo>
                <a:lnTo>
                  <a:pt x="893927" y="284568"/>
                </a:lnTo>
                <a:lnTo>
                  <a:pt x="889228" y="333362"/>
                </a:lnTo>
                <a:lnTo>
                  <a:pt x="894080" y="380911"/>
                </a:lnTo>
                <a:lnTo>
                  <a:pt x="908278" y="423976"/>
                </a:lnTo>
                <a:lnTo>
                  <a:pt x="930630" y="459346"/>
                </a:lnTo>
                <a:lnTo>
                  <a:pt x="960221" y="487565"/>
                </a:lnTo>
                <a:lnTo>
                  <a:pt x="995781" y="508203"/>
                </a:lnTo>
                <a:lnTo>
                  <a:pt x="1036675" y="520877"/>
                </a:lnTo>
                <a:lnTo>
                  <a:pt x="1081506" y="525195"/>
                </a:lnTo>
                <a:lnTo>
                  <a:pt x="1082268" y="525195"/>
                </a:lnTo>
                <a:lnTo>
                  <a:pt x="1124178" y="521335"/>
                </a:lnTo>
                <a:lnTo>
                  <a:pt x="1164170" y="509651"/>
                </a:lnTo>
                <a:lnTo>
                  <a:pt x="1200619" y="489953"/>
                </a:lnTo>
                <a:lnTo>
                  <a:pt x="1231861" y="462064"/>
                </a:lnTo>
                <a:lnTo>
                  <a:pt x="1256245" y="425754"/>
                </a:lnTo>
                <a:lnTo>
                  <a:pt x="1271993" y="380911"/>
                </a:lnTo>
                <a:lnTo>
                  <a:pt x="1277581" y="327279"/>
                </a:lnTo>
                <a:close/>
              </a:path>
              <a:path w="1618615" h="525779">
                <a:moveTo>
                  <a:pt x="1618195" y="150710"/>
                </a:moveTo>
                <a:lnTo>
                  <a:pt x="1598510" y="144602"/>
                </a:lnTo>
                <a:lnTo>
                  <a:pt x="1576412" y="140030"/>
                </a:lnTo>
                <a:lnTo>
                  <a:pt x="1553298" y="137198"/>
                </a:lnTo>
                <a:lnTo>
                  <a:pt x="1530057" y="136220"/>
                </a:lnTo>
                <a:lnTo>
                  <a:pt x="1474685" y="141465"/>
                </a:lnTo>
                <a:lnTo>
                  <a:pt x="1427441" y="156425"/>
                </a:lnTo>
                <a:lnTo>
                  <a:pt x="1388198" y="179844"/>
                </a:lnTo>
                <a:lnTo>
                  <a:pt x="1357464" y="210553"/>
                </a:lnTo>
                <a:lnTo>
                  <a:pt x="1335239" y="247307"/>
                </a:lnTo>
                <a:lnTo>
                  <a:pt x="1321777" y="288912"/>
                </a:lnTo>
                <a:lnTo>
                  <a:pt x="1317205" y="334149"/>
                </a:lnTo>
                <a:lnTo>
                  <a:pt x="1321777" y="381635"/>
                </a:lnTo>
                <a:lnTo>
                  <a:pt x="1335239" y="423278"/>
                </a:lnTo>
                <a:lnTo>
                  <a:pt x="1356956" y="458546"/>
                </a:lnTo>
                <a:lnTo>
                  <a:pt x="1386166" y="486918"/>
                </a:lnTo>
                <a:lnTo>
                  <a:pt x="1422615" y="507822"/>
                </a:lnTo>
                <a:lnTo>
                  <a:pt x="1465414" y="520763"/>
                </a:lnTo>
                <a:lnTo>
                  <a:pt x="1514055" y="525195"/>
                </a:lnTo>
                <a:lnTo>
                  <a:pt x="1545932" y="523862"/>
                </a:lnTo>
                <a:lnTo>
                  <a:pt x="1598891" y="514616"/>
                </a:lnTo>
                <a:lnTo>
                  <a:pt x="1603844" y="422427"/>
                </a:lnTo>
                <a:lnTo>
                  <a:pt x="1590001" y="427558"/>
                </a:lnTo>
                <a:lnTo>
                  <a:pt x="1574507" y="431380"/>
                </a:lnTo>
                <a:lnTo>
                  <a:pt x="1557108" y="433781"/>
                </a:lnTo>
                <a:lnTo>
                  <a:pt x="1537677" y="434606"/>
                </a:lnTo>
                <a:lnTo>
                  <a:pt x="1498053" y="427837"/>
                </a:lnTo>
                <a:lnTo>
                  <a:pt x="1465668" y="407784"/>
                </a:lnTo>
                <a:lnTo>
                  <a:pt x="1443824" y="374891"/>
                </a:lnTo>
                <a:lnTo>
                  <a:pt x="1435823" y="329590"/>
                </a:lnTo>
                <a:lnTo>
                  <a:pt x="1442427" y="287604"/>
                </a:lnTo>
                <a:lnTo>
                  <a:pt x="1462493" y="254609"/>
                </a:lnTo>
                <a:lnTo>
                  <a:pt x="1494116" y="233032"/>
                </a:lnTo>
                <a:lnTo>
                  <a:pt x="1535391" y="225298"/>
                </a:lnTo>
                <a:lnTo>
                  <a:pt x="1556346" y="226225"/>
                </a:lnTo>
                <a:lnTo>
                  <a:pt x="1573999" y="228727"/>
                </a:lnTo>
                <a:lnTo>
                  <a:pt x="1588477" y="232371"/>
                </a:lnTo>
                <a:lnTo>
                  <a:pt x="1600034" y="236715"/>
                </a:lnTo>
                <a:lnTo>
                  <a:pt x="1618195" y="150710"/>
                </a:lnTo>
                <a:close/>
              </a:path>
            </a:pathLst>
          </a:custGeom>
          <a:solidFill>
            <a:srgbClr val="FDB6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3">
            <a:extLst>
              <a:ext uri="{FF2B5EF4-FFF2-40B4-BE49-F238E27FC236}">
                <a16:creationId xmlns:a16="http://schemas.microsoft.com/office/drawing/2014/main" id="{02DFEF3F-003F-6245-DFCD-89CF8FF45C97}"/>
              </a:ext>
            </a:extLst>
          </p:cNvPr>
          <p:cNvSpPr/>
          <p:nvPr/>
        </p:nvSpPr>
        <p:spPr>
          <a:xfrm>
            <a:off x="11068865" y="6224760"/>
            <a:ext cx="388620" cy="483234"/>
          </a:xfrm>
          <a:custGeom>
            <a:avLst/>
            <a:gdLst/>
            <a:ahLst/>
            <a:cxnLst/>
            <a:rect l="l" t="t" r="r" b="b"/>
            <a:pathLst>
              <a:path w="388619" h="483234">
                <a:moveTo>
                  <a:pt x="387756" y="21"/>
                </a:moveTo>
                <a:lnTo>
                  <a:pt x="280571" y="21"/>
                </a:lnTo>
                <a:lnTo>
                  <a:pt x="280571" y="273635"/>
                </a:lnTo>
                <a:lnTo>
                  <a:pt x="274856" y="328320"/>
                </a:lnTo>
                <a:lnTo>
                  <a:pt x="258093" y="366813"/>
                </a:lnTo>
                <a:lnTo>
                  <a:pt x="230661" y="389558"/>
                </a:lnTo>
                <a:lnTo>
                  <a:pt x="193324" y="397038"/>
                </a:lnTo>
                <a:lnTo>
                  <a:pt x="156622" y="389266"/>
                </a:lnTo>
                <a:lnTo>
                  <a:pt x="129699" y="366013"/>
                </a:lnTo>
                <a:lnTo>
                  <a:pt x="113062" y="327431"/>
                </a:lnTo>
                <a:lnTo>
                  <a:pt x="107347" y="273635"/>
                </a:lnTo>
                <a:lnTo>
                  <a:pt x="107347" y="21"/>
                </a:lnTo>
                <a:lnTo>
                  <a:pt x="-472" y="21"/>
                </a:lnTo>
                <a:lnTo>
                  <a:pt x="-472" y="265190"/>
                </a:lnTo>
                <a:lnTo>
                  <a:pt x="3718" y="325006"/>
                </a:lnTo>
                <a:lnTo>
                  <a:pt x="16291" y="374699"/>
                </a:lnTo>
                <a:lnTo>
                  <a:pt x="36737" y="414614"/>
                </a:lnTo>
                <a:lnTo>
                  <a:pt x="64550" y="445081"/>
                </a:lnTo>
                <a:lnTo>
                  <a:pt x="99728" y="466429"/>
                </a:lnTo>
                <a:lnTo>
                  <a:pt x="141510" y="478989"/>
                </a:lnTo>
                <a:lnTo>
                  <a:pt x="189768" y="483104"/>
                </a:lnTo>
                <a:lnTo>
                  <a:pt x="239805" y="478799"/>
                </a:lnTo>
                <a:lnTo>
                  <a:pt x="283238" y="465832"/>
                </a:lnTo>
                <a:lnTo>
                  <a:pt x="319686" y="444065"/>
                </a:lnTo>
                <a:lnTo>
                  <a:pt x="348768" y="413383"/>
                </a:lnTo>
                <a:lnTo>
                  <a:pt x="370104" y="373658"/>
                </a:lnTo>
                <a:lnTo>
                  <a:pt x="383184" y="324764"/>
                </a:lnTo>
                <a:lnTo>
                  <a:pt x="387756" y="266587"/>
                </a:lnTo>
                <a:lnTo>
                  <a:pt x="387756" y="2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6" name="object 4">
            <a:extLst>
              <a:ext uri="{FF2B5EF4-FFF2-40B4-BE49-F238E27FC236}">
                <a16:creationId xmlns:a16="http://schemas.microsoft.com/office/drawing/2014/main" id="{B63A46A5-1F6B-290E-56BA-CA577D3674BA}"/>
              </a:ext>
            </a:extLst>
          </p:cNvPr>
          <p:cNvGrpSpPr/>
          <p:nvPr/>
        </p:nvGrpSpPr>
        <p:grpSpPr>
          <a:xfrm>
            <a:off x="11510824" y="6110485"/>
            <a:ext cx="446405" cy="596900"/>
            <a:chOff x="19130771" y="10355319"/>
            <a:chExt cx="446405" cy="596900"/>
          </a:xfrm>
        </p:grpSpPr>
        <p:sp>
          <p:nvSpPr>
            <p:cNvPr id="7" name="object 5">
              <a:extLst>
                <a:ext uri="{FF2B5EF4-FFF2-40B4-BE49-F238E27FC236}">
                  <a16:creationId xmlns:a16="http://schemas.microsoft.com/office/drawing/2014/main" id="{1C71B7AA-6558-1913-9637-DD52A310A4BA}"/>
                </a:ext>
              </a:extLst>
            </p:cNvPr>
            <p:cNvSpPr/>
            <p:nvPr/>
          </p:nvSpPr>
          <p:spPr>
            <a:xfrm>
              <a:off x="19130771" y="10461974"/>
              <a:ext cx="376555" cy="490220"/>
            </a:xfrm>
            <a:custGeom>
              <a:avLst/>
              <a:gdLst/>
              <a:ahLst/>
              <a:cxnLst/>
              <a:rect l="l" t="t" r="r" b="b"/>
              <a:pathLst>
                <a:path w="376555" h="490220">
                  <a:moveTo>
                    <a:pt x="258716" y="21"/>
                  </a:moveTo>
                  <a:lnTo>
                    <a:pt x="211982" y="3336"/>
                  </a:lnTo>
                  <a:lnTo>
                    <a:pt x="168041" y="13178"/>
                  </a:lnTo>
                  <a:lnTo>
                    <a:pt x="127656" y="29395"/>
                  </a:lnTo>
                  <a:lnTo>
                    <a:pt x="91462" y="51848"/>
                  </a:lnTo>
                  <a:lnTo>
                    <a:pt x="60347" y="80359"/>
                  </a:lnTo>
                  <a:lnTo>
                    <a:pt x="34821" y="114813"/>
                  </a:lnTo>
                  <a:lnTo>
                    <a:pt x="15645" y="155033"/>
                  </a:lnTo>
                  <a:lnTo>
                    <a:pt x="3707" y="200866"/>
                  </a:lnTo>
                  <a:lnTo>
                    <a:pt x="-483" y="252186"/>
                  </a:lnTo>
                  <a:lnTo>
                    <a:pt x="2691" y="295949"/>
                  </a:lnTo>
                  <a:lnTo>
                    <a:pt x="11962" y="336740"/>
                  </a:lnTo>
                  <a:lnTo>
                    <a:pt x="27455" y="373976"/>
                  </a:lnTo>
                  <a:lnTo>
                    <a:pt x="49172" y="407084"/>
                  </a:lnTo>
                  <a:lnTo>
                    <a:pt x="76857" y="435468"/>
                  </a:lnTo>
                  <a:lnTo>
                    <a:pt x="110765" y="458556"/>
                  </a:lnTo>
                  <a:lnTo>
                    <a:pt x="150515" y="475764"/>
                  </a:lnTo>
                  <a:lnTo>
                    <a:pt x="196361" y="486508"/>
                  </a:lnTo>
                  <a:lnTo>
                    <a:pt x="248049" y="490229"/>
                  </a:lnTo>
                  <a:lnTo>
                    <a:pt x="288688" y="488311"/>
                  </a:lnTo>
                  <a:lnTo>
                    <a:pt x="323231" y="483358"/>
                  </a:lnTo>
                  <a:lnTo>
                    <a:pt x="350662" y="476551"/>
                  </a:lnTo>
                  <a:lnTo>
                    <a:pt x="369966" y="469084"/>
                  </a:lnTo>
                  <a:lnTo>
                    <a:pt x="353710" y="385291"/>
                  </a:lnTo>
                  <a:lnTo>
                    <a:pt x="335423" y="391273"/>
                  </a:lnTo>
                  <a:lnTo>
                    <a:pt x="313198" y="396187"/>
                  </a:lnTo>
                  <a:lnTo>
                    <a:pt x="288942" y="399527"/>
                  </a:lnTo>
                  <a:lnTo>
                    <a:pt x="264304" y="400747"/>
                  </a:lnTo>
                  <a:lnTo>
                    <a:pt x="211728" y="393762"/>
                  </a:lnTo>
                  <a:lnTo>
                    <a:pt x="169438" y="373595"/>
                  </a:lnTo>
                  <a:lnTo>
                    <a:pt x="138197" y="341426"/>
                  </a:lnTo>
                  <a:lnTo>
                    <a:pt x="118893" y="298451"/>
                  </a:lnTo>
                  <a:lnTo>
                    <a:pt x="112162" y="245823"/>
                  </a:lnTo>
                  <a:lnTo>
                    <a:pt x="119782" y="188929"/>
                  </a:lnTo>
                  <a:lnTo>
                    <a:pt x="140990" y="144912"/>
                  </a:lnTo>
                  <a:lnTo>
                    <a:pt x="173502" y="113632"/>
                  </a:lnTo>
                  <a:lnTo>
                    <a:pt x="215157" y="94964"/>
                  </a:lnTo>
                  <a:lnTo>
                    <a:pt x="263669" y="88766"/>
                  </a:lnTo>
                  <a:lnTo>
                    <a:pt x="290720" y="90227"/>
                  </a:lnTo>
                  <a:lnTo>
                    <a:pt x="314722" y="94138"/>
                  </a:lnTo>
                  <a:lnTo>
                    <a:pt x="335804" y="99764"/>
                  </a:lnTo>
                  <a:lnTo>
                    <a:pt x="353710" y="106368"/>
                  </a:lnTo>
                  <a:lnTo>
                    <a:pt x="375554" y="21179"/>
                  </a:lnTo>
                  <a:lnTo>
                    <a:pt x="357139" y="13698"/>
                  </a:lnTo>
                  <a:lnTo>
                    <a:pt x="330851" y="6891"/>
                  </a:lnTo>
                  <a:lnTo>
                    <a:pt x="297704" y="1939"/>
                  </a:lnTo>
                  <a:lnTo>
                    <a:pt x="258716" y="2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6">
              <a:extLst>
                <a:ext uri="{FF2B5EF4-FFF2-40B4-BE49-F238E27FC236}">
                  <a16:creationId xmlns:a16="http://schemas.microsoft.com/office/drawing/2014/main" id="{B40BFADC-5DA3-7033-8705-8D50584CC59F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9464035" y="10355319"/>
              <a:ext cx="112771" cy="111247"/>
            </a:xfrm>
            <a:prstGeom prst="rect">
              <a:avLst/>
            </a:prstGeom>
          </p:spPr>
        </p:pic>
      </p:grpSp>
      <p:sp>
        <p:nvSpPr>
          <p:cNvPr id="14" name="object 3">
            <a:extLst>
              <a:ext uri="{FF2B5EF4-FFF2-40B4-BE49-F238E27FC236}">
                <a16:creationId xmlns:a16="http://schemas.microsoft.com/office/drawing/2014/main" id="{A7D715EB-25A4-0530-6B28-05C9DAD2BDA2}"/>
              </a:ext>
            </a:extLst>
          </p:cNvPr>
          <p:cNvSpPr txBox="1"/>
          <p:nvPr/>
        </p:nvSpPr>
        <p:spPr>
          <a:xfrm>
            <a:off x="428" y="502561"/>
            <a:ext cx="8268929" cy="720000"/>
          </a:xfrm>
          <a:prstGeom prst="rect">
            <a:avLst/>
          </a:prstGeom>
          <a:solidFill>
            <a:srgbClr val="FFC000"/>
          </a:solidFill>
        </p:spPr>
        <p:txBody>
          <a:bodyPr vert="horz" wrap="square" lIns="0" tIns="111669" rIns="0" bIns="0" rtlCol="0">
            <a:spAutoFit/>
          </a:bodyPr>
          <a:lstStyle/>
          <a:p>
            <a:pPr marR="140548" lvl="1">
              <a:spcBef>
                <a:spcPts val="879"/>
              </a:spcBef>
            </a:pPr>
            <a:r>
              <a:rPr lang="es-CL" sz="2911" b="1" spc="-6" dirty="0">
                <a:latin typeface="Arial"/>
                <a:cs typeface="Arial"/>
              </a:rPr>
              <a:t>¿Por qué se usa tanto en microservicios?</a:t>
            </a:r>
            <a:r>
              <a:rPr lang="es-ES" sz="2911" b="1" spc="-6" dirty="0">
                <a:latin typeface="Arial"/>
                <a:cs typeface="Arial"/>
              </a:rPr>
              <a:t> </a:t>
            </a:r>
            <a:endParaRPr sz="2911" b="1" spc="-6" dirty="0">
              <a:latin typeface="Arial"/>
              <a:cs typeface="Arial"/>
            </a:endParaRPr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9B6295BF-CE06-E8B6-C848-CB25B23CD42A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6714" y="1775791"/>
            <a:ext cx="11438571" cy="41431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246849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>
            <a:extLst>
              <a:ext uri="{FF2B5EF4-FFF2-40B4-BE49-F238E27FC236}">
                <a16:creationId xmlns:a16="http://schemas.microsoft.com/office/drawing/2014/main" id="{6B18228A-7432-B597-9E19-D2B500B7A413}"/>
              </a:ext>
            </a:extLst>
          </p:cNvPr>
          <p:cNvSpPr/>
          <p:nvPr/>
        </p:nvSpPr>
        <p:spPr>
          <a:xfrm>
            <a:off x="9338693" y="6180589"/>
            <a:ext cx="1618615" cy="525780"/>
          </a:xfrm>
          <a:custGeom>
            <a:avLst/>
            <a:gdLst/>
            <a:ahLst/>
            <a:cxnLst/>
            <a:rect l="l" t="t" r="r" b="b"/>
            <a:pathLst>
              <a:path w="1618615" h="525779">
                <a:moveTo>
                  <a:pt x="452996" y="248158"/>
                </a:moveTo>
                <a:lnTo>
                  <a:pt x="449186" y="196608"/>
                </a:lnTo>
                <a:lnTo>
                  <a:pt x="437883" y="151485"/>
                </a:lnTo>
                <a:lnTo>
                  <a:pt x="419849" y="112661"/>
                </a:lnTo>
                <a:lnTo>
                  <a:pt x="395846" y="79959"/>
                </a:lnTo>
                <a:lnTo>
                  <a:pt x="366382" y="53276"/>
                </a:lnTo>
                <a:lnTo>
                  <a:pt x="330695" y="31584"/>
                </a:lnTo>
                <a:lnTo>
                  <a:pt x="330695" y="251955"/>
                </a:lnTo>
                <a:lnTo>
                  <a:pt x="325107" y="307860"/>
                </a:lnTo>
                <a:lnTo>
                  <a:pt x="308851" y="353148"/>
                </a:lnTo>
                <a:lnTo>
                  <a:pt x="282816" y="387997"/>
                </a:lnTo>
                <a:lnTo>
                  <a:pt x="248145" y="412572"/>
                </a:lnTo>
                <a:lnTo>
                  <a:pt x="205473" y="427037"/>
                </a:lnTo>
                <a:lnTo>
                  <a:pt x="155816" y="431584"/>
                </a:lnTo>
                <a:lnTo>
                  <a:pt x="146786" y="431584"/>
                </a:lnTo>
                <a:lnTo>
                  <a:pt x="134226" y="431292"/>
                </a:lnTo>
                <a:lnTo>
                  <a:pt x="124079" y="430606"/>
                </a:lnTo>
                <a:lnTo>
                  <a:pt x="115570" y="429272"/>
                </a:lnTo>
                <a:lnTo>
                  <a:pt x="115570" y="93611"/>
                </a:lnTo>
                <a:lnTo>
                  <a:pt x="124333" y="91935"/>
                </a:lnTo>
                <a:lnTo>
                  <a:pt x="136004" y="90449"/>
                </a:lnTo>
                <a:lnTo>
                  <a:pt x="150609" y="89420"/>
                </a:lnTo>
                <a:lnTo>
                  <a:pt x="168008" y="89027"/>
                </a:lnTo>
                <a:lnTo>
                  <a:pt x="214871" y="93433"/>
                </a:lnTo>
                <a:lnTo>
                  <a:pt x="254749" y="106743"/>
                </a:lnTo>
                <a:lnTo>
                  <a:pt x="287007" y="129095"/>
                </a:lnTo>
                <a:lnTo>
                  <a:pt x="310756" y="160655"/>
                </a:lnTo>
                <a:lnTo>
                  <a:pt x="325615" y="201561"/>
                </a:lnTo>
                <a:lnTo>
                  <a:pt x="330695" y="251955"/>
                </a:lnTo>
                <a:lnTo>
                  <a:pt x="330695" y="31584"/>
                </a:lnTo>
                <a:lnTo>
                  <a:pt x="326758" y="29210"/>
                </a:lnTo>
                <a:lnTo>
                  <a:pt x="279641" y="12649"/>
                </a:lnTo>
                <a:lnTo>
                  <a:pt x="223253" y="3073"/>
                </a:lnTo>
                <a:lnTo>
                  <a:pt x="155816" y="0"/>
                </a:lnTo>
                <a:lnTo>
                  <a:pt x="113030" y="711"/>
                </a:lnTo>
                <a:lnTo>
                  <a:pt x="72263" y="2857"/>
                </a:lnTo>
                <a:lnTo>
                  <a:pt x="34163" y="6413"/>
                </a:lnTo>
                <a:lnTo>
                  <a:pt x="0" y="11430"/>
                </a:lnTo>
                <a:lnTo>
                  <a:pt x="0" y="514540"/>
                </a:lnTo>
                <a:lnTo>
                  <a:pt x="24003" y="517334"/>
                </a:lnTo>
                <a:lnTo>
                  <a:pt x="53721" y="519760"/>
                </a:lnTo>
                <a:lnTo>
                  <a:pt x="89535" y="521487"/>
                </a:lnTo>
                <a:lnTo>
                  <a:pt x="131432" y="522147"/>
                </a:lnTo>
                <a:lnTo>
                  <a:pt x="189471" y="519569"/>
                </a:lnTo>
                <a:lnTo>
                  <a:pt x="242811" y="511771"/>
                </a:lnTo>
                <a:lnTo>
                  <a:pt x="290817" y="498627"/>
                </a:lnTo>
                <a:lnTo>
                  <a:pt x="332854" y="480072"/>
                </a:lnTo>
                <a:lnTo>
                  <a:pt x="368668" y="455942"/>
                </a:lnTo>
                <a:lnTo>
                  <a:pt x="396100" y="427685"/>
                </a:lnTo>
                <a:lnTo>
                  <a:pt x="419341" y="392976"/>
                </a:lnTo>
                <a:lnTo>
                  <a:pt x="437375" y="351650"/>
                </a:lnTo>
                <a:lnTo>
                  <a:pt x="448932" y="303453"/>
                </a:lnTo>
                <a:lnTo>
                  <a:pt x="452996" y="248158"/>
                </a:lnTo>
                <a:close/>
              </a:path>
              <a:path w="1618615" h="525779">
                <a:moveTo>
                  <a:pt x="849858" y="516801"/>
                </a:moveTo>
                <a:lnTo>
                  <a:pt x="848715" y="491820"/>
                </a:lnTo>
                <a:lnTo>
                  <a:pt x="847699" y="463626"/>
                </a:lnTo>
                <a:lnTo>
                  <a:pt x="847064" y="432142"/>
                </a:lnTo>
                <a:lnTo>
                  <a:pt x="846810" y="397306"/>
                </a:lnTo>
                <a:lnTo>
                  <a:pt x="846810" y="144627"/>
                </a:lnTo>
                <a:lnTo>
                  <a:pt x="731240" y="144627"/>
                </a:lnTo>
                <a:lnTo>
                  <a:pt x="731240" y="366115"/>
                </a:lnTo>
                <a:lnTo>
                  <a:pt x="730986" y="373253"/>
                </a:lnTo>
                <a:lnTo>
                  <a:pt x="707237" y="418261"/>
                </a:lnTo>
                <a:lnTo>
                  <a:pt x="668883" y="431584"/>
                </a:lnTo>
                <a:lnTo>
                  <a:pt x="642467" y="425615"/>
                </a:lnTo>
                <a:lnTo>
                  <a:pt x="624319" y="408457"/>
                </a:lnTo>
                <a:lnTo>
                  <a:pt x="613778" y="381165"/>
                </a:lnTo>
                <a:lnTo>
                  <a:pt x="610349" y="344817"/>
                </a:lnTo>
                <a:lnTo>
                  <a:pt x="610349" y="144627"/>
                </a:lnTo>
                <a:lnTo>
                  <a:pt x="494906" y="144627"/>
                </a:lnTo>
                <a:lnTo>
                  <a:pt x="494906" y="363054"/>
                </a:lnTo>
                <a:lnTo>
                  <a:pt x="501129" y="424053"/>
                </a:lnTo>
                <a:lnTo>
                  <a:pt x="519036" y="469773"/>
                </a:lnTo>
                <a:lnTo>
                  <a:pt x="546722" y="501230"/>
                </a:lnTo>
                <a:lnTo>
                  <a:pt x="582790" y="519366"/>
                </a:lnTo>
                <a:lnTo>
                  <a:pt x="625589" y="525195"/>
                </a:lnTo>
                <a:lnTo>
                  <a:pt x="669899" y="518883"/>
                </a:lnTo>
                <a:lnTo>
                  <a:pt x="703427" y="503313"/>
                </a:lnTo>
                <a:lnTo>
                  <a:pt x="727049" y="483450"/>
                </a:lnTo>
                <a:lnTo>
                  <a:pt x="741908" y="464299"/>
                </a:lnTo>
                <a:lnTo>
                  <a:pt x="744194" y="464299"/>
                </a:lnTo>
                <a:lnTo>
                  <a:pt x="749528" y="516801"/>
                </a:lnTo>
                <a:lnTo>
                  <a:pt x="849858" y="516801"/>
                </a:lnTo>
                <a:close/>
              </a:path>
              <a:path w="1618615" h="525779">
                <a:moveTo>
                  <a:pt x="1277581" y="327279"/>
                </a:moveTo>
                <a:lnTo>
                  <a:pt x="1273136" y="281241"/>
                </a:lnTo>
                <a:lnTo>
                  <a:pt x="1259928" y="240157"/>
                </a:lnTo>
                <a:lnTo>
                  <a:pt x="1247355" y="219214"/>
                </a:lnTo>
                <a:lnTo>
                  <a:pt x="1238846" y="204800"/>
                </a:lnTo>
                <a:lnTo>
                  <a:pt x="1210411" y="175971"/>
                </a:lnTo>
                <a:lnTo>
                  <a:pt x="1175346" y="154406"/>
                </a:lnTo>
                <a:lnTo>
                  <a:pt x="1157566" y="148501"/>
                </a:lnTo>
                <a:lnTo>
                  <a:pt x="1157490" y="329628"/>
                </a:lnTo>
                <a:lnTo>
                  <a:pt x="1157490" y="331101"/>
                </a:lnTo>
                <a:lnTo>
                  <a:pt x="1152474" y="375132"/>
                </a:lnTo>
                <a:lnTo>
                  <a:pt x="1137754" y="411391"/>
                </a:lnTo>
                <a:lnTo>
                  <a:pt x="1083792" y="442214"/>
                </a:lnTo>
                <a:lnTo>
                  <a:pt x="1083030" y="442214"/>
                </a:lnTo>
                <a:lnTo>
                  <a:pt x="1050772" y="433730"/>
                </a:lnTo>
                <a:lnTo>
                  <a:pt x="1027150" y="410349"/>
                </a:lnTo>
                <a:lnTo>
                  <a:pt x="1012672" y="375132"/>
                </a:lnTo>
                <a:lnTo>
                  <a:pt x="1007719" y="331101"/>
                </a:lnTo>
                <a:lnTo>
                  <a:pt x="1011910" y="290182"/>
                </a:lnTo>
                <a:lnTo>
                  <a:pt x="1025245" y="254330"/>
                </a:lnTo>
                <a:lnTo>
                  <a:pt x="1048867" y="228892"/>
                </a:lnTo>
                <a:lnTo>
                  <a:pt x="1083792" y="219214"/>
                </a:lnTo>
                <a:lnTo>
                  <a:pt x="1117447" y="228892"/>
                </a:lnTo>
                <a:lnTo>
                  <a:pt x="1140333" y="254330"/>
                </a:lnTo>
                <a:lnTo>
                  <a:pt x="1153375" y="289864"/>
                </a:lnTo>
                <a:lnTo>
                  <a:pt x="1157490" y="329628"/>
                </a:lnTo>
                <a:lnTo>
                  <a:pt x="1157490" y="148488"/>
                </a:lnTo>
                <a:lnTo>
                  <a:pt x="1134465" y="140893"/>
                </a:lnTo>
                <a:lnTo>
                  <a:pt x="1088364" y="136232"/>
                </a:lnTo>
                <a:lnTo>
                  <a:pt x="1038796" y="140893"/>
                </a:lnTo>
                <a:lnTo>
                  <a:pt x="1039266" y="140893"/>
                </a:lnTo>
                <a:lnTo>
                  <a:pt x="995883" y="154406"/>
                </a:lnTo>
                <a:lnTo>
                  <a:pt x="996073" y="154406"/>
                </a:lnTo>
                <a:lnTo>
                  <a:pt x="959586" y="175971"/>
                </a:lnTo>
                <a:lnTo>
                  <a:pt x="929741" y="205282"/>
                </a:lnTo>
                <a:lnTo>
                  <a:pt x="907643" y="241693"/>
                </a:lnTo>
                <a:lnTo>
                  <a:pt x="893927" y="284568"/>
                </a:lnTo>
                <a:lnTo>
                  <a:pt x="889228" y="333362"/>
                </a:lnTo>
                <a:lnTo>
                  <a:pt x="894080" y="380911"/>
                </a:lnTo>
                <a:lnTo>
                  <a:pt x="908278" y="423976"/>
                </a:lnTo>
                <a:lnTo>
                  <a:pt x="930630" y="459346"/>
                </a:lnTo>
                <a:lnTo>
                  <a:pt x="960221" y="487565"/>
                </a:lnTo>
                <a:lnTo>
                  <a:pt x="995781" y="508203"/>
                </a:lnTo>
                <a:lnTo>
                  <a:pt x="1036675" y="520877"/>
                </a:lnTo>
                <a:lnTo>
                  <a:pt x="1081506" y="525195"/>
                </a:lnTo>
                <a:lnTo>
                  <a:pt x="1082268" y="525195"/>
                </a:lnTo>
                <a:lnTo>
                  <a:pt x="1124178" y="521335"/>
                </a:lnTo>
                <a:lnTo>
                  <a:pt x="1164170" y="509651"/>
                </a:lnTo>
                <a:lnTo>
                  <a:pt x="1200619" y="489953"/>
                </a:lnTo>
                <a:lnTo>
                  <a:pt x="1231861" y="462064"/>
                </a:lnTo>
                <a:lnTo>
                  <a:pt x="1256245" y="425754"/>
                </a:lnTo>
                <a:lnTo>
                  <a:pt x="1271993" y="380911"/>
                </a:lnTo>
                <a:lnTo>
                  <a:pt x="1277581" y="327279"/>
                </a:lnTo>
                <a:close/>
              </a:path>
              <a:path w="1618615" h="525779">
                <a:moveTo>
                  <a:pt x="1618195" y="150710"/>
                </a:moveTo>
                <a:lnTo>
                  <a:pt x="1598510" y="144602"/>
                </a:lnTo>
                <a:lnTo>
                  <a:pt x="1576412" y="140030"/>
                </a:lnTo>
                <a:lnTo>
                  <a:pt x="1553298" y="137198"/>
                </a:lnTo>
                <a:lnTo>
                  <a:pt x="1530057" y="136220"/>
                </a:lnTo>
                <a:lnTo>
                  <a:pt x="1474685" y="141465"/>
                </a:lnTo>
                <a:lnTo>
                  <a:pt x="1427441" y="156425"/>
                </a:lnTo>
                <a:lnTo>
                  <a:pt x="1388198" y="179844"/>
                </a:lnTo>
                <a:lnTo>
                  <a:pt x="1357464" y="210553"/>
                </a:lnTo>
                <a:lnTo>
                  <a:pt x="1335239" y="247307"/>
                </a:lnTo>
                <a:lnTo>
                  <a:pt x="1321777" y="288912"/>
                </a:lnTo>
                <a:lnTo>
                  <a:pt x="1317205" y="334149"/>
                </a:lnTo>
                <a:lnTo>
                  <a:pt x="1321777" y="381635"/>
                </a:lnTo>
                <a:lnTo>
                  <a:pt x="1335239" y="423278"/>
                </a:lnTo>
                <a:lnTo>
                  <a:pt x="1356956" y="458546"/>
                </a:lnTo>
                <a:lnTo>
                  <a:pt x="1386166" y="486918"/>
                </a:lnTo>
                <a:lnTo>
                  <a:pt x="1422615" y="507822"/>
                </a:lnTo>
                <a:lnTo>
                  <a:pt x="1465414" y="520763"/>
                </a:lnTo>
                <a:lnTo>
                  <a:pt x="1514055" y="525195"/>
                </a:lnTo>
                <a:lnTo>
                  <a:pt x="1545932" y="523862"/>
                </a:lnTo>
                <a:lnTo>
                  <a:pt x="1598891" y="514616"/>
                </a:lnTo>
                <a:lnTo>
                  <a:pt x="1603844" y="422427"/>
                </a:lnTo>
                <a:lnTo>
                  <a:pt x="1590001" y="427558"/>
                </a:lnTo>
                <a:lnTo>
                  <a:pt x="1574507" y="431380"/>
                </a:lnTo>
                <a:lnTo>
                  <a:pt x="1557108" y="433781"/>
                </a:lnTo>
                <a:lnTo>
                  <a:pt x="1537677" y="434606"/>
                </a:lnTo>
                <a:lnTo>
                  <a:pt x="1498053" y="427837"/>
                </a:lnTo>
                <a:lnTo>
                  <a:pt x="1465668" y="407784"/>
                </a:lnTo>
                <a:lnTo>
                  <a:pt x="1443824" y="374891"/>
                </a:lnTo>
                <a:lnTo>
                  <a:pt x="1435823" y="329590"/>
                </a:lnTo>
                <a:lnTo>
                  <a:pt x="1442427" y="287604"/>
                </a:lnTo>
                <a:lnTo>
                  <a:pt x="1462493" y="254609"/>
                </a:lnTo>
                <a:lnTo>
                  <a:pt x="1494116" y="233032"/>
                </a:lnTo>
                <a:lnTo>
                  <a:pt x="1535391" y="225298"/>
                </a:lnTo>
                <a:lnTo>
                  <a:pt x="1556346" y="226225"/>
                </a:lnTo>
                <a:lnTo>
                  <a:pt x="1573999" y="228727"/>
                </a:lnTo>
                <a:lnTo>
                  <a:pt x="1588477" y="232371"/>
                </a:lnTo>
                <a:lnTo>
                  <a:pt x="1600034" y="236715"/>
                </a:lnTo>
                <a:lnTo>
                  <a:pt x="1618195" y="150710"/>
                </a:lnTo>
                <a:close/>
              </a:path>
            </a:pathLst>
          </a:custGeom>
          <a:solidFill>
            <a:srgbClr val="FDB6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3">
            <a:extLst>
              <a:ext uri="{FF2B5EF4-FFF2-40B4-BE49-F238E27FC236}">
                <a16:creationId xmlns:a16="http://schemas.microsoft.com/office/drawing/2014/main" id="{78758C63-17DC-0DD8-400C-5A88BF6B9B60}"/>
              </a:ext>
            </a:extLst>
          </p:cNvPr>
          <p:cNvSpPr/>
          <p:nvPr/>
        </p:nvSpPr>
        <p:spPr>
          <a:xfrm>
            <a:off x="11068865" y="6224760"/>
            <a:ext cx="388620" cy="483234"/>
          </a:xfrm>
          <a:custGeom>
            <a:avLst/>
            <a:gdLst/>
            <a:ahLst/>
            <a:cxnLst/>
            <a:rect l="l" t="t" r="r" b="b"/>
            <a:pathLst>
              <a:path w="388619" h="483234">
                <a:moveTo>
                  <a:pt x="387756" y="21"/>
                </a:moveTo>
                <a:lnTo>
                  <a:pt x="280571" y="21"/>
                </a:lnTo>
                <a:lnTo>
                  <a:pt x="280571" y="273635"/>
                </a:lnTo>
                <a:lnTo>
                  <a:pt x="274856" y="328320"/>
                </a:lnTo>
                <a:lnTo>
                  <a:pt x="258093" y="366813"/>
                </a:lnTo>
                <a:lnTo>
                  <a:pt x="230661" y="389558"/>
                </a:lnTo>
                <a:lnTo>
                  <a:pt x="193324" y="397038"/>
                </a:lnTo>
                <a:lnTo>
                  <a:pt x="156622" y="389266"/>
                </a:lnTo>
                <a:lnTo>
                  <a:pt x="129699" y="366013"/>
                </a:lnTo>
                <a:lnTo>
                  <a:pt x="113062" y="327431"/>
                </a:lnTo>
                <a:lnTo>
                  <a:pt x="107347" y="273635"/>
                </a:lnTo>
                <a:lnTo>
                  <a:pt x="107347" y="21"/>
                </a:lnTo>
                <a:lnTo>
                  <a:pt x="-472" y="21"/>
                </a:lnTo>
                <a:lnTo>
                  <a:pt x="-472" y="265190"/>
                </a:lnTo>
                <a:lnTo>
                  <a:pt x="3718" y="325006"/>
                </a:lnTo>
                <a:lnTo>
                  <a:pt x="16291" y="374699"/>
                </a:lnTo>
                <a:lnTo>
                  <a:pt x="36737" y="414614"/>
                </a:lnTo>
                <a:lnTo>
                  <a:pt x="64550" y="445081"/>
                </a:lnTo>
                <a:lnTo>
                  <a:pt x="99728" y="466429"/>
                </a:lnTo>
                <a:lnTo>
                  <a:pt x="141510" y="478989"/>
                </a:lnTo>
                <a:lnTo>
                  <a:pt x="189768" y="483104"/>
                </a:lnTo>
                <a:lnTo>
                  <a:pt x="239805" y="478799"/>
                </a:lnTo>
                <a:lnTo>
                  <a:pt x="283238" y="465832"/>
                </a:lnTo>
                <a:lnTo>
                  <a:pt x="319686" y="444065"/>
                </a:lnTo>
                <a:lnTo>
                  <a:pt x="348768" y="413383"/>
                </a:lnTo>
                <a:lnTo>
                  <a:pt x="370104" y="373658"/>
                </a:lnTo>
                <a:lnTo>
                  <a:pt x="383184" y="324764"/>
                </a:lnTo>
                <a:lnTo>
                  <a:pt x="387756" y="266587"/>
                </a:lnTo>
                <a:lnTo>
                  <a:pt x="387756" y="2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6" name="object 4">
            <a:extLst>
              <a:ext uri="{FF2B5EF4-FFF2-40B4-BE49-F238E27FC236}">
                <a16:creationId xmlns:a16="http://schemas.microsoft.com/office/drawing/2014/main" id="{C468FF26-1718-3628-A12D-D12BA603E48F}"/>
              </a:ext>
            </a:extLst>
          </p:cNvPr>
          <p:cNvGrpSpPr/>
          <p:nvPr/>
        </p:nvGrpSpPr>
        <p:grpSpPr>
          <a:xfrm>
            <a:off x="11510824" y="6110485"/>
            <a:ext cx="446405" cy="596900"/>
            <a:chOff x="19130771" y="10355319"/>
            <a:chExt cx="446405" cy="596900"/>
          </a:xfrm>
        </p:grpSpPr>
        <p:sp>
          <p:nvSpPr>
            <p:cNvPr id="7" name="object 5">
              <a:extLst>
                <a:ext uri="{FF2B5EF4-FFF2-40B4-BE49-F238E27FC236}">
                  <a16:creationId xmlns:a16="http://schemas.microsoft.com/office/drawing/2014/main" id="{9A40AD4E-D0EB-D44D-36D9-652B3578B6A3}"/>
                </a:ext>
              </a:extLst>
            </p:cNvPr>
            <p:cNvSpPr/>
            <p:nvPr/>
          </p:nvSpPr>
          <p:spPr>
            <a:xfrm>
              <a:off x="19130771" y="10461974"/>
              <a:ext cx="376555" cy="490220"/>
            </a:xfrm>
            <a:custGeom>
              <a:avLst/>
              <a:gdLst/>
              <a:ahLst/>
              <a:cxnLst/>
              <a:rect l="l" t="t" r="r" b="b"/>
              <a:pathLst>
                <a:path w="376555" h="490220">
                  <a:moveTo>
                    <a:pt x="258716" y="21"/>
                  </a:moveTo>
                  <a:lnTo>
                    <a:pt x="211982" y="3336"/>
                  </a:lnTo>
                  <a:lnTo>
                    <a:pt x="168041" y="13178"/>
                  </a:lnTo>
                  <a:lnTo>
                    <a:pt x="127656" y="29395"/>
                  </a:lnTo>
                  <a:lnTo>
                    <a:pt x="91462" y="51848"/>
                  </a:lnTo>
                  <a:lnTo>
                    <a:pt x="60347" y="80359"/>
                  </a:lnTo>
                  <a:lnTo>
                    <a:pt x="34821" y="114813"/>
                  </a:lnTo>
                  <a:lnTo>
                    <a:pt x="15645" y="155033"/>
                  </a:lnTo>
                  <a:lnTo>
                    <a:pt x="3707" y="200866"/>
                  </a:lnTo>
                  <a:lnTo>
                    <a:pt x="-483" y="252186"/>
                  </a:lnTo>
                  <a:lnTo>
                    <a:pt x="2691" y="295949"/>
                  </a:lnTo>
                  <a:lnTo>
                    <a:pt x="11962" y="336740"/>
                  </a:lnTo>
                  <a:lnTo>
                    <a:pt x="27455" y="373976"/>
                  </a:lnTo>
                  <a:lnTo>
                    <a:pt x="49172" y="407084"/>
                  </a:lnTo>
                  <a:lnTo>
                    <a:pt x="76857" y="435468"/>
                  </a:lnTo>
                  <a:lnTo>
                    <a:pt x="110765" y="458556"/>
                  </a:lnTo>
                  <a:lnTo>
                    <a:pt x="150515" y="475764"/>
                  </a:lnTo>
                  <a:lnTo>
                    <a:pt x="196361" y="486508"/>
                  </a:lnTo>
                  <a:lnTo>
                    <a:pt x="248049" y="490229"/>
                  </a:lnTo>
                  <a:lnTo>
                    <a:pt x="288688" y="488311"/>
                  </a:lnTo>
                  <a:lnTo>
                    <a:pt x="323231" y="483358"/>
                  </a:lnTo>
                  <a:lnTo>
                    <a:pt x="350662" y="476551"/>
                  </a:lnTo>
                  <a:lnTo>
                    <a:pt x="369966" y="469084"/>
                  </a:lnTo>
                  <a:lnTo>
                    <a:pt x="353710" y="385291"/>
                  </a:lnTo>
                  <a:lnTo>
                    <a:pt x="335423" y="391273"/>
                  </a:lnTo>
                  <a:lnTo>
                    <a:pt x="313198" y="396187"/>
                  </a:lnTo>
                  <a:lnTo>
                    <a:pt x="288942" y="399527"/>
                  </a:lnTo>
                  <a:lnTo>
                    <a:pt x="264304" y="400747"/>
                  </a:lnTo>
                  <a:lnTo>
                    <a:pt x="211728" y="393762"/>
                  </a:lnTo>
                  <a:lnTo>
                    <a:pt x="169438" y="373595"/>
                  </a:lnTo>
                  <a:lnTo>
                    <a:pt x="138197" y="341426"/>
                  </a:lnTo>
                  <a:lnTo>
                    <a:pt x="118893" y="298451"/>
                  </a:lnTo>
                  <a:lnTo>
                    <a:pt x="112162" y="245823"/>
                  </a:lnTo>
                  <a:lnTo>
                    <a:pt x="119782" y="188929"/>
                  </a:lnTo>
                  <a:lnTo>
                    <a:pt x="140990" y="144912"/>
                  </a:lnTo>
                  <a:lnTo>
                    <a:pt x="173502" y="113632"/>
                  </a:lnTo>
                  <a:lnTo>
                    <a:pt x="215157" y="94964"/>
                  </a:lnTo>
                  <a:lnTo>
                    <a:pt x="263669" y="88766"/>
                  </a:lnTo>
                  <a:lnTo>
                    <a:pt x="290720" y="90227"/>
                  </a:lnTo>
                  <a:lnTo>
                    <a:pt x="314722" y="94138"/>
                  </a:lnTo>
                  <a:lnTo>
                    <a:pt x="335804" y="99764"/>
                  </a:lnTo>
                  <a:lnTo>
                    <a:pt x="353710" y="106368"/>
                  </a:lnTo>
                  <a:lnTo>
                    <a:pt x="375554" y="21179"/>
                  </a:lnTo>
                  <a:lnTo>
                    <a:pt x="357139" y="13698"/>
                  </a:lnTo>
                  <a:lnTo>
                    <a:pt x="330851" y="6891"/>
                  </a:lnTo>
                  <a:lnTo>
                    <a:pt x="297704" y="1939"/>
                  </a:lnTo>
                  <a:lnTo>
                    <a:pt x="258716" y="2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6">
              <a:extLst>
                <a:ext uri="{FF2B5EF4-FFF2-40B4-BE49-F238E27FC236}">
                  <a16:creationId xmlns:a16="http://schemas.microsoft.com/office/drawing/2014/main" id="{3E095F89-7077-7F8B-5C01-5983171882C1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9464035" y="10355319"/>
              <a:ext cx="112771" cy="111247"/>
            </a:xfrm>
            <a:prstGeom prst="rect">
              <a:avLst/>
            </a:prstGeom>
          </p:spPr>
        </p:pic>
      </p:grpSp>
      <p:sp>
        <p:nvSpPr>
          <p:cNvPr id="13" name="object 3">
            <a:extLst>
              <a:ext uri="{FF2B5EF4-FFF2-40B4-BE49-F238E27FC236}">
                <a16:creationId xmlns:a16="http://schemas.microsoft.com/office/drawing/2014/main" id="{B57F6F02-FC64-BBC9-C834-1BC2D4085A16}"/>
              </a:ext>
            </a:extLst>
          </p:cNvPr>
          <p:cNvSpPr txBox="1"/>
          <p:nvPr/>
        </p:nvSpPr>
        <p:spPr>
          <a:xfrm>
            <a:off x="428" y="502560"/>
            <a:ext cx="6453381" cy="720000"/>
          </a:xfrm>
          <a:prstGeom prst="rect">
            <a:avLst/>
          </a:prstGeom>
          <a:solidFill>
            <a:srgbClr val="FFC000"/>
          </a:solidFill>
        </p:spPr>
        <p:txBody>
          <a:bodyPr vert="horz" wrap="square" lIns="0" tIns="111669" rIns="0" bIns="0" rtlCol="0">
            <a:spAutoFit/>
          </a:bodyPr>
          <a:lstStyle/>
          <a:p>
            <a:pPr marR="140548" lvl="1">
              <a:spcBef>
                <a:spcPts val="879"/>
              </a:spcBef>
            </a:pPr>
            <a:r>
              <a:rPr lang="es-ES" sz="2911" b="1" spc="-6" dirty="0">
                <a:latin typeface="Arial"/>
                <a:cs typeface="Arial"/>
              </a:rPr>
              <a:t>Implementación básica de JWT</a:t>
            </a:r>
            <a:endParaRPr sz="2911" b="1" spc="-6" dirty="0">
              <a:latin typeface="Arial"/>
              <a:cs typeface="Arial"/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C1EA554-3127-922B-81E1-45C48BE948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s-CL" dirty="0"/>
              <a:t>Implementación mínima:</a:t>
            </a:r>
          </a:p>
          <a:p>
            <a:r>
              <a:rPr lang="es-CL" dirty="0" err="1"/>
              <a:t>Endpoint</a:t>
            </a:r>
            <a:r>
              <a:rPr lang="es-CL" dirty="0"/>
              <a:t> de </a:t>
            </a:r>
            <a:r>
              <a:rPr lang="es-CL" dirty="0" err="1"/>
              <a:t>login</a:t>
            </a:r>
            <a:endParaRPr lang="es-CL" dirty="0"/>
          </a:p>
          <a:p>
            <a:r>
              <a:rPr lang="es-CL" dirty="0"/>
              <a:t>Validación de credenciales</a:t>
            </a:r>
          </a:p>
          <a:p>
            <a:r>
              <a:rPr lang="es-CL" dirty="0"/>
              <a:t>Generación del token</a:t>
            </a:r>
          </a:p>
          <a:p>
            <a:r>
              <a:rPr lang="es-CL" dirty="0"/>
              <a:t>Filtro para leer </a:t>
            </a:r>
            <a:r>
              <a:rPr lang="es-CL" dirty="0" err="1"/>
              <a:t>Authorization</a:t>
            </a:r>
            <a:r>
              <a:rPr lang="es-CL" dirty="0"/>
              <a:t> </a:t>
            </a:r>
            <a:r>
              <a:rPr lang="es-CL" dirty="0" err="1"/>
              <a:t>Bearer</a:t>
            </a:r>
            <a:endParaRPr lang="es-CL" dirty="0"/>
          </a:p>
          <a:p>
            <a:r>
              <a:rPr lang="es-CL" dirty="0"/>
              <a:t>Validación de firma y expiración</a:t>
            </a:r>
          </a:p>
          <a:p>
            <a:r>
              <a:rPr lang="es-CL" dirty="0"/>
              <a:t>Acceso a </a:t>
            </a:r>
            <a:r>
              <a:rPr lang="es-CL" dirty="0" err="1"/>
              <a:t>endpoints</a:t>
            </a:r>
            <a:r>
              <a:rPr lang="es-CL" dirty="0"/>
              <a:t> protegidos</a:t>
            </a:r>
          </a:p>
          <a:p>
            <a:pPr marL="0" indent="0">
              <a:buNone/>
            </a:pPr>
            <a:endParaRPr lang="es-CL" dirty="0"/>
          </a:p>
          <a:p>
            <a:pPr marL="0" indent="0">
              <a:buNone/>
            </a:pPr>
            <a:r>
              <a:rPr lang="es-CL" dirty="0"/>
              <a:t>Ejemplo de </a:t>
            </a:r>
            <a:r>
              <a:rPr lang="es-CL" dirty="0" err="1"/>
              <a:t>claims</a:t>
            </a:r>
            <a:r>
              <a:rPr lang="es-CL" dirty="0"/>
              <a:t> básicos:</a:t>
            </a:r>
          </a:p>
          <a:p>
            <a:r>
              <a:rPr lang="es-CL" dirty="0"/>
              <a:t>sub: nombre de usuario</a:t>
            </a:r>
          </a:p>
          <a:p>
            <a:r>
              <a:rPr lang="es-CL" dirty="0" err="1"/>
              <a:t>iat</a:t>
            </a:r>
            <a:r>
              <a:rPr lang="es-CL" dirty="0"/>
              <a:t>: fecha de emisión</a:t>
            </a:r>
          </a:p>
          <a:p>
            <a:r>
              <a:rPr lang="es-CL" dirty="0" err="1"/>
              <a:t>exp</a:t>
            </a:r>
            <a:r>
              <a:rPr lang="es-CL" dirty="0"/>
              <a:t>: fecha de expiración</a:t>
            </a:r>
          </a:p>
          <a:p>
            <a:pPr marL="0" indent="0">
              <a:buNone/>
            </a:pPr>
            <a:endParaRPr lang="es-ES_tradnl" dirty="0"/>
          </a:p>
        </p:txBody>
      </p:sp>
    </p:spTree>
    <p:extLst>
      <p:ext uri="{BB962C8B-B14F-4D97-AF65-F5344CB8AC3E}">
        <p14:creationId xmlns:p14="http://schemas.microsoft.com/office/powerpoint/2010/main" val="32204036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570DE6-EECA-AEE0-5FC7-BA8426FE2A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>
            <a:extLst>
              <a:ext uri="{FF2B5EF4-FFF2-40B4-BE49-F238E27FC236}">
                <a16:creationId xmlns:a16="http://schemas.microsoft.com/office/drawing/2014/main" id="{AB358498-113B-DA04-D24F-691FEE937450}"/>
              </a:ext>
            </a:extLst>
          </p:cNvPr>
          <p:cNvSpPr/>
          <p:nvPr/>
        </p:nvSpPr>
        <p:spPr>
          <a:xfrm>
            <a:off x="9338693" y="6180589"/>
            <a:ext cx="1618615" cy="525780"/>
          </a:xfrm>
          <a:custGeom>
            <a:avLst/>
            <a:gdLst/>
            <a:ahLst/>
            <a:cxnLst/>
            <a:rect l="l" t="t" r="r" b="b"/>
            <a:pathLst>
              <a:path w="1618615" h="525779">
                <a:moveTo>
                  <a:pt x="452996" y="248158"/>
                </a:moveTo>
                <a:lnTo>
                  <a:pt x="449186" y="196608"/>
                </a:lnTo>
                <a:lnTo>
                  <a:pt x="437883" y="151485"/>
                </a:lnTo>
                <a:lnTo>
                  <a:pt x="419849" y="112661"/>
                </a:lnTo>
                <a:lnTo>
                  <a:pt x="395846" y="79959"/>
                </a:lnTo>
                <a:lnTo>
                  <a:pt x="366382" y="53276"/>
                </a:lnTo>
                <a:lnTo>
                  <a:pt x="330695" y="31584"/>
                </a:lnTo>
                <a:lnTo>
                  <a:pt x="330695" y="251955"/>
                </a:lnTo>
                <a:lnTo>
                  <a:pt x="325107" y="307860"/>
                </a:lnTo>
                <a:lnTo>
                  <a:pt x="308851" y="353148"/>
                </a:lnTo>
                <a:lnTo>
                  <a:pt x="282816" y="387997"/>
                </a:lnTo>
                <a:lnTo>
                  <a:pt x="248145" y="412572"/>
                </a:lnTo>
                <a:lnTo>
                  <a:pt x="205473" y="427037"/>
                </a:lnTo>
                <a:lnTo>
                  <a:pt x="155816" y="431584"/>
                </a:lnTo>
                <a:lnTo>
                  <a:pt x="146786" y="431584"/>
                </a:lnTo>
                <a:lnTo>
                  <a:pt x="134226" y="431292"/>
                </a:lnTo>
                <a:lnTo>
                  <a:pt x="124079" y="430606"/>
                </a:lnTo>
                <a:lnTo>
                  <a:pt x="115570" y="429272"/>
                </a:lnTo>
                <a:lnTo>
                  <a:pt x="115570" y="93611"/>
                </a:lnTo>
                <a:lnTo>
                  <a:pt x="124333" y="91935"/>
                </a:lnTo>
                <a:lnTo>
                  <a:pt x="136004" y="90449"/>
                </a:lnTo>
                <a:lnTo>
                  <a:pt x="150609" y="89420"/>
                </a:lnTo>
                <a:lnTo>
                  <a:pt x="168008" y="89027"/>
                </a:lnTo>
                <a:lnTo>
                  <a:pt x="214871" y="93433"/>
                </a:lnTo>
                <a:lnTo>
                  <a:pt x="254749" y="106743"/>
                </a:lnTo>
                <a:lnTo>
                  <a:pt x="287007" y="129095"/>
                </a:lnTo>
                <a:lnTo>
                  <a:pt x="310756" y="160655"/>
                </a:lnTo>
                <a:lnTo>
                  <a:pt x="325615" y="201561"/>
                </a:lnTo>
                <a:lnTo>
                  <a:pt x="330695" y="251955"/>
                </a:lnTo>
                <a:lnTo>
                  <a:pt x="330695" y="31584"/>
                </a:lnTo>
                <a:lnTo>
                  <a:pt x="326758" y="29210"/>
                </a:lnTo>
                <a:lnTo>
                  <a:pt x="279641" y="12649"/>
                </a:lnTo>
                <a:lnTo>
                  <a:pt x="223253" y="3073"/>
                </a:lnTo>
                <a:lnTo>
                  <a:pt x="155816" y="0"/>
                </a:lnTo>
                <a:lnTo>
                  <a:pt x="113030" y="711"/>
                </a:lnTo>
                <a:lnTo>
                  <a:pt x="72263" y="2857"/>
                </a:lnTo>
                <a:lnTo>
                  <a:pt x="34163" y="6413"/>
                </a:lnTo>
                <a:lnTo>
                  <a:pt x="0" y="11430"/>
                </a:lnTo>
                <a:lnTo>
                  <a:pt x="0" y="514540"/>
                </a:lnTo>
                <a:lnTo>
                  <a:pt x="24003" y="517334"/>
                </a:lnTo>
                <a:lnTo>
                  <a:pt x="53721" y="519760"/>
                </a:lnTo>
                <a:lnTo>
                  <a:pt x="89535" y="521487"/>
                </a:lnTo>
                <a:lnTo>
                  <a:pt x="131432" y="522147"/>
                </a:lnTo>
                <a:lnTo>
                  <a:pt x="189471" y="519569"/>
                </a:lnTo>
                <a:lnTo>
                  <a:pt x="242811" y="511771"/>
                </a:lnTo>
                <a:lnTo>
                  <a:pt x="290817" y="498627"/>
                </a:lnTo>
                <a:lnTo>
                  <a:pt x="332854" y="480072"/>
                </a:lnTo>
                <a:lnTo>
                  <a:pt x="368668" y="455942"/>
                </a:lnTo>
                <a:lnTo>
                  <a:pt x="396100" y="427685"/>
                </a:lnTo>
                <a:lnTo>
                  <a:pt x="419341" y="392976"/>
                </a:lnTo>
                <a:lnTo>
                  <a:pt x="437375" y="351650"/>
                </a:lnTo>
                <a:lnTo>
                  <a:pt x="448932" y="303453"/>
                </a:lnTo>
                <a:lnTo>
                  <a:pt x="452996" y="248158"/>
                </a:lnTo>
                <a:close/>
              </a:path>
              <a:path w="1618615" h="525779">
                <a:moveTo>
                  <a:pt x="849858" y="516801"/>
                </a:moveTo>
                <a:lnTo>
                  <a:pt x="848715" y="491820"/>
                </a:lnTo>
                <a:lnTo>
                  <a:pt x="847699" y="463626"/>
                </a:lnTo>
                <a:lnTo>
                  <a:pt x="847064" y="432142"/>
                </a:lnTo>
                <a:lnTo>
                  <a:pt x="846810" y="397306"/>
                </a:lnTo>
                <a:lnTo>
                  <a:pt x="846810" y="144627"/>
                </a:lnTo>
                <a:lnTo>
                  <a:pt x="731240" y="144627"/>
                </a:lnTo>
                <a:lnTo>
                  <a:pt x="731240" y="366115"/>
                </a:lnTo>
                <a:lnTo>
                  <a:pt x="730986" y="373253"/>
                </a:lnTo>
                <a:lnTo>
                  <a:pt x="707237" y="418261"/>
                </a:lnTo>
                <a:lnTo>
                  <a:pt x="668883" y="431584"/>
                </a:lnTo>
                <a:lnTo>
                  <a:pt x="642467" y="425615"/>
                </a:lnTo>
                <a:lnTo>
                  <a:pt x="624319" y="408457"/>
                </a:lnTo>
                <a:lnTo>
                  <a:pt x="613778" y="381165"/>
                </a:lnTo>
                <a:lnTo>
                  <a:pt x="610349" y="344817"/>
                </a:lnTo>
                <a:lnTo>
                  <a:pt x="610349" y="144627"/>
                </a:lnTo>
                <a:lnTo>
                  <a:pt x="494906" y="144627"/>
                </a:lnTo>
                <a:lnTo>
                  <a:pt x="494906" y="363054"/>
                </a:lnTo>
                <a:lnTo>
                  <a:pt x="501129" y="424053"/>
                </a:lnTo>
                <a:lnTo>
                  <a:pt x="519036" y="469773"/>
                </a:lnTo>
                <a:lnTo>
                  <a:pt x="546722" y="501230"/>
                </a:lnTo>
                <a:lnTo>
                  <a:pt x="582790" y="519366"/>
                </a:lnTo>
                <a:lnTo>
                  <a:pt x="625589" y="525195"/>
                </a:lnTo>
                <a:lnTo>
                  <a:pt x="669899" y="518883"/>
                </a:lnTo>
                <a:lnTo>
                  <a:pt x="703427" y="503313"/>
                </a:lnTo>
                <a:lnTo>
                  <a:pt x="727049" y="483450"/>
                </a:lnTo>
                <a:lnTo>
                  <a:pt x="741908" y="464299"/>
                </a:lnTo>
                <a:lnTo>
                  <a:pt x="744194" y="464299"/>
                </a:lnTo>
                <a:lnTo>
                  <a:pt x="749528" y="516801"/>
                </a:lnTo>
                <a:lnTo>
                  <a:pt x="849858" y="516801"/>
                </a:lnTo>
                <a:close/>
              </a:path>
              <a:path w="1618615" h="525779">
                <a:moveTo>
                  <a:pt x="1277581" y="327279"/>
                </a:moveTo>
                <a:lnTo>
                  <a:pt x="1273136" y="281241"/>
                </a:lnTo>
                <a:lnTo>
                  <a:pt x="1259928" y="240157"/>
                </a:lnTo>
                <a:lnTo>
                  <a:pt x="1247355" y="219214"/>
                </a:lnTo>
                <a:lnTo>
                  <a:pt x="1238846" y="204800"/>
                </a:lnTo>
                <a:lnTo>
                  <a:pt x="1210411" y="175971"/>
                </a:lnTo>
                <a:lnTo>
                  <a:pt x="1175346" y="154406"/>
                </a:lnTo>
                <a:lnTo>
                  <a:pt x="1157566" y="148501"/>
                </a:lnTo>
                <a:lnTo>
                  <a:pt x="1157490" y="329628"/>
                </a:lnTo>
                <a:lnTo>
                  <a:pt x="1157490" y="331101"/>
                </a:lnTo>
                <a:lnTo>
                  <a:pt x="1152474" y="375132"/>
                </a:lnTo>
                <a:lnTo>
                  <a:pt x="1137754" y="411391"/>
                </a:lnTo>
                <a:lnTo>
                  <a:pt x="1083792" y="442214"/>
                </a:lnTo>
                <a:lnTo>
                  <a:pt x="1083030" y="442214"/>
                </a:lnTo>
                <a:lnTo>
                  <a:pt x="1050772" y="433730"/>
                </a:lnTo>
                <a:lnTo>
                  <a:pt x="1027150" y="410349"/>
                </a:lnTo>
                <a:lnTo>
                  <a:pt x="1012672" y="375132"/>
                </a:lnTo>
                <a:lnTo>
                  <a:pt x="1007719" y="331101"/>
                </a:lnTo>
                <a:lnTo>
                  <a:pt x="1011910" y="290182"/>
                </a:lnTo>
                <a:lnTo>
                  <a:pt x="1025245" y="254330"/>
                </a:lnTo>
                <a:lnTo>
                  <a:pt x="1048867" y="228892"/>
                </a:lnTo>
                <a:lnTo>
                  <a:pt x="1083792" y="219214"/>
                </a:lnTo>
                <a:lnTo>
                  <a:pt x="1117447" y="228892"/>
                </a:lnTo>
                <a:lnTo>
                  <a:pt x="1140333" y="254330"/>
                </a:lnTo>
                <a:lnTo>
                  <a:pt x="1153375" y="289864"/>
                </a:lnTo>
                <a:lnTo>
                  <a:pt x="1157490" y="329628"/>
                </a:lnTo>
                <a:lnTo>
                  <a:pt x="1157490" y="148488"/>
                </a:lnTo>
                <a:lnTo>
                  <a:pt x="1134465" y="140893"/>
                </a:lnTo>
                <a:lnTo>
                  <a:pt x="1088364" y="136232"/>
                </a:lnTo>
                <a:lnTo>
                  <a:pt x="1038796" y="140893"/>
                </a:lnTo>
                <a:lnTo>
                  <a:pt x="1039266" y="140893"/>
                </a:lnTo>
                <a:lnTo>
                  <a:pt x="995883" y="154406"/>
                </a:lnTo>
                <a:lnTo>
                  <a:pt x="996073" y="154406"/>
                </a:lnTo>
                <a:lnTo>
                  <a:pt x="959586" y="175971"/>
                </a:lnTo>
                <a:lnTo>
                  <a:pt x="929741" y="205282"/>
                </a:lnTo>
                <a:lnTo>
                  <a:pt x="907643" y="241693"/>
                </a:lnTo>
                <a:lnTo>
                  <a:pt x="893927" y="284568"/>
                </a:lnTo>
                <a:lnTo>
                  <a:pt x="889228" y="333362"/>
                </a:lnTo>
                <a:lnTo>
                  <a:pt x="894080" y="380911"/>
                </a:lnTo>
                <a:lnTo>
                  <a:pt x="908278" y="423976"/>
                </a:lnTo>
                <a:lnTo>
                  <a:pt x="930630" y="459346"/>
                </a:lnTo>
                <a:lnTo>
                  <a:pt x="960221" y="487565"/>
                </a:lnTo>
                <a:lnTo>
                  <a:pt x="995781" y="508203"/>
                </a:lnTo>
                <a:lnTo>
                  <a:pt x="1036675" y="520877"/>
                </a:lnTo>
                <a:lnTo>
                  <a:pt x="1081506" y="525195"/>
                </a:lnTo>
                <a:lnTo>
                  <a:pt x="1082268" y="525195"/>
                </a:lnTo>
                <a:lnTo>
                  <a:pt x="1124178" y="521335"/>
                </a:lnTo>
                <a:lnTo>
                  <a:pt x="1164170" y="509651"/>
                </a:lnTo>
                <a:lnTo>
                  <a:pt x="1200619" y="489953"/>
                </a:lnTo>
                <a:lnTo>
                  <a:pt x="1231861" y="462064"/>
                </a:lnTo>
                <a:lnTo>
                  <a:pt x="1256245" y="425754"/>
                </a:lnTo>
                <a:lnTo>
                  <a:pt x="1271993" y="380911"/>
                </a:lnTo>
                <a:lnTo>
                  <a:pt x="1277581" y="327279"/>
                </a:lnTo>
                <a:close/>
              </a:path>
              <a:path w="1618615" h="525779">
                <a:moveTo>
                  <a:pt x="1618195" y="150710"/>
                </a:moveTo>
                <a:lnTo>
                  <a:pt x="1598510" y="144602"/>
                </a:lnTo>
                <a:lnTo>
                  <a:pt x="1576412" y="140030"/>
                </a:lnTo>
                <a:lnTo>
                  <a:pt x="1553298" y="137198"/>
                </a:lnTo>
                <a:lnTo>
                  <a:pt x="1530057" y="136220"/>
                </a:lnTo>
                <a:lnTo>
                  <a:pt x="1474685" y="141465"/>
                </a:lnTo>
                <a:lnTo>
                  <a:pt x="1427441" y="156425"/>
                </a:lnTo>
                <a:lnTo>
                  <a:pt x="1388198" y="179844"/>
                </a:lnTo>
                <a:lnTo>
                  <a:pt x="1357464" y="210553"/>
                </a:lnTo>
                <a:lnTo>
                  <a:pt x="1335239" y="247307"/>
                </a:lnTo>
                <a:lnTo>
                  <a:pt x="1321777" y="288912"/>
                </a:lnTo>
                <a:lnTo>
                  <a:pt x="1317205" y="334149"/>
                </a:lnTo>
                <a:lnTo>
                  <a:pt x="1321777" y="381635"/>
                </a:lnTo>
                <a:lnTo>
                  <a:pt x="1335239" y="423278"/>
                </a:lnTo>
                <a:lnTo>
                  <a:pt x="1356956" y="458546"/>
                </a:lnTo>
                <a:lnTo>
                  <a:pt x="1386166" y="486918"/>
                </a:lnTo>
                <a:lnTo>
                  <a:pt x="1422615" y="507822"/>
                </a:lnTo>
                <a:lnTo>
                  <a:pt x="1465414" y="520763"/>
                </a:lnTo>
                <a:lnTo>
                  <a:pt x="1514055" y="525195"/>
                </a:lnTo>
                <a:lnTo>
                  <a:pt x="1545932" y="523862"/>
                </a:lnTo>
                <a:lnTo>
                  <a:pt x="1598891" y="514616"/>
                </a:lnTo>
                <a:lnTo>
                  <a:pt x="1603844" y="422427"/>
                </a:lnTo>
                <a:lnTo>
                  <a:pt x="1590001" y="427558"/>
                </a:lnTo>
                <a:lnTo>
                  <a:pt x="1574507" y="431380"/>
                </a:lnTo>
                <a:lnTo>
                  <a:pt x="1557108" y="433781"/>
                </a:lnTo>
                <a:lnTo>
                  <a:pt x="1537677" y="434606"/>
                </a:lnTo>
                <a:lnTo>
                  <a:pt x="1498053" y="427837"/>
                </a:lnTo>
                <a:lnTo>
                  <a:pt x="1465668" y="407784"/>
                </a:lnTo>
                <a:lnTo>
                  <a:pt x="1443824" y="374891"/>
                </a:lnTo>
                <a:lnTo>
                  <a:pt x="1435823" y="329590"/>
                </a:lnTo>
                <a:lnTo>
                  <a:pt x="1442427" y="287604"/>
                </a:lnTo>
                <a:lnTo>
                  <a:pt x="1462493" y="254609"/>
                </a:lnTo>
                <a:lnTo>
                  <a:pt x="1494116" y="233032"/>
                </a:lnTo>
                <a:lnTo>
                  <a:pt x="1535391" y="225298"/>
                </a:lnTo>
                <a:lnTo>
                  <a:pt x="1556346" y="226225"/>
                </a:lnTo>
                <a:lnTo>
                  <a:pt x="1573999" y="228727"/>
                </a:lnTo>
                <a:lnTo>
                  <a:pt x="1588477" y="232371"/>
                </a:lnTo>
                <a:lnTo>
                  <a:pt x="1600034" y="236715"/>
                </a:lnTo>
                <a:lnTo>
                  <a:pt x="1618195" y="150710"/>
                </a:lnTo>
                <a:close/>
              </a:path>
            </a:pathLst>
          </a:custGeom>
          <a:solidFill>
            <a:srgbClr val="FDB6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3">
            <a:extLst>
              <a:ext uri="{FF2B5EF4-FFF2-40B4-BE49-F238E27FC236}">
                <a16:creationId xmlns:a16="http://schemas.microsoft.com/office/drawing/2014/main" id="{6DC05142-FB6F-5803-2760-5780877B62A7}"/>
              </a:ext>
            </a:extLst>
          </p:cNvPr>
          <p:cNvSpPr/>
          <p:nvPr/>
        </p:nvSpPr>
        <p:spPr>
          <a:xfrm>
            <a:off x="11068865" y="6224760"/>
            <a:ext cx="388620" cy="483234"/>
          </a:xfrm>
          <a:custGeom>
            <a:avLst/>
            <a:gdLst/>
            <a:ahLst/>
            <a:cxnLst/>
            <a:rect l="l" t="t" r="r" b="b"/>
            <a:pathLst>
              <a:path w="388619" h="483234">
                <a:moveTo>
                  <a:pt x="387756" y="21"/>
                </a:moveTo>
                <a:lnTo>
                  <a:pt x="280571" y="21"/>
                </a:lnTo>
                <a:lnTo>
                  <a:pt x="280571" y="273635"/>
                </a:lnTo>
                <a:lnTo>
                  <a:pt x="274856" y="328320"/>
                </a:lnTo>
                <a:lnTo>
                  <a:pt x="258093" y="366813"/>
                </a:lnTo>
                <a:lnTo>
                  <a:pt x="230661" y="389558"/>
                </a:lnTo>
                <a:lnTo>
                  <a:pt x="193324" y="397038"/>
                </a:lnTo>
                <a:lnTo>
                  <a:pt x="156622" y="389266"/>
                </a:lnTo>
                <a:lnTo>
                  <a:pt x="129699" y="366013"/>
                </a:lnTo>
                <a:lnTo>
                  <a:pt x="113062" y="327431"/>
                </a:lnTo>
                <a:lnTo>
                  <a:pt x="107347" y="273635"/>
                </a:lnTo>
                <a:lnTo>
                  <a:pt x="107347" y="21"/>
                </a:lnTo>
                <a:lnTo>
                  <a:pt x="-472" y="21"/>
                </a:lnTo>
                <a:lnTo>
                  <a:pt x="-472" y="265190"/>
                </a:lnTo>
                <a:lnTo>
                  <a:pt x="3718" y="325006"/>
                </a:lnTo>
                <a:lnTo>
                  <a:pt x="16291" y="374699"/>
                </a:lnTo>
                <a:lnTo>
                  <a:pt x="36737" y="414614"/>
                </a:lnTo>
                <a:lnTo>
                  <a:pt x="64550" y="445081"/>
                </a:lnTo>
                <a:lnTo>
                  <a:pt x="99728" y="466429"/>
                </a:lnTo>
                <a:lnTo>
                  <a:pt x="141510" y="478989"/>
                </a:lnTo>
                <a:lnTo>
                  <a:pt x="189768" y="483104"/>
                </a:lnTo>
                <a:lnTo>
                  <a:pt x="239805" y="478799"/>
                </a:lnTo>
                <a:lnTo>
                  <a:pt x="283238" y="465832"/>
                </a:lnTo>
                <a:lnTo>
                  <a:pt x="319686" y="444065"/>
                </a:lnTo>
                <a:lnTo>
                  <a:pt x="348768" y="413383"/>
                </a:lnTo>
                <a:lnTo>
                  <a:pt x="370104" y="373658"/>
                </a:lnTo>
                <a:lnTo>
                  <a:pt x="383184" y="324764"/>
                </a:lnTo>
                <a:lnTo>
                  <a:pt x="387756" y="266587"/>
                </a:lnTo>
                <a:lnTo>
                  <a:pt x="387756" y="2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3">
            <a:extLst>
              <a:ext uri="{FF2B5EF4-FFF2-40B4-BE49-F238E27FC236}">
                <a16:creationId xmlns:a16="http://schemas.microsoft.com/office/drawing/2014/main" id="{3134D313-3795-DF1D-7145-55545C23D242}"/>
              </a:ext>
            </a:extLst>
          </p:cNvPr>
          <p:cNvSpPr txBox="1"/>
          <p:nvPr/>
        </p:nvSpPr>
        <p:spPr>
          <a:xfrm>
            <a:off x="428" y="502560"/>
            <a:ext cx="6453381" cy="720000"/>
          </a:xfrm>
          <a:prstGeom prst="rect">
            <a:avLst/>
          </a:prstGeom>
          <a:solidFill>
            <a:srgbClr val="FFC000"/>
          </a:solidFill>
        </p:spPr>
        <p:txBody>
          <a:bodyPr vert="horz" wrap="square" lIns="0" tIns="111669" rIns="0" bIns="0" rtlCol="0">
            <a:spAutoFit/>
          </a:bodyPr>
          <a:lstStyle/>
          <a:p>
            <a:pPr marR="140548" lvl="1">
              <a:spcBef>
                <a:spcPts val="879"/>
              </a:spcBef>
            </a:pPr>
            <a:r>
              <a:rPr lang="es-ES" sz="2911" b="1" spc="-6" dirty="0">
                <a:latin typeface="Arial"/>
                <a:cs typeface="Arial"/>
              </a:rPr>
              <a:t>Implementación básica de JWT</a:t>
            </a:r>
            <a:endParaRPr sz="2911" b="1" spc="-6" dirty="0">
              <a:latin typeface="Arial"/>
              <a:cs typeface="Arial"/>
            </a:endParaRPr>
          </a:p>
        </p:txBody>
      </p:sp>
      <p:pic>
        <p:nvPicPr>
          <p:cNvPr id="9" name="Marcador de contenido 8">
            <a:extLst>
              <a:ext uri="{FF2B5EF4-FFF2-40B4-BE49-F238E27FC236}">
                <a16:creationId xmlns:a16="http://schemas.microsoft.com/office/drawing/2014/main" id="{15BB3D7F-68C6-690E-BA07-2AA4675F9AF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632920" y="1243335"/>
            <a:ext cx="9860289" cy="5503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30074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0740A40-C1AC-80EB-9D7B-29ACC10A0C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350565" cy="452981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CL" b="1" dirty="0"/>
              <a:t>Consumo desde cliente o </a:t>
            </a:r>
            <a:r>
              <a:rPr lang="es-CL" b="1" dirty="0" err="1"/>
              <a:t>Postman</a:t>
            </a:r>
            <a:r>
              <a:rPr lang="es-CL" b="1" dirty="0"/>
              <a:t>:</a:t>
            </a:r>
          </a:p>
          <a:p>
            <a:pPr marL="514350" indent="-514350">
              <a:buFont typeface="+mj-lt"/>
              <a:buAutoNum type="arabicPeriod"/>
            </a:pPr>
            <a:r>
              <a:rPr lang="es-CL" dirty="0"/>
              <a:t>Hacer POST al </a:t>
            </a:r>
            <a:r>
              <a:rPr lang="es-CL" dirty="0" err="1"/>
              <a:t>login</a:t>
            </a:r>
            <a:r>
              <a:rPr lang="es-CL" dirty="0"/>
              <a:t> con usuario y contraseña</a:t>
            </a:r>
          </a:p>
          <a:p>
            <a:pPr marL="514350" indent="-514350">
              <a:buFont typeface="+mj-lt"/>
              <a:buAutoNum type="arabicPeriod"/>
            </a:pPr>
            <a:r>
              <a:rPr lang="es-CL" dirty="0"/>
              <a:t>Recibir el token en la respuesta</a:t>
            </a:r>
          </a:p>
          <a:p>
            <a:pPr marL="514350" indent="-514350">
              <a:buFont typeface="+mj-lt"/>
              <a:buAutoNum type="arabicPeriod"/>
            </a:pPr>
            <a:r>
              <a:rPr lang="es-CL" dirty="0"/>
              <a:t>Guardarlo de forma segura</a:t>
            </a:r>
          </a:p>
          <a:p>
            <a:pPr marL="514350" indent="-514350">
              <a:buFont typeface="+mj-lt"/>
              <a:buAutoNum type="arabicPeriod"/>
            </a:pPr>
            <a:r>
              <a:rPr lang="es-CL" dirty="0"/>
              <a:t>Enviar el token en cada solicitud protegida</a:t>
            </a: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06895EE7-A55D-548D-3B16-ACA105009627}"/>
              </a:ext>
            </a:extLst>
          </p:cNvPr>
          <p:cNvSpPr/>
          <p:nvPr/>
        </p:nvSpPr>
        <p:spPr>
          <a:xfrm>
            <a:off x="9338693" y="6180589"/>
            <a:ext cx="1618615" cy="525780"/>
          </a:xfrm>
          <a:custGeom>
            <a:avLst/>
            <a:gdLst/>
            <a:ahLst/>
            <a:cxnLst/>
            <a:rect l="l" t="t" r="r" b="b"/>
            <a:pathLst>
              <a:path w="1618615" h="525779">
                <a:moveTo>
                  <a:pt x="452996" y="248158"/>
                </a:moveTo>
                <a:lnTo>
                  <a:pt x="449186" y="196608"/>
                </a:lnTo>
                <a:lnTo>
                  <a:pt x="437883" y="151485"/>
                </a:lnTo>
                <a:lnTo>
                  <a:pt x="419849" y="112661"/>
                </a:lnTo>
                <a:lnTo>
                  <a:pt x="395846" y="79959"/>
                </a:lnTo>
                <a:lnTo>
                  <a:pt x="366382" y="53276"/>
                </a:lnTo>
                <a:lnTo>
                  <a:pt x="330695" y="31584"/>
                </a:lnTo>
                <a:lnTo>
                  <a:pt x="330695" y="251955"/>
                </a:lnTo>
                <a:lnTo>
                  <a:pt x="325107" y="307860"/>
                </a:lnTo>
                <a:lnTo>
                  <a:pt x="308851" y="353148"/>
                </a:lnTo>
                <a:lnTo>
                  <a:pt x="282816" y="387997"/>
                </a:lnTo>
                <a:lnTo>
                  <a:pt x="248145" y="412572"/>
                </a:lnTo>
                <a:lnTo>
                  <a:pt x="205473" y="427037"/>
                </a:lnTo>
                <a:lnTo>
                  <a:pt x="155816" y="431584"/>
                </a:lnTo>
                <a:lnTo>
                  <a:pt x="146786" y="431584"/>
                </a:lnTo>
                <a:lnTo>
                  <a:pt x="134226" y="431292"/>
                </a:lnTo>
                <a:lnTo>
                  <a:pt x="124079" y="430606"/>
                </a:lnTo>
                <a:lnTo>
                  <a:pt x="115570" y="429272"/>
                </a:lnTo>
                <a:lnTo>
                  <a:pt x="115570" y="93611"/>
                </a:lnTo>
                <a:lnTo>
                  <a:pt x="124333" y="91935"/>
                </a:lnTo>
                <a:lnTo>
                  <a:pt x="136004" y="90449"/>
                </a:lnTo>
                <a:lnTo>
                  <a:pt x="150609" y="89420"/>
                </a:lnTo>
                <a:lnTo>
                  <a:pt x="168008" y="89027"/>
                </a:lnTo>
                <a:lnTo>
                  <a:pt x="214871" y="93433"/>
                </a:lnTo>
                <a:lnTo>
                  <a:pt x="254749" y="106743"/>
                </a:lnTo>
                <a:lnTo>
                  <a:pt x="287007" y="129095"/>
                </a:lnTo>
                <a:lnTo>
                  <a:pt x="310756" y="160655"/>
                </a:lnTo>
                <a:lnTo>
                  <a:pt x="325615" y="201561"/>
                </a:lnTo>
                <a:lnTo>
                  <a:pt x="330695" y="251955"/>
                </a:lnTo>
                <a:lnTo>
                  <a:pt x="330695" y="31584"/>
                </a:lnTo>
                <a:lnTo>
                  <a:pt x="326758" y="29210"/>
                </a:lnTo>
                <a:lnTo>
                  <a:pt x="279641" y="12649"/>
                </a:lnTo>
                <a:lnTo>
                  <a:pt x="223253" y="3073"/>
                </a:lnTo>
                <a:lnTo>
                  <a:pt x="155816" y="0"/>
                </a:lnTo>
                <a:lnTo>
                  <a:pt x="113030" y="711"/>
                </a:lnTo>
                <a:lnTo>
                  <a:pt x="72263" y="2857"/>
                </a:lnTo>
                <a:lnTo>
                  <a:pt x="34163" y="6413"/>
                </a:lnTo>
                <a:lnTo>
                  <a:pt x="0" y="11430"/>
                </a:lnTo>
                <a:lnTo>
                  <a:pt x="0" y="514540"/>
                </a:lnTo>
                <a:lnTo>
                  <a:pt x="24003" y="517334"/>
                </a:lnTo>
                <a:lnTo>
                  <a:pt x="53721" y="519760"/>
                </a:lnTo>
                <a:lnTo>
                  <a:pt x="89535" y="521487"/>
                </a:lnTo>
                <a:lnTo>
                  <a:pt x="131432" y="522147"/>
                </a:lnTo>
                <a:lnTo>
                  <a:pt x="189471" y="519569"/>
                </a:lnTo>
                <a:lnTo>
                  <a:pt x="242811" y="511771"/>
                </a:lnTo>
                <a:lnTo>
                  <a:pt x="290817" y="498627"/>
                </a:lnTo>
                <a:lnTo>
                  <a:pt x="332854" y="480072"/>
                </a:lnTo>
                <a:lnTo>
                  <a:pt x="368668" y="455942"/>
                </a:lnTo>
                <a:lnTo>
                  <a:pt x="396100" y="427685"/>
                </a:lnTo>
                <a:lnTo>
                  <a:pt x="419341" y="392976"/>
                </a:lnTo>
                <a:lnTo>
                  <a:pt x="437375" y="351650"/>
                </a:lnTo>
                <a:lnTo>
                  <a:pt x="448932" y="303453"/>
                </a:lnTo>
                <a:lnTo>
                  <a:pt x="452996" y="248158"/>
                </a:lnTo>
                <a:close/>
              </a:path>
              <a:path w="1618615" h="525779">
                <a:moveTo>
                  <a:pt x="849858" y="516801"/>
                </a:moveTo>
                <a:lnTo>
                  <a:pt x="848715" y="491820"/>
                </a:lnTo>
                <a:lnTo>
                  <a:pt x="847699" y="463626"/>
                </a:lnTo>
                <a:lnTo>
                  <a:pt x="847064" y="432142"/>
                </a:lnTo>
                <a:lnTo>
                  <a:pt x="846810" y="397306"/>
                </a:lnTo>
                <a:lnTo>
                  <a:pt x="846810" y="144627"/>
                </a:lnTo>
                <a:lnTo>
                  <a:pt x="731240" y="144627"/>
                </a:lnTo>
                <a:lnTo>
                  <a:pt x="731240" y="366115"/>
                </a:lnTo>
                <a:lnTo>
                  <a:pt x="730986" y="373253"/>
                </a:lnTo>
                <a:lnTo>
                  <a:pt x="707237" y="418261"/>
                </a:lnTo>
                <a:lnTo>
                  <a:pt x="668883" y="431584"/>
                </a:lnTo>
                <a:lnTo>
                  <a:pt x="642467" y="425615"/>
                </a:lnTo>
                <a:lnTo>
                  <a:pt x="624319" y="408457"/>
                </a:lnTo>
                <a:lnTo>
                  <a:pt x="613778" y="381165"/>
                </a:lnTo>
                <a:lnTo>
                  <a:pt x="610349" y="344817"/>
                </a:lnTo>
                <a:lnTo>
                  <a:pt x="610349" y="144627"/>
                </a:lnTo>
                <a:lnTo>
                  <a:pt x="494906" y="144627"/>
                </a:lnTo>
                <a:lnTo>
                  <a:pt x="494906" y="363054"/>
                </a:lnTo>
                <a:lnTo>
                  <a:pt x="501129" y="424053"/>
                </a:lnTo>
                <a:lnTo>
                  <a:pt x="519036" y="469773"/>
                </a:lnTo>
                <a:lnTo>
                  <a:pt x="546722" y="501230"/>
                </a:lnTo>
                <a:lnTo>
                  <a:pt x="582790" y="519366"/>
                </a:lnTo>
                <a:lnTo>
                  <a:pt x="625589" y="525195"/>
                </a:lnTo>
                <a:lnTo>
                  <a:pt x="669899" y="518883"/>
                </a:lnTo>
                <a:lnTo>
                  <a:pt x="703427" y="503313"/>
                </a:lnTo>
                <a:lnTo>
                  <a:pt x="727049" y="483450"/>
                </a:lnTo>
                <a:lnTo>
                  <a:pt x="741908" y="464299"/>
                </a:lnTo>
                <a:lnTo>
                  <a:pt x="744194" y="464299"/>
                </a:lnTo>
                <a:lnTo>
                  <a:pt x="749528" y="516801"/>
                </a:lnTo>
                <a:lnTo>
                  <a:pt x="849858" y="516801"/>
                </a:lnTo>
                <a:close/>
              </a:path>
              <a:path w="1618615" h="525779">
                <a:moveTo>
                  <a:pt x="1277581" y="327279"/>
                </a:moveTo>
                <a:lnTo>
                  <a:pt x="1273136" y="281241"/>
                </a:lnTo>
                <a:lnTo>
                  <a:pt x="1259928" y="240157"/>
                </a:lnTo>
                <a:lnTo>
                  <a:pt x="1247355" y="219214"/>
                </a:lnTo>
                <a:lnTo>
                  <a:pt x="1238846" y="204800"/>
                </a:lnTo>
                <a:lnTo>
                  <a:pt x="1210411" y="175971"/>
                </a:lnTo>
                <a:lnTo>
                  <a:pt x="1175346" y="154406"/>
                </a:lnTo>
                <a:lnTo>
                  <a:pt x="1157566" y="148501"/>
                </a:lnTo>
                <a:lnTo>
                  <a:pt x="1157490" y="329628"/>
                </a:lnTo>
                <a:lnTo>
                  <a:pt x="1157490" y="331101"/>
                </a:lnTo>
                <a:lnTo>
                  <a:pt x="1152474" y="375132"/>
                </a:lnTo>
                <a:lnTo>
                  <a:pt x="1137754" y="411391"/>
                </a:lnTo>
                <a:lnTo>
                  <a:pt x="1083792" y="442214"/>
                </a:lnTo>
                <a:lnTo>
                  <a:pt x="1083030" y="442214"/>
                </a:lnTo>
                <a:lnTo>
                  <a:pt x="1050772" y="433730"/>
                </a:lnTo>
                <a:lnTo>
                  <a:pt x="1027150" y="410349"/>
                </a:lnTo>
                <a:lnTo>
                  <a:pt x="1012672" y="375132"/>
                </a:lnTo>
                <a:lnTo>
                  <a:pt x="1007719" y="331101"/>
                </a:lnTo>
                <a:lnTo>
                  <a:pt x="1011910" y="290182"/>
                </a:lnTo>
                <a:lnTo>
                  <a:pt x="1025245" y="254330"/>
                </a:lnTo>
                <a:lnTo>
                  <a:pt x="1048867" y="228892"/>
                </a:lnTo>
                <a:lnTo>
                  <a:pt x="1083792" y="219214"/>
                </a:lnTo>
                <a:lnTo>
                  <a:pt x="1117447" y="228892"/>
                </a:lnTo>
                <a:lnTo>
                  <a:pt x="1140333" y="254330"/>
                </a:lnTo>
                <a:lnTo>
                  <a:pt x="1153375" y="289864"/>
                </a:lnTo>
                <a:lnTo>
                  <a:pt x="1157490" y="329628"/>
                </a:lnTo>
                <a:lnTo>
                  <a:pt x="1157490" y="148488"/>
                </a:lnTo>
                <a:lnTo>
                  <a:pt x="1134465" y="140893"/>
                </a:lnTo>
                <a:lnTo>
                  <a:pt x="1088364" y="136232"/>
                </a:lnTo>
                <a:lnTo>
                  <a:pt x="1038796" y="140893"/>
                </a:lnTo>
                <a:lnTo>
                  <a:pt x="1039266" y="140893"/>
                </a:lnTo>
                <a:lnTo>
                  <a:pt x="995883" y="154406"/>
                </a:lnTo>
                <a:lnTo>
                  <a:pt x="996073" y="154406"/>
                </a:lnTo>
                <a:lnTo>
                  <a:pt x="959586" y="175971"/>
                </a:lnTo>
                <a:lnTo>
                  <a:pt x="929741" y="205282"/>
                </a:lnTo>
                <a:lnTo>
                  <a:pt x="907643" y="241693"/>
                </a:lnTo>
                <a:lnTo>
                  <a:pt x="893927" y="284568"/>
                </a:lnTo>
                <a:lnTo>
                  <a:pt x="889228" y="333362"/>
                </a:lnTo>
                <a:lnTo>
                  <a:pt x="894080" y="380911"/>
                </a:lnTo>
                <a:lnTo>
                  <a:pt x="908278" y="423976"/>
                </a:lnTo>
                <a:lnTo>
                  <a:pt x="930630" y="459346"/>
                </a:lnTo>
                <a:lnTo>
                  <a:pt x="960221" y="487565"/>
                </a:lnTo>
                <a:lnTo>
                  <a:pt x="995781" y="508203"/>
                </a:lnTo>
                <a:lnTo>
                  <a:pt x="1036675" y="520877"/>
                </a:lnTo>
                <a:lnTo>
                  <a:pt x="1081506" y="525195"/>
                </a:lnTo>
                <a:lnTo>
                  <a:pt x="1082268" y="525195"/>
                </a:lnTo>
                <a:lnTo>
                  <a:pt x="1124178" y="521335"/>
                </a:lnTo>
                <a:lnTo>
                  <a:pt x="1164170" y="509651"/>
                </a:lnTo>
                <a:lnTo>
                  <a:pt x="1200619" y="489953"/>
                </a:lnTo>
                <a:lnTo>
                  <a:pt x="1231861" y="462064"/>
                </a:lnTo>
                <a:lnTo>
                  <a:pt x="1256245" y="425754"/>
                </a:lnTo>
                <a:lnTo>
                  <a:pt x="1271993" y="380911"/>
                </a:lnTo>
                <a:lnTo>
                  <a:pt x="1277581" y="327279"/>
                </a:lnTo>
                <a:close/>
              </a:path>
              <a:path w="1618615" h="525779">
                <a:moveTo>
                  <a:pt x="1618195" y="150710"/>
                </a:moveTo>
                <a:lnTo>
                  <a:pt x="1598510" y="144602"/>
                </a:lnTo>
                <a:lnTo>
                  <a:pt x="1576412" y="140030"/>
                </a:lnTo>
                <a:lnTo>
                  <a:pt x="1553298" y="137198"/>
                </a:lnTo>
                <a:lnTo>
                  <a:pt x="1530057" y="136220"/>
                </a:lnTo>
                <a:lnTo>
                  <a:pt x="1474685" y="141465"/>
                </a:lnTo>
                <a:lnTo>
                  <a:pt x="1427441" y="156425"/>
                </a:lnTo>
                <a:lnTo>
                  <a:pt x="1388198" y="179844"/>
                </a:lnTo>
                <a:lnTo>
                  <a:pt x="1357464" y="210553"/>
                </a:lnTo>
                <a:lnTo>
                  <a:pt x="1335239" y="247307"/>
                </a:lnTo>
                <a:lnTo>
                  <a:pt x="1321777" y="288912"/>
                </a:lnTo>
                <a:lnTo>
                  <a:pt x="1317205" y="334149"/>
                </a:lnTo>
                <a:lnTo>
                  <a:pt x="1321777" y="381635"/>
                </a:lnTo>
                <a:lnTo>
                  <a:pt x="1335239" y="423278"/>
                </a:lnTo>
                <a:lnTo>
                  <a:pt x="1356956" y="458546"/>
                </a:lnTo>
                <a:lnTo>
                  <a:pt x="1386166" y="486918"/>
                </a:lnTo>
                <a:lnTo>
                  <a:pt x="1422615" y="507822"/>
                </a:lnTo>
                <a:lnTo>
                  <a:pt x="1465414" y="520763"/>
                </a:lnTo>
                <a:lnTo>
                  <a:pt x="1514055" y="525195"/>
                </a:lnTo>
                <a:lnTo>
                  <a:pt x="1545932" y="523862"/>
                </a:lnTo>
                <a:lnTo>
                  <a:pt x="1598891" y="514616"/>
                </a:lnTo>
                <a:lnTo>
                  <a:pt x="1603844" y="422427"/>
                </a:lnTo>
                <a:lnTo>
                  <a:pt x="1590001" y="427558"/>
                </a:lnTo>
                <a:lnTo>
                  <a:pt x="1574507" y="431380"/>
                </a:lnTo>
                <a:lnTo>
                  <a:pt x="1557108" y="433781"/>
                </a:lnTo>
                <a:lnTo>
                  <a:pt x="1537677" y="434606"/>
                </a:lnTo>
                <a:lnTo>
                  <a:pt x="1498053" y="427837"/>
                </a:lnTo>
                <a:lnTo>
                  <a:pt x="1465668" y="407784"/>
                </a:lnTo>
                <a:lnTo>
                  <a:pt x="1443824" y="374891"/>
                </a:lnTo>
                <a:lnTo>
                  <a:pt x="1435823" y="329590"/>
                </a:lnTo>
                <a:lnTo>
                  <a:pt x="1442427" y="287604"/>
                </a:lnTo>
                <a:lnTo>
                  <a:pt x="1462493" y="254609"/>
                </a:lnTo>
                <a:lnTo>
                  <a:pt x="1494116" y="233032"/>
                </a:lnTo>
                <a:lnTo>
                  <a:pt x="1535391" y="225298"/>
                </a:lnTo>
                <a:lnTo>
                  <a:pt x="1556346" y="226225"/>
                </a:lnTo>
                <a:lnTo>
                  <a:pt x="1573999" y="228727"/>
                </a:lnTo>
                <a:lnTo>
                  <a:pt x="1588477" y="232371"/>
                </a:lnTo>
                <a:lnTo>
                  <a:pt x="1600034" y="236715"/>
                </a:lnTo>
                <a:lnTo>
                  <a:pt x="1618195" y="150710"/>
                </a:lnTo>
                <a:close/>
              </a:path>
            </a:pathLst>
          </a:custGeom>
          <a:solidFill>
            <a:srgbClr val="FDB6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3">
            <a:extLst>
              <a:ext uri="{FF2B5EF4-FFF2-40B4-BE49-F238E27FC236}">
                <a16:creationId xmlns:a16="http://schemas.microsoft.com/office/drawing/2014/main" id="{7D406283-9470-8680-8F67-D9C8E47DD628}"/>
              </a:ext>
            </a:extLst>
          </p:cNvPr>
          <p:cNvSpPr/>
          <p:nvPr/>
        </p:nvSpPr>
        <p:spPr>
          <a:xfrm>
            <a:off x="11068865" y="6224760"/>
            <a:ext cx="388620" cy="483234"/>
          </a:xfrm>
          <a:custGeom>
            <a:avLst/>
            <a:gdLst/>
            <a:ahLst/>
            <a:cxnLst/>
            <a:rect l="l" t="t" r="r" b="b"/>
            <a:pathLst>
              <a:path w="388619" h="483234">
                <a:moveTo>
                  <a:pt x="387756" y="21"/>
                </a:moveTo>
                <a:lnTo>
                  <a:pt x="280571" y="21"/>
                </a:lnTo>
                <a:lnTo>
                  <a:pt x="280571" y="273635"/>
                </a:lnTo>
                <a:lnTo>
                  <a:pt x="274856" y="328320"/>
                </a:lnTo>
                <a:lnTo>
                  <a:pt x="258093" y="366813"/>
                </a:lnTo>
                <a:lnTo>
                  <a:pt x="230661" y="389558"/>
                </a:lnTo>
                <a:lnTo>
                  <a:pt x="193324" y="397038"/>
                </a:lnTo>
                <a:lnTo>
                  <a:pt x="156622" y="389266"/>
                </a:lnTo>
                <a:lnTo>
                  <a:pt x="129699" y="366013"/>
                </a:lnTo>
                <a:lnTo>
                  <a:pt x="113062" y="327431"/>
                </a:lnTo>
                <a:lnTo>
                  <a:pt x="107347" y="273635"/>
                </a:lnTo>
                <a:lnTo>
                  <a:pt x="107347" y="21"/>
                </a:lnTo>
                <a:lnTo>
                  <a:pt x="-472" y="21"/>
                </a:lnTo>
                <a:lnTo>
                  <a:pt x="-472" y="265190"/>
                </a:lnTo>
                <a:lnTo>
                  <a:pt x="3718" y="325006"/>
                </a:lnTo>
                <a:lnTo>
                  <a:pt x="16291" y="374699"/>
                </a:lnTo>
                <a:lnTo>
                  <a:pt x="36737" y="414614"/>
                </a:lnTo>
                <a:lnTo>
                  <a:pt x="64550" y="445081"/>
                </a:lnTo>
                <a:lnTo>
                  <a:pt x="99728" y="466429"/>
                </a:lnTo>
                <a:lnTo>
                  <a:pt x="141510" y="478989"/>
                </a:lnTo>
                <a:lnTo>
                  <a:pt x="189768" y="483104"/>
                </a:lnTo>
                <a:lnTo>
                  <a:pt x="239805" y="478799"/>
                </a:lnTo>
                <a:lnTo>
                  <a:pt x="283238" y="465832"/>
                </a:lnTo>
                <a:lnTo>
                  <a:pt x="319686" y="444065"/>
                </a:lnTo>
                <a:lnTo>
                  <a:pt x="348768" y="413383"/>
                </a:lnTo>
                <a:lnTo>
                  <a:pt x="370104" y="373658"/>
                </a:lnTo>
                <a:lnTo>
                  <a:pt x="383184" y="324764"/>
                </a:lnTo>
                <a:lnTo>
                  <a:pt x="387756" y="266587"/>
                </a:lnTo>
                <a:lnTo>
                  <a:pt x="387756" y="2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6" name="object 4">
            <a:extLst>
              <a:ext uri="{FF2B5EF4-FFF2-40B4-BE49-F238E27FC236}">
                <a16:creationId xmlns:a16="http://schemas.microsoft.com/office/drawing/2014/main" id="{DC48E700-0196-D199-FA36-456BFF0E0F29}"/>
              </a:ext>
            </a:extLst>
          </p:cNvPr>
          <p:cNvGrpSpPr/>
          <p:nvPr/>
        </p:nvGrpSpPr>
        <p:grpSpPr>
          <a:xfrm>
            <a:off x="11510824" y="6110485"/>
            <a:ext cx="446405" cy="596900"/>
            <a:chOff x="19130771" y="10355319"/>
            <a:chExt cx="446405" cy="596900"/>
          </a:xfrm>
        </p:grpSpPr>
        <p:sp>
          <p:nvSpPr>
            <p:cNvPr id="7" name="object 5">
              <a:extLst>
                <a:ext uri="{FF2B5EF4-FFF2-40B4-BE49-F238E27FC236}">
                  <a16:creationId xmlns:a16="http://schemas.microsoft.com/office/drawing/2014/main" id="{831B0CF6-545A-91CD-F84D-2C515215ED62}"/>
                </a:ext>
              </a:extLst>
            </p:cNvPr>
            <p:cNvSpPr/>
            <p:nvPr/>
          </p:nvSpPr>
          <p:spPr>
            <a:xfrm>
              <a:off x="19130771" y="10461974"/>
              <a:ext cx="376555" cy="490220"/>
            </a:xfrm>
            <a:custGeom>
              <a:avLst/>
              <a:gdLst/>
              <a:ahLst/>
              <a:cxnLst/>
              <a:rect l="l" t="t" r="r" b="b"/>
              <a:pathLst>
                <a:path w="376555" h="490220">
                  <a:moveTo>
                    <a:pt x="258716" y="21"/>
                  </a:moveTo>
                  <a:lnTo>
                    <a:pt x="211982" y="3336"/>
                  </a:lnTo>
                  <a:lnTo>
                    <a:pt x="168041" y="13178"/>
                  </a:lnTo>
                  <a:lnTo>
                    <a:pt x="127656" y="29395"/>
                  </a:lnTo>
                  <a:lnTo>
                    <a:pt x="91462" y="51848"/>
                  </a:lnTo>
                  <a:lnTo>
                    <a:pt x="60347" y="80359"/>
                  </a:lnTo>
                  <a:lnTo>
                    <a:pt x="34821" y="114813"/>
                  </a:lnTo>
                  <a:lnTo>
                    <a:pt x="15645" y="155033"/>
                  </a:lnTo>
                  <a:lnTo>
                    <a:pt x="3707" y="200866"/>
                  </a:lnTo>
                  <a:lnTo>
                    <a:pt x="-483" y="252186"/>
                  </a:lnTo>
                  <a:lnTo>
                    <a:pt x="2691" y="295949"/>
                  </a:lnTo>
                  <a:lnTo>
                    <a:pt x="11962" y="336740"/>
                  </a:lnTo>
                  <a:lnTo>
                    <a:pt x="27455" y="373976"/>
                  </a:lnTo>
                  <a:lnTo>
                    <a:pt x="49172" y="407084"/>
                  </a:lnTo>
                  <a:lnTo>
                    <a:pt x="76857" y="435468"/>
                  </a:lnTo>
                  <a:lnTo>
                    <a:pt x="110765" y="458556"/>
                  </a:lnTo>
                  <a:lnTo>
                    <a:pt x="150515" y="475764"/>
                  </a:lnTo>
                  <a:lnTo>
                    <a:pt x="196361" y="486508"/>
                  </a:lnTo>
                  <a:lnTo>
                    <a:pt x="248049" y="490229"/>
                  </a:lnTo>
                  <a:lnTo>
                    <a:pt x="288688" y="488311"/>
                  </a:lnTo>
                  <a:lnTo>
                    <a:pt x="323231" y="483358"/>
                  </a:lnTo>
                  <a:lnTo>
                    <a:pt x="350662" y="476551"/>
                  </a:lnTo>
                  <a:lnTo>
                    <a:pt x="369966" y="469084"/>
                  </a:lnTo>
                  <a:lnTo>
                    <a:pt x="353710" y="385291"/>
                  </a:lnTo>
                  <a:lnTo>
                    <a:pt x="335423" y="391273"/>
                  </a:lnTo>
                  <a:lnTo>
                    <a:pt x="313198" y="396187"/>
                  </a:lnTo>
                  <a:lnTo>
                    <a:pt x="288942" y="399527"/>
                  </a:lnTo>
                  <a:lnTo>
                    <a:pt x="264304" y="400747"/>
                  </a:lnTo>
                  <a:lnTo>
                    <a:pt x="211728" y="393762"/>
                  </a:lnTo>
                  <a:lnTo>
                    <a:pt x="169438" y="373595"/>
                  </a:lnTo>
                  <a:lnTo>
                    <a:pt x="138197" y="341426"/>
                  </a:lnTo>
                  <a:lnTo>
                    <a:pt x="118893" y="298451"/>
                  </a:lnTo>
                  <a:lnTo>
                    <a:pt x="112162" y="245823"/>
                  </a:lnTo>
                  <a:lnTo>
                    <a:pt x="119782" y="188929"/>
                  </a:lnTo>
                  <a:lnTo>
                    <a:pt x="140990" y="144912"/>
                  </a:lnTo>
                  <a:lnTo>
                    <a:pt x="173502" y="113632"/>
                  </a:lnTo>
                  <a:lnTo>
                    <a:pt x="215157" y="94964"/>
                  </a:lnTo>
                  <a:lnTo>
                    <a:pt x="263669" y="88766"/>
                  </a:lnTo>
                  <a:lnTo>
                    <a:pt x="290720" y="90227"/>
                  </a:lnTo>
                  <a:lnTo>
                    <a:pt x="314722" y="94138"/>
                  </a:lnTo>
                  <a:lnTo>
                    <a:pt x="335804" y="99764"/>
                  </a:lnTo>
                  <a:lnTo>
                    <a:pt x="353710" y="106368"/>
                  </a:lnTo>
                  <a:lnTo>
                    <a:pt x="375554" y="21179"/>
                  </a:lnTo>
                  <a:lnTo>
                    <a:pt x="357139" y="13698"/>
                  </a:lnTo>
                  <a:lnTo>
                    <a:pt x="330851" y="6891"/>
                  </a:lnTo>
                  <a:lnTo>
                    <a:pt x="297704" y="1939"/>
                  </a:lnTo>
                  <a:lnTo>
                    <a:pt x="258716" y="2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6">
              <a:extLst>
                <a:ext uri="{FF2B5EF4-FFF2-40B4-BE49-F238E27FC236}">
                  <a16:creationId xmlns:a16="http://schemas.microsoft.com/office/drawing/2014/main" id="{F597678C-5DEA-BD50-84A1-A6E460857F08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9464035" y="10355319"/>
              <a:ext cx="112771" cy="111247"/>
            </a:xfrm>
            <a:prstGeom prst="rect">
              <a:avLst/>
            </a:prstGeom>
          </p:spPr>
        </p:pic>
      </p:grpSp>
      <p:sp>
        <p:nvSpPr>
          <p:cNvPr id="13" name="object 3">
            <a:extLst>
              <a:ext uri="{FF2B5EF4-FFF2-40B4-BE49-F238E27FC236}">
                <a16:creationId xmlns:a16="http://schemas.microsoft.com/office/drawing/2014/main" id="{BCB96F98-326D-61C3-FBEB-C4CADDF22547}"/>
              </a:ext>
            </a:extLst>
          </p:cNvPr>
          <p:cNvSpPr txBox="1"/>
          <p:nvPr/>
        </p:nvSpPr>
        <p:spPr>
          <a:xfrm>
            <a:off x="428" y="502559"/>
            <a:ext cx="7849344" cy="720000"/>
          </a:xfrm>
          <a:prstGeom prst="rect">
            <a:avLst/>
          </a:prstGeom>
          <a:solidFill>
            <a:srgbClr val="FFC000"/>
          </a:solidFill>
        </p:spPr>
        <p:txBody>
          <a:bodyPr vert="horz" wrap="square" lIns="0" tIns="111669" rIns="0" bIns="0" rtlCol="0">
            <a:spAutoFit/>
          </a:bodyPr>
          <a:lstStyle/>
          <a:p>
            <a:pPr marR="140548" lvl="1">
              <a:spcBef>
                <a:spcPts val="879"/>
              </a:spcBef>
            </a:pPr>
            <a:r>
              <a:rPr lang="es-ES" sz="2911" b="1" spc="-6" dirty="0">
                <a:latin typeface="Arial"/>
                <a:cs typeface="Arial"/>
              </a:rPr>
              <a:t>¿Cómo consume el cliente un JWT?</a:t>
            </a:r>
            <a:endParaRPr sz="2911" b="1" spc="-6" dirty="0">
              <a:latin typeface="Arial"/>
              <a:cs typeface="Arial"/>
            </a:endParaRPr>
          </a:p>
        </p:txBody>
      </p:sp>
      <p:sp>
        <p:nvSpPr>
          <p:cNvPr id="2" name="Marcador de contenido 2">
            <a:extLst>
              <a:ext uri="{FF2B5EF4-FFF2-40B4-BE49-F238E27FC236}">
                <a16:creationId xmlns:a16="http://schemas.microsoft.com/office/drawing/2014/main" id="{12F15621-ED55-D30E-92F2-DB1EDCECC19D}"/>
              </a:ext>
            </a:extLst>
          </p:cNvPr>
          <p:cNvSpPr txBox="1">
            <a:spLocks/>
          </p:cNvSpPr>
          <p:nvPr/>
        </p:nvSpPr>
        <p:spPr>
          <a:xfrm>
            <a:off x="6341144" y="1825625"/>
            <a:ext cx="5350565" cy="45298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CL" b="1" dirty="0"/>
              <a:t>Ejemplo de uso:</a:t>
            </a:r>
            <a:br>
              <a:rPr lang="es-CL" dirty="0"/>
            </a:br>
            <a:r>
              <a:rPr lang="es-CL" dirty="0" err="1"/>
              <a:t>Authorization</a:t>
            </a:r>
            <a:r>
              <a:rPr lang="es-CL" dirty="0"/>
              <a:t>: </a:t>
            </a:r>
            <a:r>
              <a:rPr lang="es-CL" dirty="0" err="1"/>
              <a:t>Bearer</a:t>
            </a:r>
            <a:r>
              <a:rPr lang="es-CL" dirty="0"/>
              <a:t> </a:t>
            </a:r>
            <a:r>
              <a:rPr lang="es-CL" dirty="0" err="1"/>
              <a:t>eyJ</a:t>
            </a:r>
            <a:r>
              <a:rPr lang="es-CL" dirty="0"/>
              <a:t>...</a:t>
            </a:r>
          </a:p>
          <a:p>
            <a:pPr marL="0" indent="0">
              <a:buNone/>
            </a:pPr>
            <a:endParaRPr lang="es-CL" dirty="0"/>
          </a:p>
          <a:p>
            <a:pPr marL="0" indent="0">
              <a:buNone/>
            </a:pPr>
            <a:r>
              <a:rPr lang="es-CL" b="1" dirty="0"/>
              <a:t>Herramientas para probar:</a:t>
            </a:r>
          </a:p>
          <a:p>
            <a:r>
              <a:rPr lang="es-CL" dirty="0" err="1"/>
              <a:t>Postman</a:t>
            </a:r>
            <a:endParaRPr lang="es-CL" dirty="0"/>
          </a:p>
          <a:p>
            <a:r>
              <a:rPr lang="es-CL" dirty="0" err="1"/>
              <a:t>Insomnia</a:t>
            </a:r>
            <a:endParaRPr lang="es-CL" dirty="0"/>
          </a:p>
          <a:p>
            <a:r>
              <a:rPr lang="es-CL" dirty="0" err="1"/>
              <a:t>Frontend</a:t>
            </a:r>
            <a:r>
              <a:rPr lang="es-CL" dirty="0"/>
              <a:t> web</a:t>
            </a:r>
          </a:p>
          <a:p>
            <a:r>
              <a:rPr lang="es-CL" dirty="0"/>
              <a:t>Aplicación móvil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s-CL" sz="1800" dirty="0"/>
          </a:p>
        </p:txBody>
      </p:sp>
    </p:spTree>
    <p:extLst>
      <p:ext uri="{BB962C8B-B14F-4D97-AF65-F5344CB8AC3E}">
        <p14:creationId xmlns:p14="http://schemas.microsoft.com/office/powerpoint/2010/main" val="24004432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Real noob question: how to get a bearer token? - Help Hub - Postman  Community">
            <a:extLst>
              <a:ext uri="{FF2B5EF4-FFF2-40B4-BE49-F238E27FC236}">
                <a16:creationId xmlns:a16="http://schemas.microsoft.com/office/drawing/2014/main" id="{89B57AAB-8EE4-A96B-1C94-9A84D31E4D0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951205"/>
            <a:ext cx="10515600" cy="41001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object 3">
            <a:extLst>
              <a:ext uri="{FF2B5EF4-FFF2-40B4-BE49-F238E27FC236}">
                <a16:creationId xmlns:a16="http://schemas.microsoft.com/office/drawing/2014/main" id="{54225A22-4FF7-567F-99DF-B6B4EE509A2B}"/>
              </a:ext>
            </a:extLst>
          </p:cNvPr>
          <p:cNvSpPr txBox="1"/>
          <p:nvPr/>
        </p:nvSpPr>
        <p:spPr>
          <a:xfrm>
            <a:off x="428" y="502558"/>
            <a:ext cx="4494299" cy="720000"/>
          </a:xfrm>
          <a:prstGeom prst="rect">
            <a:avLst/>
          </a:prstGeom>
          <a:solidFill>
            <a:srgbClr val="FFC000"/>
          </a:solidFill>
        </p:spPr>
        <p:txBody>
          <a:bodyPr vert="horz" wrap="square" lIns="0" tIns="111669" rIns="0" bIns="0" rtlCol="0">
            <a:spAutoFit/>
          </a:bodyPr>
          <a:lstStyle/>
          <a:p>
            <a:pPr marR="140548" lvl="1">
              <a:spcBef>
                <a:spcPts val="879"/>
              </a:spcBef>
            </a:pPr>
            <a:r>
              <a:rPr lang="es-ES" sz="2911" b="1" spc="-6" dirty="0">
                <a:latin typeface="Arial"/>
                <a:cs typeface="Arial"/>
              </a:rPr>
              <a:t>Consumo de un JWT</a:t>
            </a:r>
            <a:endParaRPr sz="2911" b="1" spc="-6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083500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>
            <a:extLst>
              <a:ext uri="{FF2B5EF4-FFF2-40B4-BE49-F238E27FC236}">
                <a16:creationId xmlns:a16="http://schemas.microsoft.com/office/drawing/2014/main" id="{ADD6314F-E80C-DC42-381B-40CFB8A9AC86}"/>
              </a:ext>
            </a:extLst>
          </p:cNvPr>
          <p:cNvSpPr/>
          <p:nvPr/>
        </p:nvSpPr>
        <p:spPr>
          <a:xfrm>
            <a:off x="9338693" y="6180589"/>
            <a:ext cx="1618615" cy="525780"/>
          </a:xfrm>
          <a:custGeom>
            <a:avLst/>
            <a:gdLst/>
            <a:ahLst/>
            <a:cxnLst/>
            <a:rect l="l" t="t" r="r" b="b"/>
            <a:pathLst>
              <a:path w="1618615" h="525779">
                <a:moveTo>
                  <a:pt x="452996" y="248158"/>
                </a:moveTo>
                <a:lnTo>
                  <a:pt x="449186" y="196608"/>
                </a:lnTo>
                <a:lnTo>
                  <a:pt x="437883" y="151485"/>
                </a:lnTo>
                <a:lnTo>
                  <a:pt x="419849" y="112661"/>
                </a:lnTo>
                <a:lnTo>
                  <a:pt x="395846" y="79959"/>
                </a:lnTo>
                <a:lnTo>
                  <a:pt x="366382" y="53276"/>
                </a:lnTo>
                <a:lnTo>
                  <a:pt x="330695" y="31584"/>
                </a:lnTo>
                <a:lnTo>
                  <a:pt x="330695" y="251955"/>
                </a:lnTo>
                <a:lnTo>
                  <a:pt x="325107" y="307860"/>
                </a:lnTo>
                <a:lnTo>
                  <a:pt x="308851" y="353148"/>
                </a:lnTo>
                <a:lnTo>
                  <a:pt x="282816" y="387997"/>
                </a:lnTo>
                <a:lnTo>
                  <a:pt x="248145" y="412572"/>
                </a:lnTo>
                <a:lnTo>
                  <a:pt x="205473" y="427037"/>
                </a:lnTo>
                <a:lnTo>
                  <a:pt x="155816" y="431584"/>
                </a:lnTo>
                <a:lnTo>
                  <a:pt x="146786" y="431584"/>
                </a:lnTo>
                <a:lnTo>
                  <a:pt x="134226" y="431292"/>
                </a:lnTo>
                <a:lnTo>
                  <a:pt x="124079" y="430606"/>
                </a:lnTo>
                <a:lnTo>
                  <a:pt x="115570" y="429272"/>
                </a:lnTo>
                <a:lnTo>
                  <a:pt x="115570" y="93611"/>
                </a:lnTo>
                <a:lnTo>
                  <a:pt x="124333" y="91935"/>
                </a:lnTo>
                <a:lnTo>
                  <a:pt x="136004" y="90449"/>
                </a:lnTo>
                <a:lnTo>
                  <a:pt x="150609" y="89420"/>
                </a:lnTo>
                <a:lnTo>
                  <a:pt x="168008" y="89027"/>
                </a:lnTo>
                <a:lnTo>
                  <a:pt x="214871" y="93433"/>
                </a:lnTo>
                <a:lnTo>
                  <a:pt x="254749" y="106743"/>
                </a:lnTo>
                <a:lnTo>
                  <a:pt x="287007" y="129095"/>
                </a:lnTo>
                <a:lnTo>
                  <a:pt x="310756" y="160655"/>
                </a:lnTo>
                <a:lnTo>
                  <a:pt x="325615" y="201561"/>
                </a:lnTo>
                <a:lnTo>
                  <a:pt x="330695" y="251955"/>
                </a:lnTo>
                <a:lnTo>
                  <a:pt x="330695" y="31584"/>
                </a:lnTo>
                <a:lnTo>
                  <a:pt x="326758" y="29210"/>
                </a:lnTo>
                <a:lnTo>
                  <a:pt x="279641" y="12649"/>
                </a:lnTo>
                <a:lnTo>
                  <a:pt x="223253" y="3073"/>
                </a:lnTo>
                <a:lnTo>
                  <a:pt x="155816" y="0"/>
                </a:lnTo>
                <a:lnTo>
                  <a:pt x="113030" y="711"/>
                </a:lnTo>
                <a:lnTo>
                  <a:pt x="72263" y="2857"/>
                </a:lnTo>
                <a:lnTo>
                  <a:pt x="34163" y="6413"/>
                </a:lnTo>
                <a:lnTo>
                  <a:pt x="0" y="11430"/>
                </a:lnTo>
                <a:lnTo>
                  <a:pt x="0" y="514540"/>
                </a:lnTo>
                <a:lnTo>
                  <a:pt x="24003" y="517334"/>
                </a:lnTo>
                <a:lnTo>
                  <a:pt x="53721" y="519760"/>
                </a:lnTo>
                <a:lnTo>
                  <a:pt x="89535" y="521487"/>
                </a:lnTo>
                <a:lnTo>
                  <a:pt x="131432" y="522147"/>
                </a:lnTo>
                <a:lnTo>
                  <a:pt x="189471" y="519569"/>
                </a:lnTo>
                <a:lnTo>
                  <a:pt x="242811" y="511771"/>
                </a:lnTo>
                <a:lnTo>
                  <a:pt x="290817" y="498627"/>
                </a:lnTo>
                <a:lnTo>
                  <a:pt x="332854" y="480072"/>
                </a:lnTo>
                <a:lnTo>
                  <a:pt x="368668" y="455942"/>
                </a:lnTo>
                <a:lnTo>
                  <a:pt x="396100" y="427685"/>
                </a:lnTo>
                <a:lnTo>
                  <a:pt x="419341" y="392976"/>
                </a:lnTo>
                <a:lnTo>
                  <a:pt x="437375" y="351650"/>
                </a:lnTo>
                <a:lnTo>
                  <a:pt x="448932" y="303453"/>
                </a:lnTo>
                <a:lnTo>
                  <a:pt x="452996" y="248158"/>
                </a:lnTo>
                <a:close/>
              </a:path>
              <a:path w="1618615" h="525779">
                <a:moveTo>
                  <a:pt x="849858" y="516801"/>
                </a:moveTo>
                <a:lnTo>
                  <a:pt x="848715" y="491820"/>
                </a:lnTo>
                <a:lnTo>
                  <a:pt x="847699" y="463626"/>
                </a:lnTo>
                <a:lnTo>
                  <a:pt x="847064" y="432142"/>
                </a:lnTo>
                <a:lnTo>
                  <a:pt x="846810" y="397306"/>
                </a:lnTo>
                <a:lnTo>
                  <a:pt x="846810" y="144627"/>
                </a:lnTo>
                <a:lnTo>
                  <a:pt x="731240" y="144627"/>
                </a:lnTo>
                <a:lnTo>
                  <a:pt x="731240" y="366115"/>
                </a:lnTo>
                <a:lnTo>
                  <a:pt x="730986" y="373253"/>
                </a:lnTo>
                <a:lnTo>
                  <a:pt x="707237" y="418261"/>
                </a:lnTo>
                <a:lnTo>
                  <a:pt x="668883" y="431584"/>
                </a:lnTo>
                <a:lnTo>
                  <a:pt x="642467" y="425615"/>
                </a:lnTo>
                <a:lnTo>
                  <a:pt x="624319" y="408457"/>
                </a:lnTo>
                <a:lnTo>
                  <a:pt x="613778" y="381165"/>
                </a:lnTo>
                <a:lnTo>
                  <a:pt x="610349" y="344817"/>
                </a:lnTo>
                <a:lnTo>
                  <a:pt x="610349" y="144627"/>
                </a:lnTo>
                <a:lnTo>
                  <a:pt x="494906" y="144627"/>
                </a:lnTo>
                <a:lnTo>
                  <a:pt x="494906" y="363054"/>
                </a:lnTo>
                <a:lnTo>
                  <a:pt x="501129" y="424053"/>
                </a:lnTo>
                <a:lnTo>
                  <a:pt x="519036" y="469773"/>
                </a:lnTo>
                <a:lnTo>
                  <a:pt x="546722" y="501230"/>
                </a:lnTo>
                <a:lnTo>
                  <a:pt x="582790" y="519366"/>
                </a:lnTo>
                <a:lnTo>
                  <a:pt x="625589" y="525195"/>
                </a:lnTo>
                <a:lnTo>
                  <a:pt x="669899" y="518883"/>
                </a:lnTo>
                <a:lnTo>
                  <a:pt x="703427" y="503313"/>
                </a:lnTo>
                <a:lnTo>
                  <a:pt x="727049" y="483450"/>
                </a:lnTo>
                <a:lnTo>
                  <a:pt x="741908" y="464299"/>
                </a:lnTo>
                <a:lnTo>
                  <a:pt x="744194" y="464299"/>
                </a:lnTo>
                <a:lnTo>
                  <a:pt x="749528" y="516801"/>
                </a:lnTo>
                <a:lnTo>
                  <a:pt x="849858" y="516801"/>
                </a:lnTo>
                <a:close/>
              </a:path>
              <a:path w="1618615" h="525779">
                <a:moveTo>
                  <a:pt x="1277581" y="327279"/>
                </a:moveTo>
                <a:lnTo>
                  <a:pt x="1273136" y="281241"/>
                </a:lnTo>
                <a:lnTo>
                  <a:pt x="1259928" y="240157"/>
                </a:lnTo>
                <a:lnTo>
                  <a:pt x="1247355" y="219214"/>
                </a:lnTo>
                <a:lnTo>
                  <a:pt x="1238846" y="204800"/>
                </a:lnTo>
                <a:lnTo>
                  <a:pt x="1210411" y="175971"/>
                </a:lnTo>
                <a:lnTo>
                  <a:pt x="1175346" y="154406"/>
                </a:lnTo>
                <a:lnTo>
                  <a:pt x="1157566" y="148501"/>
                </a:lnTo>
                <a:lnTo>
                  <a:pt x="1157490" y="329628"/>
                </a:lnTo>
                <a:lnTo>
                  <a:pt x="1157490" y="331101"/>
                </a:lnTo>
                <a:lnTo>
                  <a:pt x="1152474" y="375132"/>
                </a:lnTo>
                <a:lnTo>
                  <a:pt x="1137754" y="411391"/>
                </a:lnTo>
                <a:lnTo>
                  <a:pt x="1083792" y="442214"/>
                </a:lnTo>
                <a:lnTo>
                  <a:pt x="1083030" y="442214"/>
                </a:lnTo>
                <a:lnTo>
                  <a:pt x="1050772" y="433730"/>
                </a:lnTo>
                <a:lnTo>
                  <a:pt x="1027150" y="410349"/>
                </a:lnTo>
                <a:lnTo>
                  <a:pt x="1012672" y="375132"/>
                </a:lnTo>
                <a:lnTo>
                  <a:pt x="1007719" y="331101"/>
                </a:lnTo>
                <a:lnTo>
                  <a:pt x="1011910" y="290182"/>
                </a:lnTo>
                <a:lnTo>
                  <a:pt x="1025245" y="254330"/>
                </a:lnTo>
                <a:lnTo>
                  <a:pt x="1048867" y="228892"/>
                </a:lnTo>
                <a:lnTo>
                  <a:pt x="1083792" y="219214"/>
                </a:lnTo>
                <a:lnTo>
                  <a:pt x="1117447" y="228892"/>
                </a:lnTo>
                <a:lnTo>
                  <a:pt x="1140333" y="254330"/>
                </a:lnTo>
                <a:lnTo>
                  <a:pt x="1153375" y="289864"/>
                </a:lnTo>
                <a:lnTo>
                  <a:pt x="1157490" y="329628"/>
                </a:lnTo>
                <a:lnTo>
                  <a:pt x="1157490" y="148488"/>
                </a:lnTo>
                <a:lnTo>
                  <a:pt x="1134465" y="140893"/>
                </a:lnTo>
                <a:lnTo>
                  <a:pt x="1088364" y="136232"/>
                </a:lnTo>
                <a:lnTo>
                  <a:pt x="1038796" y="140893"/>
                </a:lnTo>
                <a:lnTo>
                  <a:pt x="1039266" y="140893"/>
                </a:lnTo>
                <a:lnTo>
                  <a:pt x="995883" y="154406"/>
                </a:lnTo>
                <a:lnTo>
                  <a:pt x="996073" y="154406"/>
                </a:lnTo>
                <a:lnTo>
                  <a:pt x="959586" y="175971"/>
                </a:lnTo>
                <a:lnTo>
                  <a:pt x="929741" y="205282"/>
                </a:lnTo>
                <a:lnTo>
                  <a:pt x="907643" y="241693"/>
                </a:lnTo>
                <a:lnTo>
                  <a:pt x="893927" y="284568"/>
                </a:lnTo>
                <a:lnTo>
                  <a:pt x="889228" y="333362"/>
                </a:lnTo>
                <a:lnTo>
                  <a:pt x="894080" y="380911"/>
                </a:lnTo>
                <a:lnTo>
                  <a:pt x="908278" y="423976"/>
                </a:lnTo>
                <a:lnTo>
                  <a:pt x="930630" y="459346"/>
                </a:lnTo>
                <a:lnTo>
                  <a:pt x="960221" y="487565"/>
                </a:lnTo>
                <a:lnTo>
                  <a:pt x="995781" y="508203"/>
                </a:lnTo>
                <a:lnTo>
                  <a:pt x="1036675" y="520877"/>
                </a:lnTo>
                <a:lnTo>
                  <a:pt x="1081506" y="525195"/>
                </a:lnTo>
                <a:lnTo>
                  <a:pt x="1082268" y="525195"/>
                </a:lnTo>
                <a:lnTo>
                  <a:pt x="1124178" y="521335"/>
                </a:lnTo>
                <a:lnTo>
                  <a:pt x="1164170" y="509651"/>
                </a:lnTo>
                <a:lnTo>
                  <a:pt x="1200619" y="489953"/>
                </a:lnTo>
                <a:lnTo>
                  <a:pt x="1231861" y="462064"/>
                </a:lnTo>
                <a:lnTo>
                  <a:pt x="1256245" y="425754"/>
                </a:lnTo>
                <a:lnTo>
                  <a:pt x="1271993" y="380911"/>
                </a:lnTo>
                <a:lnTo>
                  <a:pt x="1277581" y="327279"/>
                </a:lnTo>
                <a:close/>
              </a:path>
              <a:path w="1618615" h="525779">
                <a:moveTo>
                  <a:pt x="1618195" y="150710"/>
                </a:moveTo>
                <a:lnTo>
                  <a:pt x="1598510" y="144602"/>
                </a:lnTo>
                <a:lnTo>
                  <a:pt x="1576412" y="140030"/>
                </a:lnTo>
                <a:lnTo>
                  <a:pt x="1553298" y="137198"/>
                </a:lnTo>
                <a:lnTo>
                  <a:pt x="1530057" y="136220"/>
                </a:lnTo>
                <a:lnTo>
                  <a:pt x="1474685" y="141465"/>
                </a:lnTo>
                <a:lnTo>
                  <a:pt x="1427441" y="156425"/>
                </a:lnTo>
                <a:lnTo>
                  <a:pt x="1388198" y="179844"/>
                </a:lnTo>
                <a:lnTo>
                  <a:pt x="1357464" y="210553"/>
                </a:lnTo>
                <a:lnTo>
                  <a:pt x="1335239" y="247307"/>
                </a:lnTo>
                <a:lnTo>
                  <a:pt x="1321777" y="288912"/>
                </a:lnTo>
                <a:lnTo>
                  <a:pt x="1317205" y="334149"/>
                </a:lnTo>
                <a:lnTo>
                  <a:pt x="1321777" y="381635"/>
                </a:lnTo>
                <a:lnTo>
                  <a:pt x="1335239" y="423278"/>
                </a:lnTo>
                <a:lnTo>
                  <a:pt x="1356956" y="458546"/>
                </a:lnTo>
                <a:lnTo>
                  <a:pt x="1386166" y="486918"/>
                </a:lnTo>
                <a:lnTo>
                  <a:pt x="1422615" y="507822"/>
                </a:lnTo>
                <a:lnTo>
                  <a:pt x="1465414" y="520763"/>
                </a:lnTo>
                <a:lnTo>
                  <a:pt x="1514055" y="525195"/>
                </a:lnTo>
                <a:lnTo>
                  <a:pt x="1545932" y="523862"/>
                </a:lnTo>
                <a:lnTo>
                  <a:pt x="1598891" y="514616"/>
                </a:lnTo>
                <a:lnTo>
                  <a:pt x="1603844" y="422427"/>
                </a:lnTo>
                <a:lnTo>
                  <a:pt x="1590001" y="427558"/>
                </a:lnTo>
                <a:lnTo>
                  <a:pt x="1574507" y="431380"/>
                </a:lnTo>
                <a:lnTo>
                  <a:pt x="1557108" y="433781"/>
                </a:lnTo>
                <a:lnTo>
                  <a:pt x="1537677" y="434606"/>
                </a:lnTo>
                <a:lnTo>
                  <a:pt x="1498053" y="427837"/>
                </a:lnTo>
                <a:lnTo>
                  <a:pt x="1465668" y="407784"/>
                </a:lnTo>
                <a:lnTo>
                  <a:pt x="1443824" y="374891"/>
                </a:lnTo>
                <a:lnTo>
                  <a:pt x="1435823" y="329590"/>
                </a:lnTo>
                <a:lnTo>
                  <a:pt x="1442427" y="287604"/>
                </a:lnTo>
                <a:lnTo>
                  <a:pt x="1462493" y="254609"/>
                </a:lnTo>
                <a:lnTo>
                  <a:pt x="1494116" y="233032"/>
                </a:lnTo>
                <a:lnTo>
                  <a:pt x="1535391" y="225298"/>
                </a:lnTo>
                <a:lnTo>
                  <a:pt x="1556346" y="226225"/>
                </a:lnTo>
                <a:lnTo>
                  <a:pt x="1573999" y="228727"/>
                </a:lnTo>
                <a:lnTo>
                  <a:pt x="1588477" y="232371"/>
                </a:lnTo>
                <a:lnTo>
                  <a:pt x="1600034" y="236715"/>
                </a:lnTo>
                <a:lnTo>
                  <a:pt x="1618195" y="150710"/>
                </a:lnTo>
                <a:close/>
              </a:path>
            </a:pathLst>
          </a:custGeom>
          <a:solidFill>
            <a:srgbClr val="FDB6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3">
            <a:extLst>
              <a:ext uri="{FF2B5EF4-FFF2-40B4-BE49-F238E27FC236}">
                <a16:creationId xmlns:a16="http://schemas.microsoft.com/office/drawing/2014/main" id="{E3AD412C-6F5F-1B84-D709-D8FF2FE1B08D}"/>
              </a:ext>
            </a:extLst>
          </p:cNvPr>
          <p:cNvSpPr/>
          <p:nvPr/>
        </p:nvSpPr>
        <p:spPr>
          <a:xfrm>
            <a:off x="11068865" y="6224760"/>
            <a:ext cx="388620" cy="483234"/>
          </a:xfrm>
          <a:custGeom>
            <a:avLst/>
            <a:gdLst/>
            <a:ahLst/>
            <a:cxnLst/>
            <a:rect l="l" t="t" r="r" b="b"/>
            <a:pathLst>
              <a:path w="388619" h="483234">
                <a:moveTo>
                  <a:pt x="387756" y="21"/>
                </a:moveTo>
                <a:lnTo>
                  <a:pt x="280571" y="21"/>
                </a:lnTo>
                <a:lnTo>
                  <a:pt x="280571" y="273635"/>
                </a:lnTo>
                <a:lnTo>
                  <a:pt x="274856" y="328320"/>
                </a:lnTo>
                <a:lnTo>
                  <a:pt x="258093" y="366813"/>
                </a:lnTo>
                <a:lnTo>
                  <a:pt x="230661" y="389558"/>
                </a:lnTo>
                <a:lnTo>
                  <a:pt x="193324" y="397038"/>
                </a:lnTo>
                <a:lnTo>
                  <a:pt x="156622" y="389266"/>
                </a:lnTo>
                <a:lnTo>
                  <a:pt x="129699" y="366013"/>
                </a:lnTo>
                <a:lnTo>
                  <a:pt x="113062" y="327431"/>
                </a:lnTo>
                <a:lnTo>
                  <a:pt x="107347" y="273635"/>
                </a:lnTo>
                <a:lnTo>
                  <a:pt x="107347" y="21"/>
                </a:lnTo>
                <a:lnTo>
                  <a:pt x="-472" y="21"/>
                </a:lnTo>
                <a:lnTo>
                  <a:pt x="-472" y="265190"/>
                </a:lnTo>
                <a:lnTo>
                  <a:pt x="3718" y="325006"/>
                </a:lnTo>
                <a:lnTo>
                  <a:pt x="16291" y="374699"/>
                </a:lnTo>
                <a:lnTo>
                  <a:pt x="36737" y="414614"/>
                </a:lnTo>
                <a:lnTo>
                  <a:pt x="64550" y="445081"/>
                </a:lnTo>
                <a:lnTo>
                  <a:pt x="99728" y="466429"/>
                </a:lnTo>
                <a:lnTo>
                  <a:pt x="141510" y="478989"/>
                </a:lnTo>
                <a:lnTo>
                  <a:pt x="189768" y="483104"/>
                </a:lnTo>
                <a:lnTo>
                  <a:pt x="239805" y="478799"/>
                </a:lnTo>
                <a:lnTo>
                  <a:pt x="283238" y="465832"/>
                </a:lnTo>
                <a:lnTo>
                  <a:pt x="319686" y="444065"/>
                </a:lnTo>
                <a:lnTo>
                  <a:pt x="348768" y="413383"/>
                </a:lnTo>
                <a:lnTo>
                  <a:pt x="370104" y="373658"/>
                </a:lnTo>
                <a:lnTo>
                  <a:pt x="383184" y="324764"/>
                </a:lnTo>
                <a:lnTo>
                  <a:pt x="387756" y="266587"/>
                </a:lnTo>
                <a:lnTo>
                  <a:pt x="387756" y="2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6" name="object 4">
            <a:extLst>
              <a:ext uri="{FF2B5EF4-FFF2-40B4-BE49-F238E27FC236}">
                <a16:creationId xmlns:a16="http://schemas.microsoft.com/office/drawing/2014/main" id="{2A117D95-6835-C569-7F22-F92448E5DD8F}"/>
              </a:ext>
            </a:extLst>
          </p:cNvPr>
          <p:cNvGrpSpPr/>
          <p:nvPr/>
        </p:nvGrpSpPr>
        <p:grpSpPr>
          <a:xfrm>
            <a:off x="11510824" y="6110485"/>
            <a:ext cx="446405" cy="596900"/>
            <a:chOff x="19130771" y="10355319"/>
            <a:chExt cx="446405" cy="596900"/>
          </a:xfrm>
        </p:grpSpPr>
        <p:sp>
          <p:nvSpPr>
            <p:cNvPr id="7" name="object 5">
              <a:extLst>
                <a:ext uri="{FF2B5EF4-FFF2-40B4-BE49-F238E27FC236}">
                  <a16:creationId xmlns:a16="http://schemas.microsoft.com/office/drawing/2014/main" id="{78DBE666-968D-9698-61F6-82F2B20B17EC}"/>
                </a:ext>
              </a:extLst>
            </p:cNvPr>
            <p:cNvSpPr/>
            <p:nvPr/>
          </p:nvSpPr>
          <p:spPr>
            <a:xfrm>
              <a:off x="19130771" y="10461974"/>
              <a:ext cx="376555" cy="490220"/>
            </a:xfrm>
            <a:custGeom>
              <a:avLst/>
              <a:gdLst/>
              <a:ahLst/>
              <a:cxnLst/>
              <a:rect l="l" t="t" r="r" b="b"/>
              <a:pathLst>
                <a:path w="376555" h="490220">
                  <a:moveTo>
                    <a:pt x="258716" y="21"/>
                  </a:moveTo>
                  <a:lnTo>
                    <a:pt x="211982" y="3336"/>
                  </a:lnTo>
                  <a:lnTo>
                    <a:pt x="168041" y="13178"/>
                  </a:lnTo>
                  <a:lnTo>
                    <a:pt x="127656" y="29395"/>
                  </a:lnTo>
                  <a:lnTo>
                    <a:pt x="91462" y="51848"/>
                  </a:lnTo>
                  <a:lnTo>
                    <a:pt x="60347" y="80359"/>
                  </a:lnTo>
                  <a:lnTo>
                    <a:pt x="34821" y="114813"/>
                  </a:lnTo>
                  <a:lnTo>
                    <a:pt x="15645" y="155033"/>
                  </a:lnTo>
                  <a:lnTo>
                    <a:pt x="3707" y="200866"/>
                  </a:lnTo>
                  <a:lnTo>
                    <a:pt x="-483" y="252186"/>
                  </a:lnTo>
                  <a:lnTo>
                    <a:pt x="2691" y="295949"/>
                  </a:lnTo>
                  <a:lnTo>
                    <a:pt x="11962" y="336740"/>
                  </a:lnTo>
                  <a:lnTo>
                    <a:pt x="27455" y="373976"/>
                  </a:lnTo>
                  <a:lnTo>
                    <a:pt x="49172" y="407084"/>
                  </a:lnTo>
                  <a:lnTo>
                    <a:pt x="76857" y="435468"/>
                  </a:lnTo>
                  <a:lnTo>
                    <a:pt x="110765" y="458556"/>
                  </a:lnTo>
                  <a:lnTo>
                    <a:pt x="150515" y="475764"/>
                  </a:lnTo>
                  <a:lnTo>
                    <a:pt x="196361" y="486508"/>
                  </a:lnTo>
                  <a:lnTo>
                    <a:pt x="248049" y="490229"/>
                  </a:lnTo>
                  <a:lnTo>
                    <a:pt x="288688" y="488311"/>
                  </a:lnTo>
                  <a:lnTo>
                    <a:pt x="323231" y="483358"/>
                  </a:lnTo>
                  <a:lnTo>
                    <a:pt x="350662" y="476551"/>
                  </a:lnTo>
                  <a:lnTo>
                    <a:pt x="369966" y="469084"/>
                  </a:lnTo>
                  <a:lnTo>
                    <a:pt x="353710" y="385291"/>
                  </a:lnTo>
                  <a:lnTo>
                    <a:pt x="335423" y="391273"/>
                  </a:lnTo>
                  <a:lnTo>
                    <a:pt x="313198" y="396187"/>
                  </a:lnTo>
                  <a:lnTo>
                    <a:pt x="288942" y="399527"/>
                  </a:lnTo>
                  <a:lnTo>
                    <a:pt x="264304" y="400747"/>
                  </a:lnTo>
                  <a:lnTo>
                    <a:pt x="211728" y="393762"/>
                  </a:lnTo>
                  <a:lnTo>
                    <a:pt x="169438" y="373595"/>
                  </a:lnTo>
                  <a:lnTo>
                    <a:pt x="138197" y="341426"/>
                  </a:lnTo>
                  <a:lnTo>
                    <a:pt x="118893" y="298451"/>
                  </a:lnTo>
                  <a:lnTo>
                    <a:pt x="112162" y="245823"/>
                  </a:lnTo>
                  <a:lnTo>
                    <a:pt x="119782" y="188929"/>
                  </a:lnTo>
                  <a:lnTo>
                    <a:pt x="140990" y="144912"/>
                  </a:lnTo>
                  <a:lnTo>
                    <a:pt x="173502" y="113632"/>
                  </a:lnTo>
                  <a:lnTo>
                    <a:pt x="215157" y="94964"/>
                  </a:lnTo>
                  <a:lnTo>
                    <a:pt x="263669" y="88766"/>
                  </a:lnTo>
                  <a:lnTo>
                    <a:pt x="290720" y="90227"/>
                  </a:lnTo>
                  <a:lnTo>
                    <a:pt x="314722" y="94138"/>
                  </a:lnTo>
                  <a:lnTo>
                    <a:pt x="335804" y="99764"/>
                  </a:lnTo>
                  <a:lnTo>
                    <a:pt x="353710" y="106368"/>
                  </a:lnTo>
                  <a:lnTo>
                    <a:pt x="375554" y="21179"/>
                  </a:lnTo>
                  <a:lnTo>
                    <a:pt x="357139" y="13698"/>
                  </a:lnTo>
                  <a:lnTo>
                    <a:pt x="330851" y="6891"/>
                  </a:lnTo>
                  <a:lnTo>
                    <a:pt x="297704" y="1939"/>
                  </a:lnTo>
                  <a:lnTo>
                    <a:pt x="258716" y="2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6">
              <a:extLst>
                <a:ext uri="{FF2B5EF4-FFF2-40B4-BE49-F238E27FC236}">
                  <a16:creationId xmlns:a16="http://schemas.microsoft.com/office/drawing/2014/main" id="{9054AF3C-B3D5-FAE9-31B5-3B873D33B88A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9464035" y="10355319"/>
              <a:ext cx="112771" cy="111247"/>
            </a:xfrm>
            <a:prstGeom prst="rect">
              <a:avLst/>
            </a:prstGeom>
          </p:spPr>
        </p:pic>
      </p:grpSp>
      <p:sp>
        <p:nvSpPr>
          <p:cNvPr id="13" name="object 3">
            <a:extLst>
              <a:ext uri="{FF2B5EF4-FFF2-40B4-BE49-F238E27FC236}">
                <a16:creationId xmlns:a16="http://schemas.microsoft.com/office/drawing/2014/main" id="{92E46866-4B1D-924C-A43A-DB6804328295}"/>
              </a:ext>
            </a:extLst>
          </p:cNvPr>
          <p:cNvSpPr txBox="1"/>
          <p:nvPr/>
        </p:nvSpPr>
        <p:spPr>
          <a:xfrm>
            <a:off x="428" y="502557"/>
            <a:ext cx="3901871" cy="720000"/>
          </a:xfrm>
          <a:prstGeom prst="rect">
            <a:avLst/>
          </a:prstGeom>
          <a:solidFill>
            <a:srgbClr val="FFC000"/>
          </a:solidFill>
        </p:spPr>
        <p:txBody>
          <a:bodyPr vert="horz" wrap="square" lIns="0" tIns="111669" rIns="0" bIns="0" rtlCol="0">
            <a:spAutoFit/>
          </a:bodyPr>
          <a:lstStyle/>
          <a:p>
            <a:pPr marR="140548" lvl="1">
              <a:spcBef>
                <a:spcPts val="879"/>
              </a:spcBef>
            </a:pPr>
            <a:r>
              <a:rPr lang="es-ES" sz="2911" b="1" spc="-6" dirty="0">
                <a:latin typeface="Arial"/>
                <a:cs typeface="Arial"/>
              </a:rPr>
              <a:t>Buenas prácticas</a:t>
            </a:r>
            <a:endParaRPr sz="2911" b="1" spc="-6" dirty="0">
              <a:latin typeface="Arial"/>
              <a:cs typeface="Arial"/>
            </a:endParaRPr>
          </a:p>
        </p:txBody>
      </p:sp>
      <p:sp>
        <p:nvSpPr>
          <p:cNvPr id="2" name="Marcador de contenido 2">
            <a:extLst>
              <a:ext uri="{FF2B5EF4-FFF2-40B4-BE49-F238E27FC236}">
                <a16:creationId xmlns:a16="http://schemas.microsoft.com/office/drawing/2014/main" id="{BF953ABA-8C3F-B445-582E-BDFB82ED8D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58344"/>
            <a:ext cx="9271715" cy="4797097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s-CL" b="1" dirty="0"/>
              <a:t>Buenas prácticas al usar JWT:</a:t>
            </a:r>
          </a:p>
          <a:p>
            <a:r>
              <a:rPr lang="es-CL" dirty="0"/>
              <a:t>Usar HTTPS siempre</a:t>
            </a:r>
          </a:p>
          <a:p>
            <a:r>
              <a:rPr lang="es-CL" dirty="0"/>
              <a:t>Definir expiraciones cortas</a:t>
            </a:r>
          </a:p>
          <a:p>
            <a:r>
              <a:rPr lang="es-CL" dirty="0"/>
              <a:t>No guardar información sensible en el </a:t>
            </a:r>
            <a:r>
              <a:rPr lang="es-CL" dirty="0" err="1"/>
              <a:t>payload</a:t>
            </a:r>
            <a:endParaRPr lang="es-CL" dirty="0"/>
          </a:p>
          <a:p>
            <a:r>
              <a:rPr lang="es-CL" dirty="0"/>
              <a:t>Usar una clave secreta robusta o llaves asimétricas</a:t>
            </a:r>
          </a:p>
          <a:p>
            <a:r>
              <a:rPr lang="es-CL" dirty="0"/>
              <a:t>Validar firma, expiración y formato</a:t>
            </a:r>
          </a:p>
          <a:p>
            <a:r>
              <a:rPr lang="es-CL" dirty="0"/>
              <a:t>Separar </a:t>
            </a:r>
            <a:r>
              <a:rPr lang="es-CL" dirty="0" err="1"/>
              <a:t>access</a:t>
            </a:r>
            <a:r>
              <a:rPr lang="es-CL" dirty="0"/>
              <a:t> token y </a:t>
            </a:r>
            <a:r>
              <a:rPr lang="es-CL" dirty="0" err="1"/>
              <a:t>refresh</a:t>
            </a:r>
            <a:r>
              <a:rPr lang="es-CL" dirty="0"/>
              <a:t> token si el proyecto crece</a:t>
            </a:r>
          </a:p>
          <a:p>
            <a:r>
              <a:rPr lang="es-CL" dirty="0"/>
              <a:t>Manejar revocación cuando sea necesario</a:t>
            </a:r>
          </a:p>
          <a:p>
            <a:r>
              <a:rPr lang="es-CL" dirty="0"/>
              <a:t>Incluir solo </a:t>
            </a:r>
            <a:r>
              <a:rPr lang="es-CL" dirty="0" err="1"/>
              <a:t>claims</a:t>
            </a:r>
            <a:r>
              <a:rPr lang="es-CL" dirty="0"/>
              <a:t> necesarios</a:t>
            </a:r>
          </a:p>
          <a:p>
            <a:r>
              <a:rPr lang="es-CL" dirty="0"/>
              <a:t>Registrar intentos inválidos y errores</a:t>
            </a:r>
          </a:p>
          <a:p>
            <a:pPr marL="0" indent="0">
              <a:buNone/>
            </a:pP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330245541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FF3083A-C93A-F77E-677E-66C466099C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CL" dirty="0"/>
              <a:t>Tokens sin expiración</a:t>
            </a:r>
          </a:p>
          <a:p>
            <a:r>
              <a:rPr lang="es-CL" dirty="0"/>
              <a:t>Secretos débiles</a:t>
            </a:r>
          </a:p>
          <a:p>
            <a:r>
              <a:rPr lang="es-CL" dirty="0"/>
              <a:t>Confiar en cualquier </a:t>
            </a:r>
            <a:r>
              <a:rPr lang="es-CL" dirty="0" err="1"/>
              <a:t>claim</a:t>
            </a:r>
            <a:r>
              <a:rPr lang="es-CL" dirty="0"/>
              <a:t> sin validarlo</a:t>
            </a:r>
          </a:p>
          <a:p>
            <a:r>
              <a:rPr lang="es-CL" dirty="0"/>
              <a:t>Mezclar autenticación con autorización</a:t>
            </a:r>
          </a:p>
          <a:p>
            <a:pPr marL="0" indent="0">
              <a:buNone/>
            </a:pPr>
            <a:endParaRPr lang="es-ES_tradnl" dirty="0"/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54859B6F-6FDC-E8A7-7A27-5309834A6689}"/>
              </a:ext>
            </a:extLst>
          </p:cNvPr>
          <p:cNvSpPr/>
          <p:nvPr/>
        </p:nvSpPr>
        <p:spPr>
          <a:xfrm>
            <a:off x="9338693" y="6180589"/>
            <a:ext cx="1618615" cy="525780"/>
          </a:xfrm>
          <a:custGeom>
            <a:avLst/>
            <a:gdLst/>
            <a:ahLst/>
            <a:cxnLst/>
            <a:rect l="l" t="t" r="r" b="b"/>
            <a:pathLst>
              <a:path w="1618615" h="525779">
                <a:moveTo>
                  <a:pt x="452996" y="248158"/>
                </a:moveTo>
                <a:lnTo>
                  <a:pt x="449186" y="196608"/>
                </a:lnTo>
                <a:lnTo>
                  <a:pt x="437883" y="151485"/>
                </a:lnTo>
                <a:lnTo>
                  <a:pt x="419849" y="112661"/>
                </a:lnTo>
                <a:lnTo>
                  <a:pt x="395846" y="79959"/>
                </a:lnTo>
                <a:lnTo>
                  <a:pt x="366382" y="53276"/>
                </a:lnTo>
                <a:lnTo>
                  <a:pt x="330695" y="31584"/>
                </a:lnTo>
                <a:lnTo>
                  <a:pt x="330695" y="251955"/>
                </a:lnTo>
                <a:lnTo>
                  <a:pt x="325107" y="307860"/>
                </a:lnTo>
                <a:lnTo>
                  <a:pt x="308851" y="353148"/>
                </a:lnTo>
                <a:lnTo>
                  <a:pt x="282816" y="387997"/>
                </a:lnTo>
                <a:lnTo>
                  <a:pt x="248145" y="412572"/>
                </a:lnTo>
                <a:lnTo>
                  <a:pt x="205473" y="427037"/>
                </a:lnTo>
                <a:lnTo>
                  <a:pt x="155816" y="431584"/>
                </a:lnTo>
                <a:lnTo>
                  <a:pt x="146786" y="431584"/>
                </a:lnTo>
                <a:lnTo>
                  <a:pt x="134226" y="431292"/>
                </a:lnTo>
                <a:lnTo>
                  <a:pt x="124079" y="430606"/>
                </a:lnTo>
                <a:lnTo>
                  <a:pt x="115570" y="429272"/>
                </a:lnTo>
                <a:lnTo>
                  <a:pt x="115570" y="93611"/>
                </a:lnTo>
                <a:lnTo>
                  <a:pt x="124333" y="91935"/>
                </a:lnTo>
                <a:lnTo>
                  <a:pt x="136004" y="90449"/>
                </a:lnTo>
                <a:lnTo>
                  <a:pt x="150609" y="89420"/>
                </a:lnTo>
                <a:lnTo>
                  <a:pt x="168008" y="89027"/>
                </a:lnTo>
                <a:lnTo>
                  <a:pt x="214871" y="93433"/>
                </a:lnTo>
                <a:lnTo>
                  <a:pt x="254749" y="106743"/>
                </a:lnTo>
                <a:lnTo>
                  <a:pt x="287007" y="129095"/>
                </a:lnTo>
                <a:lnTo>
                  <a:pt x="310756" y="160655"/>
                </a:lnTo>
                <a:lnTo>
                  <a:pt x="325615" y="201561"/>
                </a:lnTo>
                <a:lnTo>
                  <a:pt x="330695" y="251955"/>
                </a:lnTo>
                <a:lnTo>
                  <a:pt x="330695" y="31584"/>
                </a:lnTo>
                <a:lnTo>
                  <a:pt x="326758" y="29210"/>
                </a:lnTo>
                <a:lnTo>
                  <a:pt x="279641" y="12649"/>
                </a:lnTo>
                <a:lnTo>
                  <a:pt x="223253" y="3073"/>
                </a:lnTo>
                <a:lnTo>
                  <a:pt x="155816" y="0"/>
                </a:lnTo>
                <a:lnTo>
                  <a:pt x="113030" y="711"/>
                </a:lnTo>
                <a:lnTo>
                  <a:pt x="72263" y="2857"/>
                </a:lnTo>
                <a:lnTo>
                  <a:pt x="34163" y="6413"/>
                </a:lnTo>
                <a:lnTo>
                  <a:pt x="0" y="11430"/>
                </a:lnTo>
                <a:lnTo>
                  <a:pt x="0" y="514540"/>
                </a:lnTo>
                <a:lnTo>
                  <a:pt x="24003" y="517334"/>
                </a:lnTo>
                <a:lnTo>
                  <a:pt x="53721" y="519760"/>
                </a:lnTo>
                <a:lnTo>
                  <a:pt x="89535" y="521487"/>
                </a:lnTo>
                <a:lnTo>
                  <a:pt x="131432" y="522147"/>
                </a:lnTo>
                <a:lnTo>
                  <a:pt x="189471" y="519569"/>
                </a:lnTo>
                <a:lnTo>
                  <a:pt x="242811" y="511771"/>
                </a:lnTo>
                <a:lnTo>
                  <a:pt x="290817" y="498627"/>
                </a:lnTo>
                <a:lnTo>
                  <a:pt x="332854" y="480072"/>
                </a:lnTo>
                <a:lnTo>
                  <a:pt x="368668" y="455942"/>
                </a:lnTo>
                <a:lnTo>
                  <a:pt x="396100" y="427685"/>
                </a:lnTo>
                <a:lnTo>
                  <a:pt x="419341" y="392976"/>
                </a:lnTo>
                <a:lnTo>
                  <a:pt x="437375" y="351650"/>
                </a:lnTo>
                <a:lnTo>
                  <a:pt x="448932" y="303453"/>
                </a:lnTo>
                <a:lnTo>
                  <a:pt x="452996" y="248158"/>
                </a:lnTo>
                <a:close/>
              </a:path>
              <a:path w="1618615" h="525779">
                <a:moveTo>
                  <a:pt x="849858" y="516801"/>
                </a:moveTo>
                <a:lnTo>
                  <a:pt x="848715" y="491820"/>
                </a:lnTo>
                <a:lnTo>
                  <a:pt x="847699" y="463626"/>
                </a:lnTo>
                <a:lnTo>
                  <a:pt x="847064" y="432142"/>
                </a:lnTo>
                <a:lnTo>
                  <a:pt x="846810" y="397306"/>
                </a:lnTo>
                <a:lnTo>
                  <a:pt x="846810" y="144627"/>
                </a:lnTo>
                <a:lnTo>
                  <a:pt x="731240" y="144627"/>
                </a:lnTo>
                <a:lnTo>
                  <a:pt x="731240" y="366115"/>
                </a:lnTo>
                <a:lnTo>
                  <a:pt x="730986" y="373253"/>
                </a:lnTo>
                <a:lnTo>
                  <a:pt x="707237" y="418261"/>
                </a:lnTo>
                <a:lnTo>
                  <a:pt x="668883" y="431584"/>
                </a:lnTo>
                <a:lnTo>
                  <a:pt x="642467" y="425615"/>
                </a:lnTo>
                <a:lnTo>
                  <a:pt x="624319" y="408457"/>
                </a:lnTo>
                <a:lnTo>
                  <a:pt x="613778" y="381165"/>
                </a:lnTo>
                <a:lnTo>
                  <a:pt x="610349" y="344817"/>
                </a:lnTo>
                <a:lnTo>
                  <a:pt x="610349" y="144627"/>
                </a:lnTo>
                <a:lnTo>
                  <a:pt x="494906" y="144627"/>
                </a:lnTo>
                <a:lnTo>
                  <a:pt x="494906" y="363054"/>
                </a:lnTo>
                <a:lnTo>
                  <a:pt x="501129" y="424053"/>
                </a:lnTo>
                <a:lnTo>
                  <a:pt x="519036" y="469773"/>
                </a:lnTo>
                <a:lnTo>
                  <a:pt x="546722" y="501230"/>
                </a:lnTo>
                <a:lnTo>
                  <a:pt x="582790" y="519366"/>
                </a:lnTo>
                <a:lnTo>
                  <a:pt x="625589" y="525195"/>
                </a:lnTo>
                <a:lnTo>
                  <a:pt x="669899" y="518883"/>
                </a:lnTo>
                <a:lnTo>
                  <a:pt x="703427" y="503313"/>
                </a:lnTo>
                <a:lnTo>
                  <a:pt x="727049" y="483450"/>
                </a:lnTo>
                <a:lnTo>
                  <a:pt x="741908" y="464299"/>
                </a:lnTo>
                <a:lnTo>
                  <a:pt x="744194" y="464299"/>
                </a:lnTo>
                <a:lnTo>
                  <a:pt x="749528" y="516801"/>
                </a:lnTo>
                <a:lnTo>
                  <a:pt x="849858" y="516801"/>
                </a:lnTo>
                <a:close/>
              </a:path>
              <a:path w="1618615" h="525779">
                <a:moveTo>
                  <a:pt x="1277581" y="327279"/>
                </a:moveTo>
                <a:lnTo>
                  <a:pt x="1273136" y="281241"/>
                </a:lnTo>
                <a:lnTo>
                  <a:pt x="1259928" y="240157"/>
                </a:lnTo>
                <a:lnTo>
                  <a:pt x="1247355" y="219214"/>
                </a:lnTo>
                <a:lnTo>
                  <a:pt x="1238846" y="204800"/>
                </a:lnTo>
                <a:lnTo>
                  <a:pt x="1210411" y="175971"/>
                </a:lnTo>
                <a:lnTo>
                  <a:pt x="1175346" y="154406"/>
                </a:lnTo>
                <a:lnTo>
                  <a:pt x="1157566" y="148501"/>
                </a:lnTo>
                <a:lnTo>
                  <a:pt x="1157490" y="329628"/>
                </a:lnTo>
                <a:lnTo>
                  <a:pt x="1157490" y="331101"/>
                </a:lnTo>
                <a:lnTo>
                  <a:pt x="1152474" y="375132"/>
                </a:lnTo>
                <a:lnTo>
                  <a:pt x="1137754" y="411391"/>
                </a:lnTo>
                <a:lnTo>
                  <a:pt x="1083792" y="442214"/>
                </a:lnTo>
                <a:lnTo>
                  <a:pt x="1083030" y="442214"/>
                </a:lnTo>
                <a:lnTo>
                  <a:pt x="1050772" y="433730"/>
                </a:lnTo>
                <a:lnTo>
                  <a:pt x="1027150" y="410349"/>
                </a:lnTo>
                <a:lnTo>
                  <a:pt x="1012672" y="375132"/>
                </a:lnTo>
                <a:lnTo>
                  <a:pt x="1007719" y="331101"/>
                </a:lnTo>
                <a:lnTo>
                  <a:pt x="1011910" y="290182"/>
                </a:lnTo>
                <a:lnTo>
                  <a:pt x="1025245" y="254330"/>
                </a:lnTo>
                <a:lnTo>
                  <a:pt x="1048867" y="228892"/>
                </a:lnTo>
                <a:lnTo>
                  <a:pt x="1083792" y="219214"/>
                </a:lnTo>
                <a:lnTo>
                  <a:pt x="1117447" y="228892"/>
                </a:lnTo>
                <a:lnTo>
                  <a:pt x="1140333" y="254330"/>
                </a:lnTo>
                <a:lnTo>
                  <a:pt x="1153375" y="289864"/>
                </a:lnTo>
                <a:lnTo>
                  <a:pt x="1157490" y="329628"/>
                </a:lnTo>
                <a:lnTo>
                  <a:pt x="1157490" y="148488"/>
                </a:lnTo>
                <a:lnTo>
                  <a:pt x="1134465" y="140893"/>
                </a:lnTo>
                <a:lnTo>
                  <a:pt x="1088364" y="136232"/>
                </a:lnTo>
                <a:lnTo>
                  <a:pt x="1038796" y="140893"/>
                </a:lnTo>
                <a:lnTo>
                  <a:pt x="1039266" y="140893"/>
                </a:lnTo>
                <a:lnTo>
                  <a:pt x="995883" y="154406"/>
                </a:lnTo>
                <a:lnTo>
                  <a:pt x="996073" y="154406"/>
                </a:lnTo>
                <a:lnTo>
                  <a:pt x="959586" y="175971"/>
                </a:lnTo>
                <a:lnTo>
                  <a:pt x="929741" y="205282"/>
                </a:lnTo>
                <a:lnTo>
                  <a:pt x="907643" y="241693"/>
                </a:lnTo>
                <a:lnTo>
                  <a:pt x="893927" y="284568"/>
                </a:lnTo>
                <a:lnTo>
                  <a:pt x="889228" y="333362"/>
                </a:lnTo>
                <a:lnTo>
                  <a:pt x="894080" y="380911"/>
                </a:lnTo>
                <a:lnTo>
                  <a:pt x="908278" y="423976"/>
                </a:lnTo>
                <a:lnTo>
                  <a:pt x="930630" y="459346"/>
                </a:lnTo>
                <a:lnTo>
                  <a:pt x="960221" y="487565"/>
                </a:lnTo>
                <a:lnTo>
                  <a:pt x="995781" y="508203"/>
                </a:lnTo>
                <a:lnTo>
                  <a:pt x="1036675" y="520877"/>
                </a:lnTo>
                <a:lnTo>
                  <a:pt x="1081506" y="525195"/>
                </a:lnTo>
                <a:lnTo>
                  <a:pt x="1082268" y="525195"/>
                </a:lnTo>
                <a:lnTo>
                  <a:pt x="1124178" y="521335"/>
                </a:lnTo>
                <a:lnTo>
                  <a:pt x="1164170" y="509651"/>
                </a:lnTo>
                <a:lnTo>
                  <a:pt x="1200619" y="489953"/>
                </a:lnTo>
                <a:lnTo>
                  <a:pt x="1231861" y="462064"/>
                </a:lnTo>
                <a:lnTo>
                  <a:pt x="1256245" y="425754"/>
                </a:lnTo>
                <a:lnTo>
                  <a:pt x="1271993" y="380911"/>
                </a:lnTo>
                <a:lnTo>
                  <a:pt x="1277581" y="327279"/>
                </a:lnTo>
                <a:close/>
              </a:path>
              <a:path w="1618615" h="525779">
                <a:moveTo>
                  <a:pt x="1618195" y="150710"/>
                </a:moveTo>
                <a:lnTo>
                  <a:pt x="1598510" y="144602"/>
                </a:lnTo>
                <a:lnTo>
                  <a:pt x="1576412" y="140030"/>
                </a:lnTo>
                <a:lnTo>
                  <a:pt x="1553298" y="137198"/>
                </a:lnTo>
                <a:lnTo>
                  <a:pt x="1530057" y="136220"/>
                </a:lnTo>
                <a:lnTo>
                  <a:pt x="1474685" y="141465"/>
                </a:lnTo>
                <a:lnTo>
                  <a:pt x="1427441" y="156425"/>
                </a:lnTo>
                <a:lnTo>
                  <a:pt x="1388198" y="179844"/>
                </a:lnTo>
                <a:lnTo>
                  <a:pt x="1357464" y="210553"/>
                </a:lnTo>
                <a:lnTo>
                  <a:pt x="1335239" y="247307"/>
                </a:lnTo>
                <a:lnTo>
                  <a:pt x="1321777" y="288912"/>
                </a:lnTo>
                <a:lnTo>
                  <a:pt x="1317205" y="334149"/>
                </a:lnTo>
                <a:lnTo>
                  <a:pt x="1321777" y="381635"/>
                </a:lnTo>
                <a:lnTo>
                  <a:pt x="1335239" y="423278"/>
                </a:lnTo>
                <a:lnTo>
                  <a:pt x="1356956" y="458546"/>
                </a:lnTo>
                <a:lnTo>
                  <a:pt x="1386166" y="486918"/>
                </a:lnTo>
                <a:lnTo>
                  <a:pt x="1422615" y="507822"/>
                </a:lnTo>
                <a:lnTo>
                  <a:pt x="1465414" y="520763"/>
                </a:lnTo>
                <a:lnTo>
                  <a:pt x="1514055" y="525195"/>
                </a:lnTo>
                <a:lnTo>
                  <a:pt x="1545932" y="523862"/>
                </a:lnTo>
                <a:lnTo>
                  <a:pt x="1598891" y="514616"/>
                </a:lnTo>
                <a:lnTo>
                  <a:pt x="1603844" y="422427"/>
                </a:lnTo>
                <a:lnTo>
                  <a:pt x="1590001" y="427558"/>
                </a:lnTo>
                <a:lnTo>
                  <a:pt x="1574507" y="431380"/>
                </a:lnTo>
                <a:lnTo>
                  <a:pt x="1557108" y="433781"/>
                </a:lnTo>
                <a:lnTo>
                  <a:pt x="1537677" y="434606"/>
                </a:lnTo>
                <a:lnTo>
                  <a:pt x="1498053" y="427837"/>
                </a:lnTo>
                <a:lnTo>
                  <a:pt x="1465668" y="407784"/>
                </a:lnTo>
                <a:lnTo>
                  <a:pt x="1443824" y="374891"/>
                </a:lnTo>
                <a:lnTo>
                  <a:pt x="1435823" y="329590"/>
                </a:lnTo>
                <a:lnTo>
                  <a:pt x="1442427" y="287604"/>
                </a:lnTo>
                <a:lnTo>
                  <a:pt x="1462493" y="254609"/>
                </a:lnTo>
                <a:lnTo>
                  <a:pt x="1494116" y="233032"/>
                </a:lnTo>
                <a:lnTo>
                  <a:pt x="1535391" y="225298"/>
                </a:lnTo>
                <a:lnTo>
                  <a:pt x="1556346" y="226225"/>
                </a:lnTo>
                <a:lnTo>
                  <a:pt x="1573999" y="228727"/>
                </a:lnTo>
                <a:lnTo>
                  <a:pt x="1588477" y="232371"/>
                </a:lnTo>
                <a:lnTo>
                  <a:pt x="1600034" y="236715"/>
                </a:lnTo>
                <a:lnTo>
                  <a:pt x="1618195" y="150710"/>
                </a:lnTo>
                <a:close/>
              </a:path>
            </a:pathLst>
          </a:custGeom>
          <a:solidFill>
            <a:srgbClr val="FDB6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3">
            <a:extLst>
              <a:ext uri="{FF2B5EF4-FFF2-40B4-BE49-F238E27FC236}">
                <a16:creationId xmlns:a16="http://schemas.microsoft.com/office/drawing/2014/main" id="{0FB550A0-F787-F6A2-617F-B44F9B6EEC3B}"/>
              </a:ext>
            </a:extLst>
          </p:cNvPr>
          <p:cNvSpPr/>
          <p:nvPr/>
        </p:nvSpPr>
        <p:spPr>
          <a:xfrm>
            <a:off x="11068865" y="6224760"/>
            <a:ext cx="388620" cy="483234"/>
          </a:xfrm>
          <a:custGeom>
            <a:avLst/>
            <a:gdLst/>
            <a:ahLst/>
            <a:cxnLst/>
            <a:rect l="l" t="t" r="r" b="b"/>
            <a:pathLst>
              <a:path w="388619" h="483234">
                <a:moveTo>
                  <a:pt x="387756" y="21"/>
                </a:moveTo>
                <a:lnTo>
                  <a:pt x="280571" y="21"/>
                </a:lnTo>
                <a:lnTo>
                  <a:pt x="280571" y="273635"/>
                </a:lnTo>
                <a:lnTo>
                  <a:pt x="274856" y="328320"/>
                </a:lnTo>
                <a:lnTo>
                  <a:pt x="258093" y="366813"/>
                </a:lnTo>
                <a:lnTo>
                  <a:pt x="230661" y="389558"/>
                </a:lnTo>
                <a:lnTo>
                  <a:pt x="193324" y="397038"/>
                </a:lnTo>
                <a:lnTo>
                  <a:pt x="156622" y="389266"/>
                </a:lnTo>
                <a:lnTo>
                  <a:pt x="129699" y="366013"/>
                </a:lnTo>
                <a:lnTo>
                  <a:pt x="113062" y="327431"/>
                </a:lnTo>
                <a:lnTo>
                  <a:pt x="107347" y="273635"/>
                </a:lnTo>
                <a:lnTo>
                  <a:pt x="107347" y="21"/>
                </a:lnTo>
                <a:lnTo>
                  <a:pt x="-472" y="21"/>
                </a:lnTo>
                <a:lnTo>
                  <a:pt x="-472" y="265190"/>
                </a:lnTo>
                <a:lnTo>
                  <a:pt x="3718" y="325006"/>
                </a:lnTo>
                <a:lnTo>
                  <a:pt x="16291" y="374699"/>
                </a:lnTo>
                <a:lnTo>
                  <a:pt x="36737" y="414614"/>
                </a:lnTo>
                <a:lnTo>
                  <a:pt x="64550" y="445081"/>
                </a:lnTo>
                <a:lnTo>
                  <a:pt x="99728" y="466429"/>
                </a:lnTo>
                <a:lnTo>
                  <a:pt x="141510" y="478989"/>
                </a:lnTo>
                <a:lnTo>
                  <a:pt x="189768" y="483104"/>
                </a:lnTo>
                <a:lnTo>
                  <a:pt x="239805" y="478799"/>
                </a:lnTo>
                <a:lnTo>
                  <a:pt x="283238" y="465832"/>
                </a:lnTo>
                <a:lnTo>
                  <a:pt x="319686" y="444065"/>
                </a:lnTo>
                <a:lnTo>
                  <a:pt x="348768" y="413383"/>
                </a:lnTo>
                <a:lnTo>
                  <a:pt x="370104" y="373658"/>
                </a:lnTo>
                <a:lnTo>
                  <a:pt x="383184" y="324764"/>
                </a:lnTo>
                <a:lnTo>
                  <a:pt x="387756" y="266587"/>
                </a:lnTo>
                <a:lnTo>
                  <a:pt x="387756" y="2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6" name="object 4">
            <a:extLst>
              <a:ext uri="{FF2B5EF4-FFF2-40B4-BE49-F238E27FC236}">
                <a16:creationId xmlns:a16="http://schemas.microsoft.com/office/drawing/2014/main" id="{DAB10CCF-F3A8-E0C1-1316-188E8D9D58CB}"/>
              </a:ext>
            </a:extLst>
          </p:cNvPr>
          <p:cNvGrpSpPr/>
          <p:nvPr/>
        </p:nvGrpSpPr>
        <p:grpSpPr>
          <a:xfrm>
            <a:off x="11510824" y="6110485"/>
            <a:ext cx="446405" cy="596900"/>
            <a:chOff x="19130771" y="10355319"/>
            <a:chExt cx="446405" cy="596900"/>
          </a:xfrm>
        </p:grpSpPr>
        <p:sp>
          <p:nvSpPr>
            <p:cNvPr id="7" name="object 5">
              <a:extLst>
                <a:ext uri="{FF2B5EF4-FFF2-40B4-BE49-F238E27FC236}">
                  <a16:creationId xmlns:a16="http://schemas.microsoft.com/office/drawing/2014/main" id="{BE6ADDCD-B830-7C18-F8A6-97A7AB1AF857}"/>
                </a:ext>
              </a:extLst>
            </p:cNvPr>
            <p:cNvSpPr/>
            <p:nvPr/>
          </p:nvSpPr>
          <p:spPr>
            <a:xfrm>
              <a:off x="19130771" y="10461974"/>
              <a:ext cx="376555" cy="490220"/>
            </a:xfrm>
            <a:custGeom>
              <a:avLst/>
              <a:gdLst/>
              <a:ahLst/>
              <a:cxnLst/>
              <a:rect l="l" t="t" r="r" b="b"/>
              <a:pathLst>
                <a:path w="376555" h="490220">
                  <a:moveTo>
                    <a:pt x="258716" y="21"/>
                  </a:moveTo>
                  <a:lnTo>
                    <a:pt x="211982" y="3336"/>
                  </a:lnTo>
                  <a:lnTo>
                    <a:pt x="168041" y="13178"/>
                  </a:lnTo>
                  <a:lnTo>
                    <a:pt x="127656" y="29395"/>
                  </a:lnTo>
                  <a:lnTo>
                    <a:pt x="91462" y="51848"/>
                  </a:lnTo>
                  <a:lnTo>
                    <a:pt x="60347" y="80359"/>
                  </a:lnTo>
                  <a:lnTo>
                    <a:pt x="34821" y="114813"/>
                  </a:lnTo>
                  <a:lnTo>
                    <a:pt x="15645" y="155033"/>
                  </a:lnTo>
                  <a:lnTo>
                    <a:pt x="3707" y="200866"/>
                  </a:lnTo>
                  <a:lnTo>
                    <a:pt x="-483" y="252186"/>
                  </a:lnTo>
                  <a:lnTo>
                    <a:pt x="2691" y="295949"/>
                  </a:lnTo>
                  <a:lnTo>
                    <a:pt x="11962" y="336740"/>
                  </a:lnTo>
                  <a:lnTo>
                    <a:pt x="27455" y="373976"/>
                  </a:lnTo>
                  <a:lnTo>
                    <a:pt x="49172" y="407084"/>
                  </a:lnTo>
                  <a:lnTo>
                    <a:pt x="76857" y="435468"/>
                  </a:lnTo>
                  <a:lnTo>
                    <a:pt x="110765" y="458556"/>
                  </a:lnTo>
                  <a:lnTo>
                    <a:pt x="150515" y="475764"/>
                  </a:lnTo>
                  <a:lnTo>
                    <a:pt x="196361" y="486508"/>
                  </a:lnTo>
                  <a:lnTo>
                    <a:pt x="248049" y="490229"/>
                  </a:lnTo>
                  <a:lnTo>
                    <a:pt x="288688" y="488311"/>
                  </a:lnTo>
                  <a:lnTo>
                    <a:pt x="323231" y="483358"/>
                  </a:lnTo>
                  <a:lnTo>
                    <a:pt x="350662" y="476551"/>
                  </a:lnTo>
                  <a:lnTo>
                    <a:pt x="369966" y="469084"/>
                  </a:lnTo>
                  <a:lnTo>
                    <a:pt x="353710" y="385291"/>
                  </a:lnTo>
                  <a:lnTo>
                    <a:pt x="335423" y="391273"/>
                  </a:lnTo>
                  <a:lnTo>
                    <a:pt x="313198" y="396187"/>
                  </a:lnTo>
                  <a:lnTo>
                    <a:pt x="288942" y="399527"/>
                  </a:lnTo>
                  <a:lnTo>
                    <a:pt x="264304" y="400747"/>
                  </a:lnTo>
                  <a:lnTo>
                    <a:pt x="211728" y="393762"/>
                  </a:lnTo>
                  <a:lnTo>
                    <a:pt x="169438" y="373595"/>
                  </a:lnTo>
                  <a:lnTo>
                    <a:pt x="138197" y="341426"/>
                  </a:lnTo>
                  <a:lnTo>
                    <a:pt x="118893" y="298451"/>
                  </a:lnTo>
                  <a:lnTo>
                    <a:pt x="112162" y="245823"/>
                  </a:lnTo>
                  <a:lnTo>
                    <a:pt x="119782" y="188929"/>
                  </a:lnTo>
                  <a:lnTo>
                    <a:pt x="140990" y="144912"/>
                  </a:lnTo>
                  <a:lnTo>
                    <a:pt x="173502" y="113632"/>
                  </a:lnTo>
                  <a:lnTo>
                    <a:pt x="215157" y="94964"/>
                  </a:lnTo>
                  <a:lnTo>
                    <a:pt x="263669" y="88766"/>
                  </a:lnTo>
                  <a:lnTo>
                    <a:pt x="290720" y="90227"/>
                  </a:lnTo>
                  <a:lnTo>
                    <a:pt x="314722" y="94138"/>
                  </a:lnTo>
                  <a:lnTo>
                    <a:pt x="335804" y="99764"/>
                  </a:lnTo>
                  <a:lnTo>
                    <a:pt x="353710" y="106368"/>
                  </a:lnTo>
                  <a:lnTo>
                    <a:pt x="375554" y="21179"/>
                  </a:lnTo>
                  <a:lnTo>
                    <a:pt x="357139" y="13698"/>
                  </a:lnTo>
                  <a:lnTo>
                    <a:pt x="330851" y="6891"/>
                  </a:lnTo>
                  <a:lnTo>
                    <a:pt x="297704" y="1939"/>
                  </a:lnTo>
                  <a:lnTo>
                    <a:pt x="258716" y="2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6">
              <a:extLst>
                <a:ext uri="{FF2B5EF4-FFF2-40B4-BE49-F238E27FC236}">
                  <a16:creationId xmlns:a16="http://schemas.microsoft.com/office/drawing/2014/main" id="{677AFBD4-744A-E400-AD53-4DA95AC30C05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9464035" y="10355319"/>
              <a:ext cx="112771" cy="111247"/>
            </a:xfrm>
            <a:prstGeom prst="rect">
              <a:avLst/>
            </a:prstGeom>
          </p:spPr>
        </p:pic>
      </p:grpSp>
      <p:pic>
        <p:nvPicPr>
          <p:cNvPr id="9" name="object 7">
            <a:extLst>
              <a:ext uri="{FF2B5EF4-FFF2-40B4-BE49-F238E27FC236}">
                <a16:creationId xmlns:a16="http://schemas.microsoft.com/office/drawing/2014/main" id="{94BB44A9-2C98-5404-D293-EFE5B93F317F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73696" y="5443486"/>
            <a:ext cx="1881470" cy="1194154"/>
          </a:xfrm>
          <a:prstGeom prst="rect">
            <a:avLst/>
          </a:prstGeom>
        </p:spPr>
      </p:pic>
      <p:sp>
        <p:nvSpPr>
          <p:cNvPr id="13" name="object 3">
            <a:extLst>
              <a:ext uri="{FF2B5EF4-FFF2-40B4-BE49-F238E27FC236}">
                <a16:creationId xmlns:a16="http://schemas.microsoft.com/office/drawing/2014/main" id="{13CEBBA1-C30B-9CAB-54E7-E0D396474B30}"/>
              </a:ext>
            </a:extLst>
          </p:cNvPr>
          <p:cNvSpPr txBox="1"/>
          <p:nvPr/>
        </p:nvSpPr>
        <p:spPr>
          <a:xfrm>
            <a:off x="428" y="502557"/>
            <a:ext cx="4120811" cy="720000"/>
          </a:xfrm>
          <a:prstGeom prst="rect">
            <a:avLst/>
          </a:prstGeom>
          <a:solidFill>
            <a:srgbClr val="FFC000"/>
          </a:solidFill>
        </p:spPr>
        <p:txBody>
          <a:bodyPr vert="horz" wrap="square" lIns="0" tIns="111669" rIns="0" bIns="0" rtlCol="0">
            <a:spAutoFit/>
          </a:bodyPr>
          <a:lstStyle/>
          <a:p>
            <a:pPr marR="140548" lvl="1">
              <a:spcBef>
                <a:spcPts val="879"/>
              </a:spcBef>
            </a:pPr>
            <a:r>
              <a:rPr lang="es-ES" sz="2911" b="1" spc="-6" dirty="0">
                <a:latin typeface="Arial"/>
                <a:cs typeface="Arial"/>
              </a:rPr>
              <a:t>Errores comunes</a:t>
            </a:r>
            <a:endParaRPr sz="2911" b="1" spc="-6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11033800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8085935-86B3-D898-A33B-52A6EAD85B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s-CL" b="1" dirty="0"/>
              <a:t>Autenticación:</a:t>
            </a:r>
            <a:br>
              <a:rPr lang="es-CL" b="1" dirty="0"/>
            </a:br>
            <a:r>
              <a:rPr lang="es-CL" dirty="0"/>
              <a:t>¿Quién eres?</a:t>
            </a:r>
            <a:br>
              <a:rPr lang="es-CL" dirty="0"/>
            </a:br>
            <a:r>
              <a:rPr lang="es-CL" dirty="0"/>
              <a:t>Ejemplo: validar usuario y contraseña y emitir token</a:t>
            </a:r>
          </a:p>
          <a:p>
            <a:pPr marL="0" indent="0">
              <a:buNone/>
            </a:pPr>
            <a:endParaRPr lang="es-CL" b="1" dirty="0"/>
          </a:p>
          <a:p>
            <a:pPr marL="0" indent="0">
              <a:buNone/>
            </a:pPr>
            <a:r>
              <a:rPr lang="es-CL" b="1" dirty="0"/>
              <a:t>Autorización:</a:t>
            </a:r>
            <a:br>
              <a:rPr lang="es-CL" dirty="0"/>
            </a:br>
            <a:r>
              <a:rPr lang="es-CL" dirty="0"/>
              <a:t>¿Qué puedes hacer?</a:t>
            </a:r>
          </a:p>
          <a:p>
            <a:pPr marL="0" indent="0">
              <a:buNone/>
            </a:pPr>
            <a:br>
              <a:rPr lang="es-CL" dirty="0"/>
            </a:br>
            <a:r>
              <a:rPr lang="es-CL" dirty="0"/>
              <a:t>Ejemplo: permitir solo a administradores borrar usuarios</a:t>
            </a:r>
          </a:p>
          <a:p>
            <a:r>
              <a:rPr lang="es-CL" dirty="0"/>
              <a:t>JWT participa en ambas, pero no las reemplaza:</a:t>
            </a:r>
          </a:p>
          <a:p>
            <a:r>
              <a:rPr lang="es-CL" dirty="0"/>
              <a:t>Puede representar identidad</a:t>
            </a:r>
          </a:p>
          <a:p>
            <a:r>
              <a:rPr lang="es-CL" dirty="0"/>
              <a:t>Puede incluir roles o permisos</a:t>
            </a:r>
          </a:p>
          <a:p>
            <a:r>
              <a:rPr lang="es-CL" dirty="0"/>
              <a:t>La lógica de acceso sigue siendo responsabilidad del sistema</a:t>
            </a:r>
          </a:p>
          <a:p>
            <a:pPr marL="0" indent="0">
              <a:buNone/>
            </a:pPr>
            <a:endParaRPr lang="es-CL" dirty="0"/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2BB4AF6A-3218-84E3-268A-70298265DFD2}"/>
              </a:ext>
            </a:extLst>
          </p:cNvPr>
          <p:cNvSpPr/>
          <p:nvPr/>
        </p:nvSpPr>
        <p:spPr>
          <a:xfrm>
            <a:off x="9338693" y="6180589"/>
            <a:ext cx="1618615" cy="525780"/>
          </a:xfrm>
          <a:custGeom>
            <a:avLst/>
            <a:gdLst/>
            <a:ahLst/>
            <a:cxnLst/>
            <a:rect l="l" t="t" r="r" b="b"/>
            <a:pathLst>
              <a:path w="1618615" h="525779">
                <a:moveTo>
                  <a:pt x="452996" y="248158"/>
                </a:moveTo>
                <a:lnTo>
                  <a:pt x="449186" y="196608"/>
                </a:lnTo>
                <a:lnTo>
                  <a:pt x="437883" y="151485"/>
                </a:lnTo>
                <a:lnTo>
                  <a:pt x="419849" y="112661"/>
                </a:lnTo>
                <a:lnTo>
                  <a:pt x="395846" y="79959"/>
                </a:lnTo>
                <a:lnTo>
                  <a:pt x="366382" y="53276"/>
                </a:lnTo>
                <a:lnTo>
                  <a:pt x="330695" y="31584"/>
                </a:lnTo>
                <a:lnTo>
                  <a:pt x="330695" y="251955"/>
                </a:lnTo>
                <a:lnTo>
                  <a:pt x="325107" y="307860"/>
                </a:lnTo>
                <a:lnTo>
                  <a:pt x="308851" y="353148"/>
                </a:lnTo>
                <a:lnTo>
                  <a:pt x="282816" y="387997"/>
                </a:lnTo>
                <a:lnTo>
                  <a:pt x="248145" y="412572"/>
                </a:lnTo>
                <a:lnTo>
                  <a:pt x="205473" y="427037"/>
                </a:lnTo>
                <a:lnTo>
                  <a:pt x="155816" y="431584"/>
                </a:lnTo>
                <a:lnTo>
                  <a:pt x="146786" y="431584"/>
                </a:lnTo>
                <a:lnTo>
                  <a:pt x="134226" y="431292"/>
                </a:lnTo>
                <a:lnTo>
                  <a:pt x="124079" y="430606"/>
                </a:lnTo>
                <a:lnTo>
                  <a:pt x="115570" y="429272"/>
                </a:lnTo>
                <a:lnTo>
                  <a:pt x="115570" y="93611"/>
                </a:lnTo>
                <a:lnTo>
                  <a:pt x="124333" y="91935"/>
                </a:lnTo>
                <a:lnTo>
                  <a:pt x="136004" y="90449"/>
                </a:lnTo>
                <a:lnTo>
                  <a:pt x="150609" y="89420"/>
                </a:lnTo>
                <a:lnTo>
                  <a:pt x="168008" y="89027"/>
                </a:lnTo>
                <a:lnTo>
                  <a:pt x="214871" y="93433"/>
                </a:lnTo>
                <a:lnTo>
                  <a:pt x="254749" y="106743"/>
                </a:lnTo>
                <a:lnTo>
                  <a:pt x="287007" y="129095"/>
                </a:lnTo>
                <a:lnTo>
                  <a:pt x="310756" y="160655"/>
                </a:lnTo>
                <a:lnTo>
                  <a:pt x="325615" y="201561"/>
                </a:lnTo>
                <a:lnTo>
                  <a:pt x="330695" y="251955"/>
                </a:lnTo>
                <a:lnTo>
                  <a:pt x="330695" y="31584"/>
                </a:lnTo>
                <a:lnTo>
                  <a:pt x="326758" y="29210"/>
                </a:lnTo>
                <a:lnTo>
                  <a:pt x="279641" y="12649"/>
                </a:lnTo>
                <a:lnTo>
                  <a:pt x="223253" y="3073"/>
                </a:lnTo>
                <a:lnTo>
                  <a:pt x="155816" y="0"/>
                </a:lnTo>
                <a:lnTo>
                  <a:pt x="113030" y="711"/>
                </a:lnTo>
                <a:lnTo>
                  <a:pt x="72263" y="2857"/>
                </a:lnTo>
                <a:lnTo>
                  <a:pt x="34163" y="6413"/>
                </a:lnTo>
                <a:lnTo>
                  <a:pt x="0" y="11430"/>
                </a:lnTo>
                <a:lnTo>
                  <a:pt x="0" y="514540"/>
                </a:lnTo>
                <a:lnTo>
                  <a:pt x="24003" y="517334"/>
                </a:lnTo>
                <a:lnTo>
                  <a:pt x="53721" y="519760"/>
                </a:lnTo>
                <a:lnTo>
                  <a:pt x="89535" y="521487"/>
                </a:lnTo>
                <a:lnTo>
                  <a:pt x="131432" y="522147"/>
                </a:lnTo>
                <a:lnTo>
                  <a:pt x="189471" y="519569"/>
                </a:lnTo>
                <a:lnTo>
                  <a:pt x="242811" y="511771"/>
                </a:lnTo>
                <a:lnTo>
                  <a:pt x="290817" y="498627"/>
                </a:lnTo>
                <a:lnTo>
                  <a:pt x="332854" y="480072"/>
                </a:lnTo>
                <a:lnTo>
                  <a:pt x="368668" y="455942"/>
                </a:lnTo>
                <a:lnTo>
                  <a:pt x="396100" y="427685"/>
                </a:lnTo>
                <a:lnTo>
                  <a:pt x="419341" y="392976"/>
                </a:lnTo>
                <a:lnTo>
                  <a:pt x="437375" y="351650"/>
                </a:lnTo>
                <a:lnTo>
                  <a:pt x="448932" y="303453"/>
                </a:lnTo>
                <a:lnTo>
                  <a:pt x="452996" y="248158"/>
                </a:lnTo>
                <a:close/>
              </a:path>
              <a:path w="1618615" h="525779">
                <a:moveTo>
                  <a:pt x="849858" y="516801"/>
                </a:moveTo>
                <a:lnTo>
                  <a:pt x="848715" y="491820"/>
                </a:lnTo>
                <a:lnTo>
                  <a:pt x="847699" y="463626"/>
                </a:lnTo>
                <a:lnTo>
                  <a:pt x="847064" y="432142"/>
                </a:lnTo>
                <a:lnTo>
                  <a:pt x="846810" y="397306"/>
                </a:lnTo>
                <a:lnTo>
                  <a:pt x="846810" y="144627"/>
                </a:lnTo>
                <a:lnTo>
                  <a:pt x="731240" y="144627"/>
                </a:lnTo>
                <a:lnTo>
                  <a:pt x="731240" y="366115"/>
                </a:lnTo>
                <a:lnTo>
                  <a:pt x="730986" y="373253"/>
                </a:lnTo>
                <a:lnTo>
                  <a:pt x="707237" y="418261"/>
                </a:lnTo>
                <a:lnTo>
                  <a:pt x="668883" y="431584"/>
                </a:lnTo>
                <a:lnTo>
                  <a:pt x="642467" y="425615"/>
                </a:lnTo>
                <a:lnTo>
                  <a:pt x="624319" y="408457"/>
                </a:lnTo>
                <a:lnTo>
                  <a:pt x="613778" y="381165"/>
                </a:lnTo>
                <a:lnTo>
                  <a:pt x="610349" y="344817"/>
                </a:lnTo>
                <a:lnTo>
                  <a:pt x="610349" y="144627"/>
                </a:lnTo>
                <a:lnTo>
                  <a:pt x="494906" y="144627"/>
                </a:lnTo>
                <a:lnTo>
                  <a:pt x="494906" y="363054"/>
                </a:lnTo>
                <a:lnTo>
                  <a:pt x="501129" y="424053"/>
                </a:lnTo>
                <a:lnTo>
                  <a:pt x="519036" y="469773"/>
                </a:lnTo>
                <a:lnTo>
                  <a:pt x="546722" y="501230"/>
                </a:lnTo>
                <a:lnTo>
                  <a:pt x="582790" y="519366"/>
                </a:lnTo>
                <a:lnTo>
                  <a:pt x="625589" y="525195"/>
                </a:lnTo>
                <a:lnTo>
                  <a:pt x="669899" y="518883"/>
                </a:lnTo>
                <a:lnTo>
                  <a:pt x="703427" y="503313"/>
                </a:lnTo>
                <a:lnTo>
                  <a:pt x="727049" y="483450"/>
                </a:lnTo>
                <a:lnTo>
                  <a:pt x="741908" y="464299"/>
                </a:lnTo>
                <a:lnTo>
                  <a:pt x="744194" y="464299"/>
                </a:lnTo>
                <a:lnTo>
                  <a:pt x="749528" y="516801"/>
                </a:lnTo>
                <a:lnTo>
                  <a:pt x="849858" y="516801"/>
                </a:lnTo>
                <a:close/>
              </a:path>
              <a:path w="1618615" h="525779">
                <a:moveTo>
                  <a:pt x="1277581" y="327279"/>
                </a:moveTo>
                <a:lnTo>
                  <a:pt x="1273136" y="281241"/>
                </a:lnTo>
                <a:lnTo>
                  <a:pt x="1259928" y="240157"/>
                </a:lnTo>
                <a:lnTo>
                  <a:pt x="1247355" y="219214"/>
                </a:lnTo>
                <a:lnTo>
                  <a:pt x="1238846" y="204800"/>
                </a:lnTo>
                <a:lnTo>
                  <a:pt x="1210411" y="175971"/>
                </a:lnTo>
                <a:lnTo>
                  <a:pt x="1175346" y="154406"/>
                </a:lnTo>
                <a:lnTo>
                  <a:pt x="1157566" y="148501"/>
                </a:lnTo>
                <a:lnTo>
                  <a:pt x="1157490" y="329628"/>
                </a:lnTo>
                <a:lnTo>
                  <a:pt x="1157490" y="331101"/>
                </a:lnTo>
                <a:lnTo>
                  <a:pt x="1152474" y="375132"/>
                </a:lnTo>
                <a:lnTo>
                  <a:pt x="1137754" y="411391"/>
                </a:lnTo>
                <a:lnTo>
                  <a:pt x="1083792" y="442214"/>
                </a:lnTo>
                <a:lnTo>
                  <a:pt x="1083030" y="442214"/>
                </a:lnTo>
                <a:lnTo>
                  <a:pt x="1050772" y="433730"/>
                </a:lnTo>
                <a:lnTo>
                  <a:pt x="1027150" y="410349"/>
                </a:lnTo>
                <a:lnTo>
                  <a:pt x="1012672" y="375132"/>
                </a:lnTo>
                <a:lnTo>
                  <a:pt x="1007719" y="331101"/>
                </a:lnTo>
                <a:lnTo>
                  <a:pt x="1011910" y="290182"/>
                </a:lnTo>
                <a:lnTo>
                  <a:pt x="1025245" y="254330"/>
                </a:lnTo>
                <a:lnTo>
                  <a:pt x="1048867" y="228892"/>
                </a:lnTo>
                <a:lnTo>
                  <a:pt x="1083792" y="219214"/>
                </a:lnTo>
                <a:lnTo>
                  <a:pt x="1117447" y="228892"/>
                </a:lnTo>
                <a:lnTo>
                  <a:pt x="1140333" y="254330"/>
                </a:lnTo>
                <a:lnTo>
                  <a:pt x="1153375" y="289864"/>
                </a:lnTo>
                <a:lnTo>
                  <a:pt x="1157490" y="329628"/>
                </a:lnTo>
                <a:lnTo>
                  <a:pt x="1157490" y="148488"/>
                </a:lnTo>
                <a:lnTo>
                  <a:pt x="1134465" y="140893"/>
                </a:lnTo>
                <a:lnTo>
                  <a:pt x="1088364" y="136232"/>
                </a:lnTo>
                <a:lnTo>
                  <a:pt x="1038796" y="140893"/>
                </a:lnTo>
                <a:lnTo>
                  <a:pt x="1039266" y="140893"/>
                </a:lnTo>
                <a:lnTo>
                  <a:pt x="995883" y="154406"/>
                </a:lnTo>
                <a:lnTo>
                  <a:pt x="996073" y="154406"/>
                </a:lnTo>
                <a:lnTo>
                  <a:pt x="959586" y="175971"/>
                </a:lnTo>
                <a:lnTo>
                  <a:pt x="929741" y="205282"/>
                </a:lnTo>
                <a:lnTo>
                  <a:pt x="907643" y="241693"/>
                </a:lnTo>
                <a:lnTo>
                  <a:pt x="893927" y="284568"/>
                </a:lnTo>
                <a:lnTo>
                  <a:pt x="889228" y="333362"/>
                </a:lnTo>
                <a:lnTo>
                  <a:pt x="894080" y="380911"/>
                </a:lnTo>
                <a:lnTo>
                  <a:pt x="908278" y="423976"/>
                </a:lnTo>
                <a:lnTo>
                  <a:pt x="930630" y="459346"/>
                </a:lnTo>
                <a:lnTo>
                  <a:pt x="960221" y="487565"/>
                </a:lnTo>
                <a:lnTo>
                  <a:pt x="995781" y="508203"/>
                </a:lnTo>
                <a:lnTo>
                  <a:pt x="1036675" y="520877"/>
                </a:lnTo>
                <a:lnTo>
                  <a:pt x="1081506" y="525195"/>
                </a:lnTo>
                <a:lnTo>
                  <a:pt x="1082268" y="525195"/>
                </a:lnTo>
                <a:lnTo>
                  <a:pt x="1124178" y="521335"/>
                </a:lnTo>
                <a:lnTo>
                  <a:pt x="1164170" y="509651"/>
                </a:lnTo>
                <a:lnTo>
                  <a:pt x="1200619" y="489953"/>
                </a:lnTo>
                <a:lnTo>
                  <a:pt x="1231861" y="462064"/>
                </a:lnTo>
                <a:lnTo>
                  <a:pt x="1256245" y="425754"/>
                </a:lnTo>
                <a:lnTo>
                  <a:pt x="1271993" y="380911"/>
                </a:lnTo>
                <a:lnTo>
                  <a:pt x="1277581" y="327279"/>
                </a:lnTo>
                <a:close/>
              </a:path>
              <a:path w="1618615" h="525779">
                <a:moveTo>
                  <a:pt x="1618195" y="150710"/>
                </a:moveTo>
                <a:lnTo>
                  <a:pt x="1598510" y="144602"/>
                </a:lnTo>
                <a:lnTo>
                  <a:pt x="1576412" y="140030"/>
                </a:lnTo>
                <a:lnTo>
                  <a:pt x="1553298" y="137198"/>
                </a:lnTo>
                <a:lnTo>
                  <a:pt x="1530057" y="136220"/>
                </a:lnTo>
                <a:lnTo>
                  <a:pt x="1474685" y="141465"/>
                </a:lnTo>
                <a:lnTo>
                  <a:pt x="1427441" y="156425"/>
                </a:lnTo>
                <a:lnTo>
                  <a:pt x="1388198" y="179844"/>
                </a:lnTo>
                <a:lnTo>
                  <a:pt x="1357464" y="210553"/>
                </a:lnTo>
                <a:lnTo>
                  <a:pt x="1335239" y="247307"/>
                </a:lnTo>
                <a:lnTo>
                  <a:pt x="1321777" y="288912"/>
                </a:lnTo>
                <a:lnTo>
                  <a:pt x="1317205" y="334149"/>
                </a:lnTo>
                <a:lnTo>
                  <a:pt x="1321777" y="381635"/>
                </a:lnTo>
                <a:lnTo>
                  <a:pt x="1335239" y="423278"/>
                </a:lnTo>
                <a:lnTo>
                  <a:pt x="1356956" y="458546"/>
                </a:lnTo>
                <a:lnTo>
                  <a:pt x="1386166" y="486918"/>
                </a:lnTo>
                <a:lnTo>
                  <a:pt x="1422615" y="507822"/>
                </a:lnTo>
                <a:lnTo>
                  <a:pt x="1465414" y="520763"/>
                </a:lnTo>
                <a:lnTo>
                  <a:pt x="1514055" y="525195"/>
                </a:lnTo>
                <a:lnTo>
                  <a:pt x="1545932" y="523862"/>
                </a:lnTo>
                <a:lnTo>
                  <a:pt x="1598891" y="514616"/>
                </a:lnTo>
                <a:lnTo>
                  <a:pt x="1603844" y="422427"/>
                </a:lnTo>
                <a:lnTo>
                  <a:pt x="1590001" y="427558"/>
                </a:lnTo>
                <a:lnTo>
                  <a:pt x="1574507" y="431380"/>
                </a:lnTo>
                <a:lnTo>
                  <a:pt x="1557108" y="433781"/>
                </a:lnTo>
                <a:lnTo>
                  <a:pt x="1537677" y="434606"/>
                </a:lnTo>
                <a:lnTo>
                  <a:pt x="1498053" y="427837"/>
                </a:lnTo>
                <a:lnTo>
                  <a:pt x="1465668" y="407784"/>
                </a:lnTo>
                <a:lnTo>
                  <a:pt x="1443824" y="374891"/>
                </a:lnTo>
                <a:lnTo>
                  <a:pt x="1435823" y="329590"/>
                </a:lnTo>
                <a:lnTo>
                  <a:pt x="1442427" y="287604"/>
                </a:lnTo>
                <a:lnTo>
                  <a:pt x="1462493" y="254609"/>
                </a:lnTo>
                <a:lnTo>
                  <a:pt x="1494116" y="233032"/>
                </a:lnTo>
                <a:lnTo>
                  <a:pt x="1535391" y="225298"/>
                </a:lnTo>
                <a:lnTo>
                  <a:pt x="1556346" y="226225"/>
                </a:lnTo>
                <a:lnTo>
                  <a:pt x="1573999" y="228727"/>
                </a:lnTo>
                <a:lnTo>
                  <a:pt x="1588477" y="232371"/>
                </a:lnTo>
                <a:lnTo>
                  <a:pt x="1600034" y="236715"/>
                </a:lnTo>
                <a:lnTo>
                  <a:pt x="1618195" y="150710"/>
                </a:lnTo>
                <a:close/>
              </a:path>
            </a:pathLst>
          </a:custGeom>
          <a:solidFill>
            <a:srgbClr val="FDB6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3">
            <a:extLst>
              <a:ext uri="{FF2B5EF4-FFF2-40B4-BE49-F238E27FC236}">
                <a16:creationId xmlns:a16="http://schemas.microsoft.com/office/drawing/2014/main" id="{FE2BAAA5-6C78-84A3-7D2C-466ED5127B4B}"/>
              </a:ext>
            </a:extLst>
          </p:cNvPr>
          <p:cNvSpPr/>
          <p:nvPr/>
        </p:nvSpPr>
        <p:spPr>
          <a:xfrm>
            <a:off x="11068865" y="6224760"/>
            <a:ext cx="388620" cy="483234"/>
          </a:xfrm>
          <a:custGeom>
            <a:avLst/>
            <a:gdLst/>
            <a:ahLst/>
            <a:cxnLst/>
            <a:rect l="l" t="t" r="r" b="b"/>
            <a:pathLst>
              <a:path w="388619" h="483234">
                <a:moveTo>
                  <a:pt x="387756" y="21"/>
                </a:moveTo>
                <a:lnTo>
                  <a:pt x="280571" y="21"/>
                </a:lnTo>
                <a:lnTo>
                  <a:pt x="280571" y="273635"/>
                </a:lnTo>
                <a:lnTo>
                  <a:pt x="274856" y="328320"/>
                </a:lnTo>
                <a:lnTo>
                  <a:pt x="258093" y="366813"/>
                </a:lnTo>
                <a:lnTo>
                  <a:pt x="230661" y="389558"/>
                </a:lnTo>
                <a:lnTo>
                  <a:pt x="193324" y="397038"/>
                </a:lnTo>
                <a:lnTo>
                  <a:pt x="156622" y="389266"/>
                </a:lnTo>
                <a:lnTo>
                  <a:pt x="129699" y="366013"/>
                </a:lnTo>
                <a:lnTo>
                  <a:pt x="113062" y="327431"/>
                </a:lnTo>
                <a:lnTo>
                  <a:pt x="107347" y="273635"/>
                </a:lnTo>
                <a:lnTo>
                  <a:pt x="107347" y="21"/>
                </a:lnTo>
                <a:lnTo>
                  <a:pt x="-472" y="21"/>
                </a:lnTo>
                <a:lnTo>
                  <a:pt x="-472" y="265190"/>
                </a:lnTo>
                <a:lnTo>
                  <a:pt x="3718" y="325006"/>
                </a:lnTo>
                <a:lnTo>
                  <a:pt x="16291" y="374699"/>
                </a:lnTo>
                <a:lnTo>
                  <a:pt x="36737" y="414614"/>
                </a:lnTo>
                <a:lnTo>
                  <a:pt x="64550" y="445081"/>
                </a:lnTo>
                <a:lnTo>
                  <a:pt x="99728" y="466429"/>
                </a:lnTo>
                <a:lnTo>
                  <a:pt x="141510" y="478989"/>
                </a:lnTo>
                <a:lnTo>
                  <a:pt x="189768" y="483104"/>
                </a:lnTo>
                <a:lnTo>
                  <a:pt x="239805" y="478799"/>
                </a:lnTo>
                <a:lnTo>
                  <a:pt x="283238" y="465832"/>
                </a:lnTo>
                <a:lnTo>
                  <a:pt x="319686" y="444065"/>
                </a:lnTo>
                <a:lnTo>
                  <a:pt x="348768" y="413383"/>
                </a:lnTo>
                <a:lnTo>
                  <a:pt x="370104" y="373658"/>
                </a:lnTo>
                <a:lnTo>
                  <a:pt x="383184" y="324764"/>
                </a:lnTo>
                <a:lnTo>
                  <a:pt x="387756" y="266587"/>
                </a:lnTo>
                <a:lnTo>
                  <a:pt x="387756" y="2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6" name="object 4">
            <a:extLst>
              <a:ext uri="{FF2B5EF4-FFF2-40B4-BE49-F238E27FC236}">
                <a16:creationId xmlns:a16="http://schemas.microsoft.com/office/drawing/2014/main" id="{DB102CD3-AD75-F6BE-DDE8-51B7F5FC843E}"/>
              </a:ext>
            </a:extLst>
          </p:cNvPr>
          <p:cNvGrpSpPr/>
          <p:nvPr/>
        </p:nvGrpSpPr>
        <p:grpSpPr>
          <a:xfrm>
            <a:off x="11510824" y="6110485"/>
            <a:ext cx="446405" cy="596900"/>
            <a:chOff x="19130771" y="10355319"/>
            <a:chExt cx="446405" cy="596900"/>
          </a:xfrm>
        </p:grpSpPr>
        <p:sp>
          <p:nvSpPr>
            <p:cNvPr id="7" name="object 5">
              <a:extLst>
                <a:ext uri="{FF2B5EF4-FFF2-40B4-BE49-F238E27FC236}">
                  <a16:creationId xmlns:a16="http://schemas.microsoft.com/office/drawing/2014/main" id="{2A40EB41-89C4-2633-9994-C240071F735F}"/>
                </a:ext>
              </a:extLst>
            </p:cNvPr>
            <p:cNvSpPr/>
            <p:nvPr/>
          </p:nvSpPr>
          <p:spPr>
            <a:xfrm>
              <a:off x="19130771" y="10461974"/>
              <a:ext cx="376555" cy="490220"/>
            </a:xfrm>
            <a:custGeom>
              <a:avLst/>
              <a:gdLst/>
              <a:ahLst/>
              <a:cxnLst/>
              <a:rect l="l" t="t" r="r" b="b"/>
              <a:pathLst>
                <a:path w="376555" h="490220">
                  <a:moveTo>
                    <a:pt x="258716" y="21"/>
                  </a:moveTo>
                  <a:lnTo>
                    <a:pt x="211982" y="3336"/>
                  </a:lnTo>
                  <a:lnTo>
                    <a:pt x="168041" y="13178"/>
                  </a:lnTo>
                  <a:lnTo>
                    <a:pt x="127656" y="29395"/>
                  </a:lnTo>
                  <a:lnTo>
                    <a:pt x="91462" y="51848"/>
                  </a:lnTo>
                  <a:lnTo>
                    <a:pt x="60347" y="80359"/>
                  </a:lnTo>
                  <a:lnTo>
                    <a:pt x="34821" y="114813"/>
                  </a:lnTo>
                  <a:lnTo>
                    <a:pt x="15645" y="155033"/>
                  </a:lnTo>
                  <a:lnTo>
                    <a:pt x="3707" y="200866"/>
                  </a:lnTo>
                  <a:lnTo>
                    <a:pt x="-483" y="252186"/>
                  </a:lnTo>
                  <a:lnTo>
                    <a:pt x="2691" y="295949"/>
                  </a:lnTo>
                  <a:lnTo>
                    <a:pt x="11962" y="336740"/>
                  </a:lnTo>
                  <a:lnTo>
                    <a:pt x="27455" y="373976"/>
                  </a:lnTo>
                  <a:lnTo>
                    <a:pt x="49172" y="407084"/>
                  </a:lnTo>
                  <a:lnTo>
                    <a:pt x="76857" y="435468"/>
                  </a:lnTo>
                  <a:lnTo>
                    <a:pt x="110765" y="458556"/>
                  </a:lnTo>
                  <a:lnTo>
                    <a:pt x="150515" y="475764"/>
                  </a:lnTo>
                  <a:lnTo>
                    <a:pt x="196361" y="486508"/>
                  </a:lnTo>
                  <a:lnTo>
                    <a:pt x="248049" y="490229"/>
                  </a:lnTo>
                  <a:lnTo>
                    <a:pt x="288688" y="488311"/>
                  </a:lnTo>
                  <a:lnTo>
                    <a:pt x="323231" y="483358"/>
                  </a:lnTo>
                  <a:lnTo>
                    <a:pt x="350662" y="476551"/>
                  </a:lnTo>
                  <a:lnTo>
                    <a:pt x="369966" y="469084"/>
                  </a:lnTo>
                  <a:lnTo>
                    <a:pt x="353710" y="385291"/>
                  </a:lnTo>
                  <a:lnTo>
                    <a:pt x="335423" y="391273"/>
                  </a:lnTo>
                  <a:lnTo>
                    <a:pt x="313198" y="396187"/>
                  </a:lnTo>
                  <a:lnTo>
                    <a:pt x="288942" y="399527"/>
                  </a:lnTo>
                  <a:lnTo>
                    <a:pt x="264304" y="400747"/>
                  </a:lnTo>
                  <a:lnTo>
                    <a:pt x="211728" y="393762"/>
                  </a:lnTo>
                  <a:lnTo>
                    <a:pt x="169438" y="373595"/>
                  </a:lnTo>
                  <a:lnTo>
                    <a:pt x="138197" y="341426"/>
                  </a:lnTo>
                  <a:lnTo>
                    <a:pt x="118893" y="298451"/>
                  </a:lnTo>
                  <a:lnTo>
                    <a:pt x="112162" y="245823"/>
                  </a:lnTo>
                  <a:lnTo>
                    <a:pt x="119782" y="188929"/>
                  </a:lnTo>
                  <a:lnTo>
                    <a:pt x="140990" y="144912"/>
                  </a:lnTo>
                  <a:lnTo>
                    <a:pt x="173502" y="113632"/>
                  </a:lnTo>
                  <a:lnTo>
                    <a:pt x="215157" y="94964"/>
                  </a:lnTo>
                  <a:lnTo>
                    <a:pt x="263669" y="88766"/>
                  </a:lnTo>
                  <a:lnTo>
                    <a:pt x="290720" y="90227"/>
                  </a:lnTo>
                  <a:lnTo>
                    <a:pt x="314722" y="94138"/>
                  </a:lnTo>
                  <a:lnTo>
                    <a:pt x="335804" y="99764"/>
                  </a:lnTo>
                  <a:lnTo>
                    <a:pt x="353710" y="106368"/>
                  </a:lnTo>
                  <a:lnTo>
                    <a:pt x="375554" y="21179"/>
                  </a:lnTo>
                  <a:lnTo>
                    <a:pt x="357139" y="13698"/>
                  </a:lnTo>
                  <a:lnTo>
                    <a:pt x="330851" y="6891"/>
                  </a:lnTo>
                  <a:lnTo>
                    <a:pt x="297704" y="1939"/>
                  </a:lnTo>
                  <a:lnTo>
                    <a:pt x="258716" y="2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6">
              <a:extLst>
                <a:ext uri="{FF2B5EF4-FFF2-40B4-BE49-F238E27FC236}">
                  <a16:creationId xmlns:a16="http://schemas.microsoft.com/office/drawing/2014/main" id="{EC99CAED-77E2-7913-5F3D-3C21196FA96C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9464035" y="10355319"/>
              <a:ext cx="112771" cy="111247"/>
            </a:xfrm>
            <a:prstGeom prst="rect">
              <a:avLst/>
            </a:prstGeom>
          </p:spPr>
        </p:pic>
      </p:grpSp>
      <p:sp>
        <p:nvSpPr>
          <p:cNvPr id="13" name="object 3">
            <a:extLst>
              <a:ext uri="{FF2B5EF4-FFF2-40B4-BE49-F238E27FC236}">
                <a16:creationId xmlns:a16="http://schemas.microsoft.com/office/drawing/2014/main" id="{72472CB6-4230-A8E2-3AEC-C89294130638}"/>
              </a:ext>
            </a:extLst>
          </p:cNvPr>
          <p:cNvSpPr txBox="1"/>
          <p:nvPr/>
        </p:nvSpPr>
        <p:spPr>
          <a:xfrm>
            <a:off x="428" y="502556"/>
            <a:ext cx="6095571" cy="720000"/>
          </a:xfrm>
          <a:prstGeom prst="rect">
            <a:avLst/>
          </a:prstGeom>
          <a:solidFill>
            <a:srgbClr val="FFC000"/>
          </a:solidFill>
        </p:spPr>
        <p:txBody>
          <a:bodyPr vert="horz" wrap="square" lIns="0" tIns="111669" rIns="0" bIns="0" rtlCol="0">
            <a:spAutoFit/>
          </a:bodyPr>
          <a:lstStyle/>
          <a:p>
            <a:pPr marR="140548" lvl="1">
              <a:spcBef>
                <a:spcPts val="879"/>
              </a:spcBef>
            </a:pPr>
            <a:r>
              <a:rPr lang="es-ES" sz="2911" b="1" spc="-6" dirty="0">
                <a:latin typeface="Arial"/>
                <a:cs typeface="Arial"/>
              </a:rPr>
              <a:t>Autenticación vs Autorización</a:t>
            </a:r>
            <a:endParaRPr sz="2911" b="1" spc="-6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81073535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Authentication vs Authorization – What's the difference?">
            <a:extLst>
              <a:ext uri="{FF2B5EF4-FFF2-40B4-BE49-F238E27FC236}">
                <a16:creationId xmlns:a16="http://schemas.microsoft.com/office/drawing/2014/main" id="{B2C1FE82-211A-E673-9D37-869AAD190895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9647" y="1596980"/>
            <a:ext cx="10341729" cy="47584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object 3">
            <a:extLst>
              <a:ext uri="{FF2B5EF4-FFF2-40B4-BE49-F238E27FC236}">
                <a16:creationId xmlns:a16="http://schemas.microsoft.com/office/drawing/2014/main" id="{6F3801F2-A953-A8E4-A15C-64B119B7A69F}"/>
              </a:ext>
            </a:extLst>
          </p:cNvPr>
          <p:cNvSpPr txBox="1"/>
          <p:nvPr/>
        </p:nvSpPr>
        <p:spPr>
          <a:xfrm>
            <a:off x="428" y="502556"/>
            <a:ext cx="6095571" cy="720000"/>
          </a:xfrm>
          <a:prstGeom prst="rect">
            <a:avLst/>
          </a:prstGeom>
          <a:solidFill>
            <a:srgbClr val="FFC000"/>
          </a:solidFill>
        </p:spPr>
        <p:txBody>
          <a:bodyPr vert="horz" wrap="square" lIns="0" tIns="111669" rIns="0" bIns="0" rtlCol="0">
            <a:spAutoFit/>
          </a:bodyPr>
          <a:lstStyle/>
          <a:p>
            <a:pPr marR="140548" lvl="1">
              <a:spcBef>
                <a:spcPts val="879"/>
              </a:spcBef>
            </a:pPr>
            <a:r>
              <a:rPr lang="es-ES" sz="2911" b="1" spc="-6" dirty="0">
                <a:latin typeface="Arial"/>
                <a:cs typeface="Arial"/>
              </a:rPr>
              <a:t>Autenticación vs Autorización</a:t>
            </a:r>
            <a:endParaRPr sz="2911" b="1" spc="-6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23604270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2D145A7-4A80-15A7-50CD-31DE0292F1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06828"/>
            <a:ext cx="10515600" cy="4670135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s-CL" dirty="0"/>
              <a:t>RBAC = Role </a:t>
            </a:r>
            <a:r>
              <a:rPr lang="es-CL" dirty="0" err="1"/>
              <a:t>Based</a:t>
            </a:r>
            <a:r>
              <a:rPr lang="es-CL" dirty="0"/>
              <a:t> Access Control</a:t>
            </a:r>
          </a:p>
          <a:p>
            <a:pPr marL="0" indent="0">
              <a:buNone/>
            </a:pPr>
            <a:r>
              <a:rPr lang="es-CL" b="1" dirty="0"/>
              <a:t>Idea</a:t>
            </a:r>
            <a:r>
              <a:rPr lang="es-CL" dirty="0"/>
              <a:t>:</a:t>
            </a:r>
            <a:br>
              <a:rPr lang="es-CL" dirty="0"/>
            </a:br>
            <a:r>
              <a:rPr lang="es-CL" dirty="0"/>
              <a:t>Los usuarios no reciben permisos individuales uno por uno.</a:t>
            </a:r>
            <a:br>
              <a:rPr lang="es-CL" dirty="0"/>
            </a:br>
            <a:r>
              <a:rPr lang="es-CL" dirty="0"/>
              <a:t>Se les asigna un rol, y el rol agrupa permisos.</a:t>
            </a:r>
          </a:p>
          <a:p>
            <a:pPr marL="0" indent="0">
              <a:buNone/>
            </a:pPr>
            <a:r>
              <a:rPr lang="es-CL" dirty="0"/>
              <a:t>Ejemplo:</a:t>
            </a:r>
          </a:p>
          <a:p>
            <a:r>
              <a:rPr lang="es-CL" dirty="0"/>
              <a:t>ADMIN: crear, editar, eliminar</a:t>
            </a:r>
          </a:p>
          <a:p>
            <a:r>
              <a:rPr lang="es-CL" dirty="0"/>
              <a:t>DOCENTE: crear y revisar</a:t>
            </a:r>
          </a:p>
          <a:p>
            <a:r>
              <a:rPr lang="es-CL" dirty="0"/>
              <a:t>ESTUDIANTE: leer y enviar tareas</a:t>
            </a:r>
          </a:p>
          <a:p>
            <a:pPr marL="0" indent="0">
              <a:buNone/>
            </a:pPr>
            <a:r>
              <a:rPr lang="es-CL" b="1" dirty="0"/>
              <a:t>Uso con JWT</a:t>
            </a:r>
            <a:r>
              <a:rPr lang="es-CL" dirty="0"/>
              <a:t>:</a:t>
            </a:r>
            <a:br>
              <a:rPr lang="es-CL" dirty="0"/>
            </a:br>
            <a:endParaRPr lang="es-CL" dirty="0"/>
          </a:p>
          <a:p>
            <a:pPr marL="0" indent="0">
              <a:buNone/>
            </a:pPr>
            <a:r>
              <a:rPr lang="es-CL" dirty="0"/>
              <a:t>El token puede incluir un </a:t>
            </a:r>
            <a:r>
              <a:rPr lang="es-CL" dirty="0" err="1"/>
              <a:t>claim</a:t>
            </a:r>
            <a:r>
              <a:rPr lang="es-CL" dirty="0"/>
              <a:t> role o roles</a:t>
            </a:r>
            <a:br>
              <a:rPr lang="es-CL" dirty="0"/>
            </a:br>
            <a:r>
              <a:rPr lang="es-CL" dirty="0"/>
              <a:t>Luego el </a:t>
            </a:r>
            <a:r>
              <a:rPr lang="es-CL" dirty="0" err="1"/>
              <a:t>backend</a:t>
            </a:r>
            <a:r>
              <a:rPr lang="es-CL" dirty="0"/>
              <a:t> decide qué </a:t>
            </a:r>
            <a:r>
              <a:rPr lang="es-CL" dirty="0" err="1"/>
              <a:t>endpoints</a:t>
            </a:r>
            <a:r>
              <a:rPr lang="es-CL" dirty="0"/>
              <a:t> puede usar cada rol</a:t>
            </a:r>
          </a:p>
          <a:p>
            <a:pPr marL="0" indent="0">
              <a:buNone/>
            </a:pPr>
            <a:r>
              <a:rPr lang="es-CL" b="1" dirty="0"/>
              <a:t>Importante</a:t>
            </a:r>
            <a:r>
              <a:rPr lang="es-CL" dirty="0"/>
              <a:t>:</a:t>
            </a:r>
            <a:br>
              <a:rPr lang="es-CL" dirty="0"/>
            </a:br>
            <a:r>
              <a:rPr lang="es-CL" dirty="0"/>
              <a:t>No basta con que el token diga ADMIN</a:t>
            </a:r>
            <a:br>
              <a:rPr lang="es-CL" dirty="0"/>
            </a:br>
            <a:r>
              <a:rPr lang="es-CL" dirty="0"/>
              <a:t>El servidor debe validar firma y aplicar reglas de acceso reales</a:t>
            </a:r>
          </a:p>
          <a:p>
            <a:pPr marL="0" indent="0">
              <a:buNone/>
            </a:pPr>
            <a:endParaRPr lang="es-CL" dirty="0"/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D4AAE7F0-9599-FB40-3B55-E6FA8F4271ED}"/>
              </a:ext>
            </a:extLst>
          </p:cNvPr>
          <p:cNvSpPr/>
          <p:nvPr/>
        </p:nvSpPr>
        <p:spPr>
          <a:xfrm>
            <a:off x="9338693" y="6180589"/>
            <a:ext cx="1618615" cy="525780"/>
          </a:xfrm>
          <a:custGeom>
            <a:avLst/>
            <a:gdLst/>
            <a:ahLst/>
            <a:cxnLst/>
            <a:rect l="l" t="t" r="r" b="b"/>
            <a:pathLst>
              <a:path w="1618615" h="525779">
                <a:moveTo>
                  <a:pt x="452996" y="248158"/>
                </a:moveTo>
                <a:lnTo>
                  <a:pt x="449186" y="196608"/>
                </a:lnTo>
                <a:lnTo>
                  <a:pt x="437883" y="151485"/>
                </a:lnTo>
                <a:lnTo>
                  <a:pt x="419849" y="112661"/>
                </a:lnTo>
                <a:lnTo>
                  <a:pt x="395846" y="79959"/>
                </a:lnTo>
                <a:lnTo>
                  <a:pt x="366382" y="53276"/>
                </a:lnTo>
                <a:lnTo>
                  <a:pt x="330695" y="31584"/>
                </a:lnTo>
                <a:lnTo>
                  <a:pt x="330695" y="251955"/>
                </a:lnTo>
                <a:lnTo>
                  <a:pt x="325107" y="307860"/>
                </a:lnTo>
                <a:lnTo>
                  <a:pt x="308851" y="353148"/>
                </a:lnTo>
                <a:lnTo>
                  <a:pt x="282816" y="387997"/>
                </a:lnTo>
                <a:lnTo>
                  <a:pt x="248145" y="412572"/>
                </a:lnTo>
                <a:lnTo>
                  <a:pt x="205473" y="427037"/>
                </a:lnTo>
                <a:lnTo>
                  <a:pt x="155816" y="431584"/>
                </a:lnTo>
                <a:lnTo>
                  <a:pt x="146786" y="431584"/>
                </a:lnTo>
                <a:lnTo>
                  <a:pt x="134226" y="431292"/>
                </a:lnTo>
                <a:lnTo>
                  <a:pt x="124079" y="430606"/>
                </a:lnTo>
                <a:lnTo>
                  <a:pt x="115570" y="429272"/>
                </a:lnTo>
                <a:lnTo>
                  <a:pt x="115570" y="93611"/>
                </a:lnTo>
                <a:lnTo>
                  <a:pt x="124333" y="91935"/>
                </a:lnTo>
                <a:lnTo>
                  <a:pt x="136004" y="90449"/>
                </a:lnTo>
                <a:lnTo>
                  <a:pt x="150609" y="89420"/>
                </a:lnTo>
                <a:lnTo>
                  <a:pt x="168008" y="89027"/>
                </a:lnTo>
                <a:lnTo>
                  <a:pt x="214871" y="93433"/>
                </a:lnTo>
                <a:lnTo>
                  <a:pt x="254749" y="106743"/>
                </a:lnTo>
                <a:lnTo>
                  <a:pt x="287007" y="129095"/>
                </a:lnTo>
                <a:lnTo>
                  <a:pt x="310756" y="160655"/>
                </a:lnTo>
                <a:lnTo>
                  <a:pt x="325615" y="201561"/>
                </a:lnTo>
                <a:lnTo>
                  <a:pt x="330695" y="251955"/>
                </a:lnTo>
                <a:lnTo>
                  <a:pt x="330695" y="31584"/>
                </a:lnTo>
                <a:lnTo>
                  <a:pt x="326758" y="29210"/>
                </a:lnTo>
                <a:lnTo>
                  <a:pt x="279641" y="12649"/>
                </a:lnTo>
                <a:lnTo>
                  <a:pt x="223253" y="3073"/>
                </a:lnTo>
                <a:lnTo>
                  <a:pt x="155816" y="0"/>
                </a:lnTo>
                <a:lnTo>
                  <a:pt x="113030" y="711"/>
                </a:lnTo>
                <a:lnTo>
                  <a:pt x="72263" y="2857"/>
                </a:lnTo>
                <a:lnTo>
                  <a:pt x="34163" y="6413"/>
                </a:lnTo>
                <a:lnTo>
                  <a:pt x="0" y="11430"/>
                </a:lnTo>
                <a:lnTo>
                  <a:pt x="0" y="514540"/>
                </a:lnTo>
                <a:lnTo>
                  <a:pt x="24003" y="517334"/>
                </a:lnTo>
                <a:lnTo>
                  <a:pt x="53721" y="519760"/>
                </a:lnTo>
                <a:lnTo>
                  <a:pt x="89535" y="521487"/>
                </a:lnTo>
                <a:lnTo>
                  <a:pt x="131432" y="522147"/>
                </a:lnTo>
                <a:lnTo>
                  <a:pt x="189471" y="519569"/>
                </a:lnTo>
                <a:lnTo>
                  <a:pt x="242811" y="511771"/>
                </a:lnTo>
                <a:lnTo>
                  <a:pt x="290817" y="498627"/>
                </a:lnTo>
                <a:lnTo>
                  <a:pt x="332854" y="480072"/>
                </a:lnTo>
                <a:lnTo>
                  <a:pt x="368668" y="455942"/>
                </a:lnTo>
                <a:lnTo>
                  <a:pt x="396100" y="427685"/>
                </a:lnTo>
                <a:lnTo>
                  <a:pt x="419341" y="392976"/>
                </a:lnTo>
                <a:lnTo>
                  <a:pt x="437375" y="351650"/>
                </a:lnTo>
                <a:lnTo>
                  <a:pt x="448932" y="303453"/>
                </a:lnTo>
                <a:lnTo>
                  <a:pt x="452996" y="248158"/>
                </a:lnTo>
                <a:close/>
              </a:path>
              <a:path w="1618615" h="525779">
                <a:moveTo>
                  <a:pt x="849858" y="516801"/>
                </a:moveTo>
                <a:lnTo>
                  <a:pt x="848715" y="491820"/>
                </a:lnTo>
                <a:lnTo>
                  <a:pt x="847699" y="463626"/>
                </a:lnTo>
                <a:lnTo>
                  <a:pt x="847064" y="432142"/>
                </a:lnTo>
                <a:lnTo>
                  <a:pt x="846810" y="397306"/>
                </a:lnTo>
                <a:lnTo>
                  <a:pt x="846810" y="144627"/>
                </a:lnTo>
                <a:lnTo>
                  <a:pt x="731240" y="144627"/>
                </a:lnTo>
                <a:lnTo>
                  <a:pt x="731240" y="366115"/>
                </a:lnTo>
                <a:lnTo>
                  <a:pt x="730986" y="373253"/>
                </a:lnTo>
                <a:lnTo>
                  <a:pt x="707237" y="418261"/>
                </a:lnTo>
                <a:lnTo>
                  <a:pt x="668883" y="431584"/>
                </a:lnTo>
                <a:lnTo>
                  <a:pt x="642467" y="425615"/>
                </a:lnTo>
                <a:lnTo>
                  <a:pt x="624319" y="408457"/>
                </a:lnTo>
                <a:lnTo>
                  <a:pt x="613778" y="381165"/>
                </a:lnTo>
                <a:lnTo>
                  <a:pt x="610349" y="344817"/>
                </a:lnTo>
                <a:lnTo>
                  <a:pt x="610349" y="144627"/>
                </a:lnTo>
                <a:lnTo>
                  <a:pt x="494906" y="144627"/>
                </a:lnTo>
                <a:lnTo>
                  <a:pt x="494906" y="363054"/>
                </a:lnTo>
                <a:lnTo>
                  <a:pt x="501129" y="424053"/>
                </a:lnTo>
                <a:lnTo>
                  <a:pt x="519036" y="469773"/>
                </a:lnTo>
                <a:lnTo>
                  <a:pt x="546722" y="501230"/>
                </a:lnTo>
                <a:lnTo>
                  <a:pt x="582790" y="519366"/>
                </a:lnTo>
                <a:lnTo>
                  <a:pt x="625589" y="525195"/>
                </a:lnTo>
                <a:lnTo>
                  <a:pt x="669899" y="518883"/>
                </a:lnTo>
                <a:lnTo>
                  <a:pt x="703427" y="503313"/>
                </a:lnTo>
                <a:lnTo>
                  <a:pt x="727049" y="483450"/>
                </a:lnTo>
                <a:lnTo>
                  <a:pt x="741908" y="464299"/>
                </a:lnTo>
                <a:lnTo>
                  <a:pt x="744194" y="464299"/>
                </a:lnTo>
                <a:lnTo>
                  <a:pt x="749528" y="516801"/>
                </a:lnTo>
                <a:lnTo>
                  <a:pt x="849858" y="516801"/>
                </a:lnTo>
                <a:close/>
              </a:path>
              <a:path w="1618615" h="525779">
                <a:moveTo>
                  <a:pt x="1277581" y="327279"/>
                </a:moveTo>
                <a:lnTo>
                  <a:pt x="1273136" y="281241"/>
                </a:lnTo>
                <a:lnTo>
                  <a:pt x="1259928" y="240157"/>
                </a:lnTo>
                <a:lnTo>
                  <a:pt x="1247355" y="219214"/>
                </a:lnTo>
                <a:lnTo>
                  <a:pt x="1238846" y="204800"/>
                </a:lnTo>
                <a:lnTo>
                  <a:pt x="1210411" y="175971"/>
                </a:lnTo>
                <a:lnTo>
                  <a:pt x="1175346" y="154406"/>
                </a:lnTo>
                <a:lnTo>
                  <a:pt x="1157566" y="148501"/>
                </a:lnTo>
                <a:lnTo>
                  <a:pt x="1157490" y="329628"/>
                </a:lnTo>
                <a:lnTo>
                  <a:pt x="1157490" y="331101"/>
                </a:lnTo>
                <a:lnTo>
                  <a:pt x="1152474" y="375132"/>
                </a:lnTo>
                <a:lnTo>
                  <a:pt x="1137754" y="411391"/>
                </a:lnTo>
                <a:lnTo>
                  <a:pt x="1083792" y="442214"/>
                </a:lnTo>
                <a:lnTo>
                  <a:pt x="1083030" y="442214"/>
                </a:lnTo>
                <a:lnTo>
                  <a:pt x="1050772" y="433730"/>
                </a:lnTo>
                <a:lnTo>
                  <a:pt x="1027150" y="410349"/>
                </a:lnTo>
                <a:lnTo>
                  <a:pt x="1012672" y="375132"/>
                </a:lnTo>
                <a:lnTo>
                  <a:pt x="1007719" y="331101"/>
                </a:lnTo>
                <a:lnTo>
                  <a:pt x="1011910" y="290182"/>
                </a:lnTo>
                <a:lnTo>
                  <a:pt x="1025245" y="254330"/>
                </a:lnTo>
                <a:lnTo>
                  <a:pt x="1048867" y="228892"/>
                </a:lnTo>
                <a:lnTo>
                  <a:pt x="1083792" y="219214"/>
                </a:lnTo>
                <a:lnTo>
                  <a:pt x="1117447" y="228892"/>
                </a:lnTo>
                <a:lnTo>
                  <a:pt x="1140333" y="254330"/>
                </a:lnTo>
                <a:lnTo>
                  <a:pt x="1153375" y="289864"/>
                </a:lnTo>
                <a:lnTo>
                  <a:pt x="1157490" y="329628"/>
                </a:lnTo>
                <a:lnTo>
                  <a:pt x="1157490" y="148488"/>
                </a:lnTo>
                <a:lnTo>
                  <a:pt x="1134465" y="140893"/>
                </a:lnTo>
                <a:lnTo>
                  <a:pt x="1088364" y="136232"/>
                </a:lnTo>
                <a:lnTo>
                  <a:pt x="1038796" y="140893"/>
                </a:lnTo>
                <a:lnTo>
                  <a:pt x="1039266" y="140893"/>
                </a:lnTo>
                <a:lnTo>
                  <a:pt x="995883" y="154406"/>
                </a:lnTo>
                <a:lnTo>
                  <a:pt x="996073" y="154406"/>
                </a:lnTo>
                <a:lnTo>
                  <a:pt x="959586" y="175971"/>
                </a:lnTo>
                <a:lnTo>
                  <a:pt x="929741" y="205282"/>
                </a:lnTo>
                <a:lnTo>
                  <a:pt x="907643" y="241693"/>
                </a:lnTo>
                <a:lnTo>
                  <a:pt x="893927" y="284568"/>
                </a:lnTo>
                <a:lnTo>
                  <a:pt x="889228" y="333362"/>
                </a:lnTo>
                <a:lnTo>
                  <a:pt x="894080" y="380911"/>
                </a:lnTo>
                <a:lnTo>
                  <a:pt x="908278" y="423976"/>
                </a:lnTo>
                <a:lnTo>
                  <a:pt x="930630" y="459346"/>
                </a:lnTo>
                <a:lnTo>
                  <a:pt x="960221" y="487565"/>
                </a:lnTo>
                <a:lnTo>
                  <a:pt x="995781" y="508203"/>
                </a:lnTo>
                <a:lnTo>
                  <a:pt x="1036675" y="520877"/>
                </a:lnTo>
                <a:lnTo>
                  <a:pt x="1081506" y="525195"/>
                </a:lnTo>
                <a:lnTo>
                  <a:pt x="1082268" y="525195"/>
                </a:lnTo>
                <a:lnTo>
                  <a:pt x="1124178" y="521335"/>
                </a:lnTo>
                <a:lnTo>
                  <a:pt x="1164170" y="509651"/>
                </a:lnTo>
                <a:lnTo>
                  <a:pt x="1200619" y="489953"/>
                </a:lnTo>
                <a:lnTo>
                  <a:pt x="1231861" y="462064"/>
                </a:lnTo>
                <a:lnTo>
                  <a:pt x="1256245" y="425754"/>
                </a:lnTo>
                <a:lnTo>
                  <a:pt x="1271993" y="380911"/>
                </a:lnTo>
                <a:lnTo>
                  <a:pt x="1277581" y="327279"/>
                </a:lnTo>
                <a:close/>
              </a:path>
              <a:path w="1618615" h="525779">
                <a:moveTo>
                  <a:pt x="1618195" y="150710"/>
                </a:moveTo>
                <a:lnTo>
                  <a:pt x="1598510" y="144602"/>
                </a:lnTo>
                <a:lnTo>
                  <a:pt x="1576412" y="140030"/>
                </a:lnTo>
                <a:lnTo>
                  <a:pt x="1553298" y="137198"/>
                </a:lnTo>
                <a:lnTo>
                  <a:pt x="1530057" y="136220"/>
                </a:lnTo>
                <a:lnTo>
                  <a:pt x="1474685" y="141465"/>
                </a:lnTo>
                <a:lnTo>
                  <a:pt x="1427441" y="156425"/>
                </a:lnTo>
                <a:lnTo>
                  <a:pt x="1388198" y="179844"/>
                </a:lnTo>
                <a:lnTo>
                  <a:pt x="1357464" y="210553"/>
                </a:lnTo>
                <a:lnTo>
                  <a:pt x="1335239" y="247307"/>
                </a:lnTo>
                <a:lnTo>
                  <a:pt x="1321777" y="288912"/>
                </a:lnTo>
                <a:lnTo>
                  <a:pt x="1317205" y="334149"/>
                </a:lnTo>
                <a:lnTo>
                  <a:pt x="1321777" y="381635"/>
                </a:lnTo>
                <a:lnTo>
                  <a:pt x="1335239" y="423278"/>
                </a:lnTo>
                <a:lnTo>
                  <a:pt x="1356956" y="458546"/>
                </a:lnTo>
                <a:lnTo>
                  <a:pt x="1386166" y="486918"/>
                </a:lnTo>
                <a:lnTo>
                  <a:pt x="1422615" y="507822"/>
                </a:lnTo>
                <a:lnTo>
                  <a:pt x="1465414" y="520763"/>
                </a:lnTo>
                <a:lnTo>
                  <a:pt x="1514055" y="525195"/>
                </a:lnTo>
                <a:lnTo>
                  <a:pt x="1545932" y="523862"/>
                </a:lnTo>
                <a:lnTo>
                  <a:pt x="1598891" y="514616"/>
                </a:lnTo>
                <a:lnTo>
                  <a:pt x="1603844" y="422427"/>
                </a:lnTo>
                <a:lnTo>
                  <a:pt x="1590001" y="427558"/>
                </a:lnTo>
                <a:lnTo>
                  <a:pt x="1574507" y="431380"/>
                </a:lnTo>
                <a:lnTo>
                  <a:pt x="1557108" y="433781"/>
                </a:lnTo>
                <a:lnTo>
                  <a:pt x="1537677" y="434606"/>
                </a:lnTo>
                <a:lnTo>
                  <a:pt x="1498053" y="427837"/>
                </a:lnTo>
                <a:lnTo>
                  <a:pt x="1465668" y="407784"/>
                </a:lnTo>
                <a:lnTo>
                  <a:pt x="1443824" y="374891"/>
                </a:lnTo>
                <a:lnTo>
                  <a:pt x="1435823" y="329590"/>
                </a:lnTo>
                <a:lnTo>
                  <a:pt x="1442427" y="287604"/>
                </a:lnTo>
                <a:lnTo>
                  <a:pt x="1462493" y="254609"/>
                </a:lnTo>
                <a:lnTo>
                  <a:pt x="1494116" y="233032"/>
                </a:lnTo>
                <a:lnTo>
                  <a:pt x="1535391" y="225298"/>
                </a:lnTo>
                <a:lnTo>
                  <a:pt x="1556346" y="226225"/>
                </a:lnTo>
                <a:lnTo>
                  <a:pt x="1573999" y="228727"/>
                </a:lnTo>
                <a:lnTo>
                  <a:pt x="1588477" y="232371"/>
                </a:lnTo>
                <a:lnTo>
                  <a:pt x="1600034" y="236715"/>
                </a:lnTo>
                <a:lnTo>
                  <a:pt x="1618195" y="150710"/>
                </a:lnTo>
                <a:close/>
              </a:path>
            </a:pathLst>
          </a:custGeom>
          <a:solidFill>
            <a:srgbClr val="FDB6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3">
            <a:extLst>
              <a:ext uri="{FF2B5EF4-FFF2-40B4-BE49-F238E27FC236}">
                <a16:creationId xmlns:a16="http://schemas.microsoft.com/office/drawing/2014/main" id="{CED72ADF-5F90-3049-A317-A015BB0D045F}"/>
              </a:ext>
            </a:extLst>
          </p:cNvPr>
          <p:cNvSpPr/>
          <p:nvPr/>
        </p:nvSpPr>
        <p:spPr>
          <a:xfrm>
            <a:off x="11068865" y="6224760"/>
            <a:ext cx="388620" cy="483234"/>
          </a:xfrm>
          <a:custGeom>
            <a:avLst/>
            <a:gdLst/>
            <a:ahLst/>
            <a:cxnLst/>
            <a:rect l="l" t="t" r="r" b="b"/>
            <a:pathLst>
              <a:path w="388619" h="483234">
                <a:moveTo>
                  <a:pt x="387756" y="21"/>
                </a:moveTo>
                <a:lnTo>
                  <a:pt x="280571" y="21"/>
                </a:lnTo>
                <a:lnTo>
                  <a:pt x="280571" y="273635"/>
                </a:lnTo>
                <a:lnTo>
                  <a:pt x="274856" y="328320"/>
                </a:lnTo>
                <a:lnTo>
                  <a:pt x="258093" y="366813"/>
                </a:lnTo>
                <a:lnTo>
                  <a:pt x="230661" y="389558"/>
                </a:lnTo>
                <a:lnTo>
                  <a:pt x="193324" y="397038"/>
                </a:lnTo>
                <a:lnTo>
                  <a:pt x="156622" y="389266"/>
                </a:lnTo>
                <a:lnTo>
                  <a:pt x="129699" y="366013"/>
                </a:lnTo>
                <a:lnTo>
                  <a:pt x="113062" y="327431"/>
                </a:lnTo>
                <a:lnTo>
                  <a:pt x="107347" y="273635"/>
                </a:lnTo>
                <a:lnTo>
                  <a:pt x="107347" y="21"/>
                </a:lnTo>
                <a:lnTo>
                  <a:pt x="-472" y="21"/>
                </a:lnTo>
                <a:lnTo>
                  <a:pt x="-472" y="265190"/>
                </a:lnTo>
                <a:lnTo>
                  <a:pt x="3718" y="325006"/>
                </a:lnTo>
                <a:lnTo>
                  <a:pt x="16291" y="374699"/>
                </a:lnTo>
                <a:lnTo>
                  <a:pt x="36737" y="414614"/>
                </a:lnTo>
                <a:lnTo>
                  <a:pt x="64550" y="445081"/>
                </a:lnTo>
                <a:lnTo>
                  <a:pt x="99728" y="466429"/>
                </a:lnTo>
                <a:lnTo>
                  <a:pt x="141510" y="478989"/>
                </a:lnTo>
                <a:lnTo>
                  <a:pt x="189768" y="483104"/>
                </a:lnTo>
                <a:lnTo>
                  <a:pt x="239805" y="478799"/>
                </a:lnTo>
                <a:lnTo>
                  <a:pt x="283238" y="465832"/>
                </a:lnTo>
                <a:lnTo>
                  <a:pt x="319686" y="444065"/>
                </a:lnTo>
                <a:lnTo>
                  <a:pt x="348768" y="413383"/>
                </a:lnTo>
                <a:lnTo>
                  <a:pt x="370104" y="373658"/>
                </a:lnTo>
                <a:lnTo>
                  <a:pt x="383184" y="324764"/>
                </a:lnTo>
                <a:lnTo>
                  <a:pt x="387756" y="266587"/>
                </a:lnTo>
                <a:lnTo>
                  <a:pt x="387756" y="2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6" name="object 4">
            <a:extLst>
              <a:ext uri="{FF2B5EF4-FFF2-40B4-BE49-F238E27FC236}">
                <a16:creationId xmlns:a16="http://schemas.microsoft.com/office/drawing/2014/main" id="{38047CBA-7EDA-B148-48EB-4884628EAFE6}"/>
              </a:ext>
            </a:extLst>
          </p:cNvPr>
          <p:cNvGrpSpPr/>
          <p:nvPr/>
        </p:nvGrpSpPr>
        <p:grpSpPr>
          <a:xfrm>
            <a:off x="11510824" y="6110485"/>
            <a:ext cx="446405" cy="596900"/>
            <a:chOff x="19130771" y="10355319"/>
            <a:chExt cx="446405" cy="596900"/>
          </a:xfrm>
        </p:grpSpPr>
        <p:sp>
          <p:nvSpPr>
            <p:cNvPr id="7" name="object 5">
              <a:extLst>
                <a:ext uri="{FF2B5EF4-FFF2-40B4-BE49-F238E27FC236}">
                  <a16:creationId xmlns:a16="http://schemas.microsoft.com/office/drawing/2014/main" id="{B52829AD-6225-051A-78E9-2228A38B60BD}"/>
                </a:ext>
              </a:extLst>
            </p:cNvPr>
            <p:cNvSpPr/>
            <p:nvPr/>
          </p:nvSpPr>
          <p:spPr>
            <a:xfrm>
              <a:off x="19130771" y="10461974"/>
              <a:ext cx="376555" cy="490220"/>
            </a:xfrm>
            <a:custGeom>
              <a:avLst/>
              <a:gdLst/>
              <a:ahLst/>
              <a:cxnLst/>
              <a:rect l="l" t="t" r="r" b="b"/>
              <a:pathLst>
                <a:path w="376555" h="490220">
                  <a:moveTo>
                    <a:pt x="258716" y="21"/>
                  </a:moveTo>
                  <a:lnTo>
                    <a:pt x="211982" y="3336"/>
                  </a:lnTo>
                  <a:lnTo>
                    <a:pt x="168041" y="13178"/>
                  </a:lnTo>
                  <a:lnTo>
                    <a:pt x="127656" y="29395"/>
                  </a:lnTo>
                  <a:lnTo>
                    <a:pt x="91462" y="51848"/>
                  </a:lnTo>
                  <a:lnTo>
                    <a:pt x="60347" y="80359"/>
                  </a:lnTo>
                  <a:lnTo>
                    <a:pt x="34821" y="114813"/>
                  </a:lnTo>
                  <a:lnTo>
                    <a:pt x="15645" y="155033"/>
                  </a:lnTo>
                  <a:lnTo>
                    <a:pt x="3707" y="200866"/>
                  </a:lnTo>
                  <a:lnTo>
                    <a:pt x="-483" y="252186"/>
                  </a:lnTo>
                  <a:lnTo>
                    <a:pt x="2691" y="295949"/>
                  </a:lnTo>
                  <a:lnTo>
                    <a:pt x="11962" y="336740"/>
                  </a:lnTo>
                  <a:lnTo>
                    <a:pt x="27455" y="373976"/>
                  </a:lnTo>
                  <a:lnTo>
                    <a:pt x="49172" y="407084"/>
                  </a:lnTo>
                  <a:lnTo>
                    <a:pt x="76857" y="435468"/>
                  </a:lnTo>
                  <a:lnTo>
                    <a:pt x="110765" y="458556"/>
                  </a:lnTo>
                  <a:lnTo>
                    <a:pt x="150515" y="475764"/>
                  </a:lnTo>
                  <a:lnTo>
                    <a:pt x="196361" y="486508"/>
                  </a:lnTo>
                  <a:lnTo>
                    <a:pt x="248049" y="490229"/>
                  </a:lnTo>
                  <a:lnTo>
                    <a:pt x="288688" y="488311"/>
                  </a:lnTo>
                  <a:lnTo>
                    <a:pt x="323231" y="483358"/>
                  </a:lnTo>
                  <a:lnTo>
                    <a:pt x="350662" y="476551"/>
                  </a:lnTo>
                  <a:lnTo>
                    <a:pt x="369966" y="469084"/>
                  </a:lnTo>
                  <a:lnTo>
                    <a:pt x="353710" y="385291"/>
                  </a:lnTo>
                  <a:lnTo>
                    <a:pt x="335423" y="391273"/>
                  </a:lnTo>
                  <a:lnTo>
                    <a:pt x="313198" y="396187"/>
                  </a:lnTo>
                  <a:lnTo>
                    <a:pt x="288942" y="399527"/>
                  </a:lnTo>
                  <a:lnTo>
                    <a:pt x="264304" y="400747"/>
                  </a:lnTo>
                  <a:lnTo>
                    <a:pt x="211728" y="393762"/>
                  </a:lnTo>
                  <a:lnTo>
                    <a:pt x="169438" y="373595"/>
                  </a:lnTo>
                  <a:lnTo>
                    <a:pt x="138197" y="341426"/>
                  </a:lnTo>
                  <a:lnTo>
                    <a:pt x="118893" y="298451"/>
                  </a:lnTo>
                  <a:lnTo>
                    <a:pt x="112162" y="245823"/>
                  </a:lnTo>
                  <a:lnTo>
                    <a:pt x="119782" y="188929"/>
                  </a:lnTo>
                  <a:lnTo>
                    <a:pt x="140990" y="144912"/>
                  </a:lnTo>
                  <a:lnTo>
                    <a:pt x="173502" y="113632"/>
                  </a:lnTo>
                  <a:lnTo>
                    <a:pt x="215157" y="94964"/>
                  </a:lnTo>
                  <a:lnTo>
                    <a:pt x="263669" y="88766"/>
                  </a:lnTo>
                  <a:lnTo>
                    <a:pt x="290720" y="90227"/>
                  </a:lnTo>
                  <a:lnTo>
                    <a:pt x="314722" y="94138"/>
                  </a:lnTo>
                  <a:lnTo>
                    <a:pt x="335804" y="99764"/>
                  </a:lnTo>
                  <a:lnTo>
                    <a:pt x="353710" y="106368"/>
                  </a:lnTo>
                  <a:lnTo>
                    <a:pt x="375554" y="21179"/>
                  </a:lnTo>
                  <a:lnTo>
                    <a:pt x="357139" y="13698"/>
                  </a:lnTo>
                  <a:lnTo>
                    <a:pt x="330851" y="6891"/>
                  </a:lnTo>
                  <a:lnTo>
                    <a:pt x="297704" y="1939"/>
                  </a:lnTo>
                  <a:lnTo>
                    <a:pt x="258716" y="2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6">
              <a:extLst>
                <a:ext uri="{FF2B5EF4-FFF2-40B4-BE49-F238E27FC236}">
                  <a16:creationId xmlns:a16="http://schemas.microsoft.com/office/drawing/2014/main" id="{3D2AB437-4235-8E84-6728-16E2589A7CF1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9464035" y="10355319"/>
              <a:ext cx="112771" cy="111247"/>
            </a:xfrm>
            <a:prstGeom prst="rect">
              <a:avLst/>
            </a:prstGeom>
          </p:spPr>
        </p:pic>
      </p:grpSp>
      <p:sp>
        <p:nvSpPr>
          <p:cNvPr id="13" name="object 3">
            <a:extLst>
              <a:ext uri="{FF2B5EF4-FFF2-40B4-BE49-F238E27FC236}">
                <a16:creationId xmlns:a16="http://schemas.microsoft.com/office/drawing/2014/main" id="{AD9A7CDB-DEDB-9687-F6E1-88F6B78F09AB}"/>
              </a:ext>
            </a:extLst>
          </p:cNvPr>
          <p:cNvSpPr txBox="1"/>
          <p:nvPr/>
        </p:nvSpPr>
        <p:spPr>
          <a:xfrm>
            <a:off x="429" y="502555"/>
            <a:ext cx="5215515" cy="720000"/>
          </a:xfrm>
          <a:prstGeom prst="rect">
            <a:avLst/>
          </a:prstGeom>
          <a:solidFill>
            <a:srgbClr val="FFC000"/>
          </a:solidFill>
        </p:spPr>
        <p:txBody>
          <a:bodyPr vert="horz" wrap="square" lIns="0" tIns="111669" rIns="0" bIns="0" rtlCol="0">
            <a:spAutoFit/>
          </a:bodyPr>
          <a:lstStyle/>
          <a:p>
            <a:pPr marR="140548" lvl="1">
              <a:spcBef>
                <a:spcPts val="879"/>
              </a:spcBef>
            </a:pPr>
            <a:r>
              <a:rPr lang="es-ES" sz="2911" b="1" spc="-6" dirty="0">
                <a:latin typeface="Arial"/>
                <a:cs typeface="Arial"/>
              </a:rPr>
              <a:t>Autorización con RBAC</a:t>
            </a:r>
            <a:endParaRPr sz="2911" b="1" spc="-6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19121134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4CF96FF-8AAF-E292-F164-3120800551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s-CL" dirty="0"/>
              <a:t>Resumen:</a:t>
            </a:r>
          </a:p>
          <a:p>
            <a:pPr marL="0" indent="0">
              <a:buNone/>
            </a:pPr>
            <a:endParaRPr lang="es-CL" dirty="0"/>
          </a:p>
          <a:p>
            <a:r>
              <a:rPr lang="es-CL" dirty="0"/>
              <a:t>JWT sirve para transportar identidad y </a:t>
            </a:r>
            <a:r>
              <a:rPr lang="es-CL" dirty="0" err="1"/>
              <a:t>claims</a:t>
            </a:r>
            <a:endParaRPr lang="es-CL" dirty="0"/>
          </a:p>
          <a:p>
            <a:r>
              <a:rPr lang="es-CL" dirty="0"/>
              <a:t>Se usa mucho en </a:t>
            </a:r>
            <a:r>
              <a:rPr lang="es-CL" dirty="0" err="1"/>
              <a:t>APIs</a:t>
            </a:r>
            <a:r>
              <a:rPr lang="es-CL" dirty="0"/>
              <a:t> y microservicios </a:t>
            </a:r>
            <a:r>
              <a:rPr lang="es-CL" dirty="0" err="1"/>
              <a:t>stateless</a:t>
            </a:r>
            <a:endParaRPr lang="es-CL" dirty="0"/>
          </a:p>
          <a:p>
            <a:r>
              <a:rPr lang="es-CL" dirty="0"/>
              <a:t>Debe implementarse con expiración, firma y validaciones</a:t>
            </a:r>
          </a:p>
          <a:p>
            <a:r>
              <a:rPr lang="es-CL" dirty="0"/>
              <a:t>No debe almacenar datos sensibles</a:t>
            </a:r>
          </a:p>
          <a:p>
            <a:r>
              <a:rPr lang="es-CL" dirty="0"/>
              <a:t>Autenticación y autorización no son lo mismo</a:t>
            </a:r>
          </a:p>
          <a:p>
            <a:r>
              <a:rPr lang="es-CL" dirty="0"/>
              <a:t>RBAC permite controlar acceso según roles</a:t>
            </a:r>
          </a:p>
          <a:p>
            <a:pPr marL="0" indent="0">
              <a:buNone/>
            </a:pPr>
            <a:endParaRPr lang="es-CL" dirty="0"/>
          </a:p>
          <a:p>
            <a:pPr marL="0" indent="0">
              <a:buNone/>
            </a:pPr>
            <a:r>
              <a:rPr lang="es-CL" dirty="0"/>
              <a:t>Pregunta final para la clase:</a:t>
            </a:r>
          </a:p>
          <a:p>
            <a:pPr marL="0" indent="0">
              <a:buNone/>
            </a:pPr>
            <a:br>
              <a:rPr lang="es-CL" dirty="0"/>
            </a:br>
            <a:r>
              <a:rPr lang="es-CL" dirty="0"/>
              <a:t>Si un usuario tiene un token válido, ¿eso significa que puede hacer cualquier acción?</a:t>
            </a:r>
            <a:br>
              <a:rPr lang="es-CL" dirty="0"/>
            </a:br>
            <a:endParaRPr lang="es-CL" dirty="0"/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3141C805-3EBF-54A5-F35C-C243D09E7ECC}"/>
              </a:ext>
            </a:extLst>
          </p:cNvPr>
          <p:cNvSpPr/>
          <p:nvPr/>
        </p:nvSpPr>
        <p:spPr>
          <a:xfrm>
            <a:off x="9338693" y="6180589"/>
            <a:ext cx="1618615" cy="525780"/>
          </a:xfrm>
          <a:custGeom>
            <a:avLst/>
            <a:gdLst/>
            <a:ahLst/>
            <a:cxnLst/>
            <a:rect l="l" t="t" r="r" b="b"/>
            <a:pathLst>
              <a:path w="1618615" h="525779">
                <a:moveTo>
                  <a:pt x="452996" y="248158"/>
                </a:moveTo>
                <a:lnTo>
                  <a:pt x="449186" y="196608"/>
                </a:lnTo>
                <a:lnTo>
                  <a:pt x="437883" y="151485"/>
                </a:lnTo>
                <a:lnTo>
                  <a:pt x="419849" y="112661"/>
                </a:lnTo>
                <a:lnTo>
                  <a:pt x="395846" y="79959"/>
                </a:lnTo>
                <a:lnTo>
                  <a:pt x="366382" y="53276"/>
                </a:lnTo>
                <a:lnTo>
                  <a:pt x="330695" y="31584"/>
                </a:lnTo>
                <a:lnTo>
                  <a:pt x="330695" y="251955"/>
                </a:lnTo>
                <a:lnTo>
                  <a:pt x="325107" y="307860"/>
                </a:lnTo>
                <a:lnTo>
                  <a:pt x="308851" y="353148"/>
                </a:lnTo>
                <a:lnTo>
                  <a:pt x="282816" y="387997"/>
                </a:lnTo>
                <a:lnTo>
                  <a:pt x="248145" y="412572"/>
                </a:lnTo>
                <a:lnTo>
                  <a:pt x="205473" y="427037"/>
                </a:lnTo>
                <a:lnTo>
                  <a:pt x="155816" y="431584"/>
                </a:lnTo>
                <a:lnTo>
                  <a:pt x="146786" y="431584"/>
                </a:lnTo>
                <a:lnTo>
                  <a:pt x="134226" y="431292"/>
                </a:lnTo>
                <a:lnTo>
                  <a:pt x="124079" y="430606"/>
                </a:lnTo>
                <a:lnTo>
                  <a:pt x="115570" y="429272"/>
                </a:lnTo>
                <a:lnTo>
                  <a:pt x="115570" y="93611"/>
                </a:lnTo>
                <a:lnTo>
                  <a:pt x="124333" y="91935"/>
                </a:lnTo>
                <a:lnTo>
                  <a:pt x="136004" y="90449"/>
                </a:lnTo>
                <a:lnTo>
                  <a:pt x="150609" y="89420"/>
                </a:lnTo>
                <a:lnTo>
                  <a:pt x="168008" y="89027"/>
                </a:lnTo>
                <a:lnTo>
                  <a:pt x="214871" y="93433"/>
                </a:lnTo>
                <a:lnTo>
                  <a:pt x="254749" y="106743"/>
                </a:lnTo>
                <a:lnTo>
                  <a:pt x="287007" y="129095"/>
                </a:lnTo>
                <a:lnTo>
                  <a:pt x="310756" y="160655"/>
                </a:lnTo>
                <a:lnTo>
                  <a:pt x="325615" y="201561"/>
                </a:lnTo>
                <a:lnTo>
                  <a:pt x="330695" y="251955"/>
                </a:lnTo>
                <a:lnTo>
                  <a:pt x="330695" y="31584"/>
                </a:lnTo>
                <a:lnTo>
                  <a:pt x="326758" y="29210"/>
                </a:lnTo>
                <a:lnTo>
                  <a:pt x="279641" y="12649"/>
                </a:lnTo>
                <a:lnTo>
                  <a:pt x="223253" y="3073"/>
                </a:lnTo>
                <a:lnTo>
                  <a:pt x="155816" y="0"/>
                </a:lnTo>
                <a:lnTo>
                  <a:pt x="113030" y="711"/>
                </a:lnTo>
                <a:lnTo>
                  <a:pt x="72263" y="2857"/>
                </a:lnTo>
                <a:lnTo>
                  <a:pt x="34163" y="6413"/>
                </a:lnTo>
                <a:lnTo>
                  <a:pt x="0" y="11430"/>
                </a:lnTo>
                <a:lnTo>
                  <a:pt x="0" y="514540"/>
                </a:lnTo>
                <a:lnTo>
                  <a:pt x="24003" y="517334"/>
                </a:lnTo>
                <a:lnTo>
                  <a:pt x="53721" y="519760"/>
                </a:lnTo>
                <a:lnTo>
                  <a:pt x="89535" y="521487"/>
                </a:lnTo>
                <a:lnTo>
                  <a:pt x="131432" y="522147"/>
                </a:lnTo>
                <a:lnTo>
                  <a:pt x="189471" y="519569"/>
                </a:lnTo>
                <a:lnTo>
                  <a:pt x="242811" y="511771"/>
                </a:lnTo>
                <a:lnTo>
                  <a:pt x="290817" y="498627"/>
                </a:lnTo>
                <a:lnTo>
                  <a:pt x="332854" y="480072"/>
                </a:lnTo>
                <a:lnTo>
                  <a:pt x="368668" y="455942"/>
                </a:lnTo>
                <a:lnTo>
                  <a:pt x="396100" y="427685"/>
                </a:lnTo>
                <a:lnTo>
                  <a:pt x="419341" y="392976"/>
                </a:lnTo>
                <a:lnTo>
                  <a:pt x="437375" y="351650"/>
                </a:lnTo>
                <a:lnTo>
                  <a:pt x="448932" y="303453"/>
                </a:lnTo>
                <a:lnTo>
                  <a:pt x="452996" y="248158"/>
                </a:lnTo>
                <a:close/>
              </a:path>
              <a:path w="1618615" h="525779">
                <a:moveTo>
                  <a:pt x="849858" y="516801"/>
                </a:moveTo>
                <a:lnTo>
                  <a:pt x="848715" y="491820"/>
                </a:lnTo>
                <a:lnTo>
                  <a:pt x="847699" y="463626"/>
                </a:lnTo>
                <a:lnTo>
                  <a:pt x="847064" y="432142"/>
                </a:lnTo>
                <a:lnTo>
                  <a:pt x="846810" y="397306"/>
                </a:lnTo>
                <a:lnTo>
                  <a:pt x="846810" y="144627"/>
                </a:lnTo>
                <a:lnTo>
                  <a:pt x="731240" y="144627"/>
                </a:lnTo>
                <a:lnTo>
                  <a:pt x="731240" y="366115"/>
                </a:lnTo>
                <a:lnTo>
                  <a:pt x="730986" y="373253"/>
                </a:lnTo>
                <a:lnTo>
                  <a:pt x="707237" y="418261"/>
                </a:lnTo>
                <a:lnTo>
                  <a:pt x="668883" y="431584"/>
                </a:lnTo>
                <a:lnTo>
                  <a:pt x="642467" y="425615"/>
                </a:lnTo>
                <a:lnTo>
                  <a:pt x="624319" y="408457"/>
                </a:lnTo>
                <a:lnTo>
                  <a:pt x="613778" y="381165"/>
                </a:lnTo>
                <a:lnTo>
                  <a:pt x="610349" y="344817"/>
                </a:lnTo>
                <a:lnTo>
                  <a:pt x="610349" y="144627"/>
                </a:lnTo>
                <a:lnTo>
                  <a:pt x="494906" y="144627"/>
                </a:lnTo>
                <a:lnTo>
                  <a:pt x="494906" y="363054"/>
                </a:lnTo>
                <a:lnTo>
                  <a:pt x="501129" y="424053"/>
                </a:lnTo>
                <a:lnTo>
                  <a:pt x="519036" y="469773"/>
                </a:lnTo>
                <a:lnTo>
                  <a:pt x="546722" y="501230"/>
                </a:lnTo>
                <a:lnTo>
                  <a:pt x="582790" y="519366"/>
                </a:lnTo>
                <a:lnTo>
                  <a:pt x="625589" y="525195"/>
                </a:lnTo>
                <a:lnTo>
                  <a:pt x="669899" y="518883"/>
                </a:lnTo>
                <a:lnTo>
                  <a:pt x="703427" y="503313"/>
                </a:lnTo>
                <a:lnTo>
                  <a:pt x="727049" y="483450"/>
                </a:lnTo>
                <a:lnTo>
                  <a:pt x="741908" y="464299"/>
                </a:lnTo>
                <a:lnTo>
                  <a:pt x="744194" y="464299"/>
                </a:lnTo>
                <a:lnTo>
                  <a:pt x="749528" y="516801"/>
                </a:lnTo>
                <a:lnTo>
                  <a:pt x="849858" y="516801"/>
                </a:lnTo>
                <a:close/>
              </a:path>
              <a:path w="1618615" h="525779">
                <a:moveTo>
                  <a:pt x="1277581" y="327279"/>
                </a:moveTo>
                <a:lnTo>
                  <a:pt x="1273136" y="281241"/>
                </a:lnTo>
                <a:lnTo>
                  <a:pt x="1259928" y="240157"/>
                </a:lnTo>
                <a:lnTo>
                  <a:pt x="1247355" y="219214"/>
                </a:lnTo>
                <a:lnTo>
                  <a:pt x="1238846" y="204800"/>
                </a:lnTo>
                <a:lnTo>
                  <a:pt x="1210411" y="175971"/>
                </a:lnTo>
                <a:lnTo>
                  <a:pt x="1175346" y="154406"/>
                </a:lnTo>
                <a:lnTo>
                  <a:pt x="1157566" y="148501"/>
                </a:lnTo>
                <a:lnTo>
                  <a:pt x="1157490" y="329628"/>
                </a:lnTo>
                <a:lnTo>
                  <a:pt x="1157490" y="331101"/>
                </a:lnTo>
                <a:lnTo>
                  <a:pt x="1152474" y="375132"/>
                </a:lnTo>
                <a:lnTo>
                  <a:pt x="1137754" y="411391"/>
                </a:lnTo>
                <a:lnTo>
                  <a:pt x="1083792" y="442214"/>
                </a:lnTo>
                <a:lnTo>
                  <a:pt x="1083030" y="442214"/>
                </a:lnTo>
                <a:lnTo>
                  <a:pt x="1050772" y="433730"/>
                </a:lnTo>
                <a:lnTo>
                  <a:pt x="1027150" y="410349"/>
                </a:lnTo>
                <a:lnTo>
                  <a:pt x="1012672" y="375132"/>
                </a:lnTo>
                <a:lnTo>
                  <a:pt x="1007719" y="331101"/>
                </a:lnTo>
                <a:lnTo>
                  <a:pt x="1011910" y="290182"/>
                </a:lnTo>
                <a:lnTo>
                  <a:pt x="1025245" y="254330"/>
                </a:lnTo>
                <a:lnTo>
                  <a:pt x="1048867" y="228892"/>
                </a:lnTo>
                <a:lnTo>
                  <a:pt x="1083792" y="219214"/>
                </a:lnTo>
                <a:lnTo>
                  <a:pt x="1117447" y="228892"/>
                </a:lnTo>
                <a:lnTo>
                  <a:pt x="1140333" y="254330"/>
                </a:lnTo>
                <a:lnTo>
                  <a:pt x="1153375" y="289864"/>
                </a:lnTo>
                <a:lnTo>
                  <a:pt x="1157490" y="329628"/>
                </a:lnTo>
                <a:lnTo>
                  <a:pt x="1157490" y="148488"/>
                </a:lnTo>
                <a:lnTo>
                  <a:pt x="1134465" y="140893"/>
                </a:lnTo>
                <a:lnTo>
                  <a:pt x="1088364" y="136232"/>
                </a:lnTo>
                <a:lnTo>
                  <a:pt x="1038796" y="140893"/>
                </a:lnTo>
                <a:lnTo>
                  <a:pt x="1039266" y="140893"/>
                </a:lnTo>
                <a:lnTo>
                  <a:pt x="995883" y="154406"/>
                </a:lnTo>
                <a:lnTo>
                  <a:pt x="996073" y="154406"/>
                </a:lnTo>
                <a:lnTo>
                  <a:pt x="959586" y="175971"/>
                </a:lnTo>
                <a:lnTo>
                  <a:pt x="929741" y="205282"/>
                </a:lnTo>
                <a:lnTo>
                  <a:pt x="907643" y="241693"/>
                </a:lnTo>
                <a:lnTo>
                  <a:pt x="893927" y="284568"/>
                </a:lnTo>
                <a:lnTo>
                  <a:pt x="889228" y="333362"/>
                </a:lnTo>
                <a:lnTo>
                  <a:pt x="894080" y="380911"/>
                </a:lnTo>
                <a:lnTo>
                  <a:pt x="908278" y="423976"/>
                </a:lnTo>
                <a:lnTo>
                  <a:pt x="930630" y="459346"/>
                </a:lnTo>
                <a:lnTo>
                  <a:pt x="960221" y="487565"/>
                </a:lnTo>
                <a:lnTo>
                  <a:pt x="995781" y="508203"/>
                </a:lnTo>
                <a:lnTo>
                  <a:pt x="1036675" y="520877"/>
                </a:lnTo>
                <a:lnTo>
                  <a:pt x="1081506" y="525195"/>
                </a:lnTo>
                <a:lnTo>
                  <a:pt x="1082268" y="525195"/>
                </a:lnTo>
                <a:lnTo>
                  <a:pt x="1124178" y="521335"/>
                </a:lnTo>
                <a:lnTo>
                  <a:pt x="1164170" y="509651"/>
                </a:lnTo>
                <a:lnTo>
                  <a:pt x="1200619" y="489953"/>
                </a:lnTo>
                <a:lnTo>
                  <a:pt x="1231861" y="462064"/>
                </a:lnTo>
                <a:lnTo>
                  <a:pt x="1256245" y="425754"/>
                </a:lnTo>
                <a:lnTo>
                  <a:pt x="1271993" y="380911"/>
                </a:lnTo>
                <a:lnTo>
                  <a:pt x="1277581" y="327279"/>
                </a:lnTo>
                <a:close/>
              </a:path>
              <a:path w="1618615" h="525779">
                <a:moveTo>
                  <a:pt x="1618195" y="150710"/>
                </a:moveTo>
                <a:lnTo>
                  <a:pt x="1598510" y="144602"/>
                </a:lnTo>
                <a:lnTo>
                  <a:pt x="1576412" y="140030"/>
                </a:lnTo>
                <a:lnTo>
                  <a:pt x="1553298" y="137198"/>
                </a:lnTo>
                <a:lnTo>
                  <a:pt x="1530057" y="136220"/>
                </a:lnTo>
                <a:lnTo>
                  <a:pt x="1474685" y="141465"/>
                </a:lnTo>
                <a:lnTo>
                  <a:pt x="1427441" y="156425"/>
                </a:lnTo>
                <a:lnTo>
                  <a:pt x="1388198" y="179844"/>
                </a:lnTo>
                <a:lnTo>
                  <a:pt x="1357464" y="210553"/>
                </a:lnTo>
                <a:lnTo>
                  <a:pt x="1335239" y="247307"/>
                </a:lnTo>
                <a:lnTo>
                  <a:pt x="1321777" y="288912"/>
                </a:lnTo>
                <a:lnTo>
                  <a:pt x="1317205" y="334149"/>
                </a:lnTo>
                <a:lnTo>
                  <a:pt x="1321777" y="381635"/>
                </a:lnTo>
                <a:lnTo>
                  <a:pt x="1335239" y="423278"/>
                </a:lnTo>
                <a:lnTo>
                  <a:pt x="1356956" y="458546"/>
                </a:lnTo>
                <a:lnTo>
                  <a:pt x="1386166" y="486918"/>
                </a:lnTo>
                <a:lnTo>
                  <a:pt x="1422615" y="507822"/>
                </a:lnTo>
                <a:lnTo>
                  <a:pt x="1465414" y="520763"/>
                </a:lnTo>
                <a:lnTo>
                  <a:pt x="1514055" y="525195"/>
                </a:lnTo>
                <a:lnTo>
                  <a:pt x="1545932" y="523862"/>
                </a:lnTo>
                <a:lnTo>
                  <a:pt x="1598891" y="514616"/>
                </a:lnTo>
                <a:lnTo>
                  <a:pt x="1603844" y="422427"/>
                </a:lnTo>
                <a:lnTo>
                  <a:pt x="1590001" y="427558"/>
                </a:lnTo>
                <a:lnTo>
                  <a:pt x="1574507" y="431380"/>
                </a:lnTo>
                <a:lnTo>
                  <a:pt x="1557108" y="433781"/>
                </a:lnTo>
                <a:lnTo>
                  <a:pt x="1537677" y="434606"/>
                </a:lnTo>
                <a:lnTo>
                  <a:pt x="1498053" y="427837"/>
                </a:lnTo>
                <a:lnTo>
                  <a:pt x="1465668" y="407784"/>
                </a:lnTo>
                <a:lnTo>
                  <a:pt x="1443824" y="374891"/>
                </a:lnTo>
                <a:lnTo>
                  <a:pt x="1435823" y="329590"/>
                </a:lnTo>
                <a:lnTo>
                  <a:pt x="1442427" y="287604"/>
                </a:lnTo>
                <a:lnTo>
                  <a:pt x="1462493" y="254609"/>
                </a:lnTo>
                <a:lnTo>
                  <a:pt x="1494116" y="233032"/>
                </a:lnTo>
                <a:lnTo>
                  <a:pt x="1535391" y="225298"/>
                </a:lnTo>
                <a:lnTo>
                  <a:pt x="1556346" y="226225"/>
                </a:lnTo>
                <a:lnTo>
                  <a:pt x="1573999" y="228727"/>
                </a:lnTo>
                <a:lnTo>
                  <a:pt x="1588477" y="232371"/>
                </a:lnTo>
                <a:lnTo>
                  <a:pt x="1600034" y="236715"/>
                </a:lnTo>
                <a:lnTo>
                  <a:pt x="1618195" y="150710"/>
                </a:lnTo>
                <a:close/>
              </a:path>
            </a:pathLst>
          </a:custGeom>
          <a:solidFill>
            <a:srgbClr val="FDB6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3">
            <a:extLst>
              <a:ext uri="{FF2B5EF4-FFF2-40B4-BE49-F238E27FC236}">
                <a16:creationId xmlns:a16="http://schemas.microsoft.com/office/drawing/2014/main" id="{F4A3E3F6-D3B9-AC30-B905-3754400270C1}"/>
              </a:ext>
            </a:extLst>
          </p:cNvPr>
          <p:cNvSpPr/>
          <p:nvPr/>
        </p:nvSpPr>
        <p:spPr>
          <a:xfrm>
            <a:off x="11068865" y="6224760"/>
            <a:ext cx="388620" cy="483234"/>
          </a:xfrm>
          <a:custGeom>
            <a:avLst/>
            <a:gdLst/>
            <a:ahLst/>
            <a:cxnLst/>
            <a:rect l="l" t="t" r="r" b="b"/>
            <a:pathLst>
              <a:path w="388619" h="483234">
                <a:moveTo>
                  <a:pt x="387756" y="21"/>
                </a:moveTo>
                <a:lnTo>
                  <a:pt x="280571" y="21"/>
                </a:lnTo>
                <a:lnTo>
                  <a:pt x="280571" y="273635"/>
                </a:lnTo>
                <a:lnTo>
                  <a:pt x="274856" y="328320"/>
                </a:lnTo>
                <a:lnTo>
                  <a:pt x="258093" y="366813"/>
                </a:lnTo>
                <a:lnTo>
                  <a:pt x="230661" y="389558"/>
                </a:lnTo>
                <a:lnTo>
                  <a:pt x="193324" y="397038"/>
                </a:lnTo>
                <a:lnTo>
                  <a:pt x="156622" y="389266"/>
                </a:lnTo>
                <a:lnTo>
                  <a:pt x="129699" y="366013"/>
                </a:lnTo>
                <a:lnTo>
                  <a:pt x="113062" y="327431"/>
                </a:lnTo>
                <a:lnTo>
                  <a:pt x="107347" y="273635"/>
                </a:lnTo>
                <a:lnTo>
                  <a:pt x="107347" y="21"/>
                </a:lnTo>
                <a:lnTo>
                  <a:pt x="-472" y="21"/>
                </a:lnTo>
                <a:lnTo>
                  <a:pt x="-472" y="265190"/>
                </a:lnTo>
                <a:lnTo>
                  <a:pt x="3718" y="325006"/>
                </a:lnTo>
                <a:lnTo>
                  <a:pt x="16291" y="374699"/>
                </a:lnTo>
                <a:lnTo>
                  <a:pt x="36737" y="414614"/>
                </a:lnTo>
                <a:lnTo>
                  <a:pt x="64550" y="445081"/>
                </a:lnTo>
                <a:lnTo>
                  <a:pt x="99728" y="466429"/>
                </a:lnTo>
                <a:lnTo>
                  <a:pt x="141510" y="478989"/>
                </a:lnTo>
                <a:lnTo>
                  <a:pt x="189768" y="483104"/>
                </a:lnTo>
                <a:lnTo>
                  <a:pt x="239805" y="478799"/>
                </a:lnTo>
                <a:lnTo>
                  <a:pt x="283238" y="465832"/>
                </a:lnTo>
                <a:lnTo>
                  <a:pt x="319686" y="444065"/>
                </a:lnTo>
                <a:lnTo>
                  <a:pt x="348768" y="413383"/>
                </a:lnTo>
                <a:lnTo>
                  <a:pt x="370104" y="373658"/>
                </a:lnTo>
                <a:lnTo>
                  <a:pt x="383184" y="324764"/>
                </a:lnTo>
                <a:lnTo>
                  <a:pt x="387756" y="266587"/>
                </a:lnTo>
                <a:lnTo>
                  <a:pt x="387756" y="2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6" name="object 4">
            <a:extLst>
              <a:ext uri="{FF2B5EF4-FFF2-40B4-BE49-F238E27FC236}">
                <a16:creationId xmlns:a16="http://schemas.microsoft.com/office/drawing/2014/main" id="{4B952F58-D5FF-B2C3-A35C-FEB5A8A6BB2F}"/>
              </a:ext>
            </a:extLst>
          </p:cNvPr>
          <p:cNvGrpSpPr/>
          <p:nvPr/>
        </p:nvGrpSpPr>
        <p:grpSpPr>
          <a:xfrm>
            <a:off x="11510824" y="6110485"/>
            <a:ext cx="446405" cy="596900"/>
            <a:chOff x="19130771" y="10355319"/>
            <a:chExt cx="446405" cy="596900"/>
          </a:xfrm>
        </p:grpSpPr>
        <p:sp>
          <p:nvSpPr>
            <p:cNvPr id="7" name="object 5">
              <a:extLst>
                <a:ext uri="{FF2B5EF4-FFF2-40B4-BE49-F238E27FC236}">
                  <a16:creationId xmlns:a16="http://schemas.microsoft.com/office/drawing/2014/main" id="{BB4FDF63-E03C-107F-9B53-4BDCDC8DEE81}"/>
                </a:ext>
              </a:extLst>
            </p:cNvPr>
            <p:cNvSpPr/>
            <p:nvPr/>
          </p:nvSpPr>
          <p:spPr>
            <a:xfrm>
              <a:off x="19130771" y="10461974"/>
              <a:ext cx="376555" cy="490220"/>
            </a:xfrm>
            <a:custGeom>
              <a:avLst/>
              <a:gdLst/>
              <a:ahLst/>
              <a:cxnLst/>
              <a:rect l="l" t="t" r="r" b="b"/>
              <a:pathLst>
                <a:path w="376555" h="490220">
                  <a:moveTo>
                    <a:pt x="258716" y="21"/>
                  </a:moveTo>
                  <a:lnTo>
                    <a:pt x="211982" y="3336"/>
                  </a:lnTo>
                  <a:lnTo>
                    <a:pt x="168041" y="13178"/>
                  </a:lnTo>
                  <a:lnTo>
                    <a:pt x="127656" y="29395"/>
                  </a:lnTo>
                  <a:lnTo>
                    <a:pt x="91462" y="51848"/>
                  </a:lnTo>
                  <a:lnTo>
                    <a:pt x="60347" y="80359"/>
                  </a:lnTo>
                  <a:lnTo>
                    <a:pt x="34821" y="114813"/>
                  </a:lnTo>
                  <a:lnTo>
                    <a:pt x="15645" y="155033"/>
                  </a:lnTo>
                  <a:lnTo>
                    <a:pt x="3707" y="200866"/>
                  </a:lnTo>
                  <a:lnTo>
                    <a:pt x="-483" y="252186"/>
                  </a:lnTo>
                  <a:lnTo>
                    <a:pt x="2691" y="295949"/>
                  </a:lnTo>
                  <a:lnTo>
                    <a:pt x="11962" y="336740"/>
                  </a:lnTo>
                  <a:lnTo>
                    <a:pt x="27455" y="373976"/>
                  </a:lnTo>
                  <a:lnTo>
                    <a:pt x="49172" y="407084"/>
                  </a:lnTo>
                  <a:lnTo>
                    <a:pt x="76857" y="435468"/>
                  </a:lnTo>
                  <a:lnTo>
                    <a:pt x="110765" y="458556"/>
                  </a:lnTo>
                  <a:lnTo>
                    <a:pt x="150515" y="475764"/>
                  </a:lnTo>
                  <a:lnTo>
                    <a:pt x="196361" y="486508"/>
                  </a:lnTo>
                  <a:lnTo>
                    <a:pt x="248049" y="490229"/>
                  </a:lnTo>
                  <a:lnTo>
                    <a:pt x="288688" y="488311"/>
                  </a:lnTo>
                  <a:lnTo>
                    <a:pt x="323231" y="483358"/>
                  </a:lnTo>
                  <a:lnTo>
                    <a:pt x="350662" y="476551"/>
                  </a:lnTo>
                  <a:lnTo>
                    <a:pt x="369966" y="469084"/>
                  </a:lnTo>
                  <a:lnTo>
                    <a:pt x="353710" y="385291"/>
                  </a:lnTo>
                  <a:lnTo>
                    <a:pt x="335423" y="391273"/>
                  </a:lnTo>
                  <a:lnTo>
                    <a:pt x="313198" y="396187"/>
                  </a:lnTo>
                  <a:lnTo>
                    <a:pt x="288942" y="399527"/>
                  </a:lnTo>
                  <a:lnTo>
                    <a:pt x="264304" y="400747"/>
                  </a:lnTo>
                  <a:lnTo>
                    <a:pt x="211728" y="393762"/>
                  </a:lnTo>
                  <a:lnTo>
                    <a:pt x="169438" y="373595"/>
                  </a:lnTo>
                  <a:lnTo>
                    <a:pt x="138197" y="341426"/>
                  </a:lnTo>
                  <a:lnTo>
                    <a:pt x="118893" y="298451"/>
                  </a:lnTo>
                  <a:lnTo>
                    <a:pt x="112162" y="245823"/>
                  </a:lnTo>
                  <a:lnTo>
                    <a:pt x="119782" y="188929"/>
                  </a:lnTo>
                  <a:lnTo>
                    <a:pt x="140990" y="144912"/>
                  </a:lnTo>
                  <a:lnTo>
                    <a:pt x="173502" y="113632"/>
                  </a:lnTo>
                  <a:lnTo>
                    <a:pt x="215157" y="94964"/>
                  </a:lnTo>
                  <a:lnTo>
                    <a:pt x="263669" y="88766"/>
                  </a:lnTo>
                  <a:lnTo>
                    <a:pt x="290720" y="90227"/>
                  </a:lnTo>
                  <a:lnTo>
                    <a:pt x="314722" y="94138"/>
                  </a:lnTo>
                  <a:lnTo>
                    <a:pt x="335804" y="99764"/>
                  </a:lnTo>
                  <a:lnTo>
                    <a:pt x="353710" y="106368"/>
                  </a:lnTo>
                  <a:lnTo>
                    <a:pt x="375554" y="21179"/>
                  </a:lnTo>
                  <a:lnTo>
                    <a:pt x="357139" y="13698"/>
                  </a:lnTo>
                  <a:lnTo>
                    <a:pt x="330851" y="6891"/>
                  </a:lnTo>
                  <a:lnTo>
                    <a:pt x="297704" y="1939"/>
                  </a:lnTo>
                  <a:lnTo>
                    <a:pt x="258716" y="2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6">
              <a:extLst>
                <a:ext uri="{FF2B5EF4-FFF2-40B4-BE49-F238E27FC236}">
                  <a16:creationId xmlns:a16="http://schemas.microsoft.com/office/drawing/2014/main" id="{6F3562B4-30A8-3E73-F957-9014F3CB0D1D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9464035" y="10355319"/>
              <a:ext cx="112771" cy="111247"/>
            </a:xfrm>
            <a:prstGeom prst="rect">
              <a:avLst/>
            </a:prstGeom>
          </p:spPr>
        </p:pic>
      </p:grpSp>
      <p:sp>
        <p:nvSpPr>
          <p:cNvPr id="13" name="object 3">
            <a:extLst>
              <a:ext uri="{FF2B5EF4-FFF2-40B4-BE49-F238E27FC236}">
                <a16:creationId xmlns:a16="http://schemas.microsoft.com/office/drawing/2014/main" id="{2F5DE373-84AE-E443-5CF3-9D6567418F21}"/>
              </a:ext>
            </a:extLst>
          </p:cNvPr>
          <p:cNvSpPr txBox="1"/>
          <p:nvPr/>
        </p:nvSpPr>
        <p:spPr>
          <a:xfrm>
            <a:off x="429" y="502553"/>
            <a:ext cx="4661723" cy="720000"/>
          </a:xfrm>
          <a:prstGeom prst="rect">
            <a:avLst/>
          </a:prstGeom>
          <a:solidFill>
            <a:srgbClr val="FFC000"/>
          </a:solidFill>
        </p:spPr>
        <p:txBody>
          <a:bodyPr vert="horz" wrap="square" lIns="0" tIns="111669" rIns="0" bIns="0" rtlCol="0">
            <a:spAutoFit/>
          </a:bodyPr>
          <a:lstStyle/>
          <a:p>
            <a:pPr marR="140548" lvl="1">
              <a:spcBef>
                <a:spcPts val="879"/>
              </a:spcBef>
            </a:pPr>
            <a:r>
              <a:rPr lang="es-CL" sz="2911" b="1" spc="-6" dirty="0">
                <a:latin typeface="Arial"/>
                <a:cs typeface="Arial"/>
              </a:rPr>
              <a:t>Cierre y mensaje final</a:t>
            </a:r>
            <a:endParaRPr sz="2911" b="1" spc="-6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64939721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3247</TotalTime>
  <Words>1762</Words>
  <Application>Microsoft Macintosh PowerPoint</Application>
  <PresentationFormat>Panorámica</PresentationFormat>
  <Paragraphs>399</Paragraphs>
  <Slides>20</Slides>
  <Notes>18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20</vt:i4>
      </vt:variant>
    </vt:vector>
  </HeadingPairs>
  <TitlesOfParts>
    <vt:vector size="24" baseType="lpstr">
      <vt:lpstr>Aptos</vt:lpstr>
      <vt:lpstr>Aptos Display</vt:lpstr>
      <vt:lpstr>Arial</vt:lpstr>
      <vt:lpstr>Tema de Office</vt:lpstr>
      <vt:lpstr>Qué es y para que sirve JWT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Juan Valentín Mora Ruiz</dc:creator>
  <cp:lastModifiedBy>Juan Valentín Mora Ruiz</cp:lastModifiedBy>
  <cp:revision>7</cp:revision>
  <dcterms:created xsi:type="dcterms:W3CDTF">2026-02-18T23:09:13Z</dcterms:created>
  <dcterms:modified xsi:type="dcterms:W3CDTF">2026-04-15T23:35:08Z</dcterms:modified>
</cp:coreProperties>
</file>